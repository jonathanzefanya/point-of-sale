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Perkenalkan diri singkat, lalu sampaikan tujuan: menunjukkan bagaimana FE, BE, dan DB di server terpisah saling terhubung, dan bagaimana aksesnya dibatasi. Sebut bahwa semua konfigurasi sudah diuji, hasilnya ada di bagian pengujian.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pembagian peran tiap server. Tekankan bahwa BE adalah satu-satunya yang boleh mengakses database. Itu prinsip yang dipegang di semua konfigurasi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dua jaringan. pos_app untuk FE dan BE. pos_db untuk BE dan DB, ditandai internal sehingga tidak punya akses keluar. BE satu-satunya yang ada di dua jaringan, jadi FE tidak punya jalur sama sekali ke DB. Ikuti angka 1 sampai 3 sebagai alur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kunci pemahaman. Kode Vue berjalan di browser pengguna. Saat Vue memanggil API, permintaannya keluar dari laptop pengguna, bukan dari container FE. Makanya VITE_API_URL berisi alamat yang bisa dijangkau browser, yaitu localhost:8000, dan BE wajib mengatur CORS.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development FE memakai Vite dev server dengan HMR. Untuk produksi, kode di-build menjadi file statis lalu disajikan Nginx. Tekankan bahwa VITE_API_URL ditanam saat build, bukan dibaca saat berjalan.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supports_credentials false karena autentikasi memakai token Bearer, bukan cookie. Password database tidak ditampilkan di slide dan tidak masuk image: dikirim lewat env_file saat container berjalan.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skip-name-resolve membuat MySQL mencocokkan host berdasarkan IP, bukan nama. Jadi walaupun username dan password benar, login dari selain IP BE tetap ditolak. Di server sungguhan, padanannya bind-address ke IP privat dan firewall yang hanya membuka 3306 untuk IP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ringkasan. Kalau ditanya “konfigurasinya di mana saja?”, jawabannya empat titik ini. Dua di sisi BE, satu di FE saat build, dan satu di DB beserta jaringannya.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docker-compose.prod.yml hanya menimpa bagian FE dan BE: Dockerfile produksi, port, volume source dihapus, dan env_file. Perintah lengkapnya: docker compose -f docker-compose.yml -f docker-compose.prod.yml up -d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lapis sudah diterapkan dan diuji. Kartu terakhir adalah temuan saat pengujian: user pos ternyata juga punya akses ke database pos_testing. Wajar untuk development, tapi di produksi aksesnya cukup ke database pos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5 dan 6 dijalankan di mode development, karena image FE produksi tidak berisi netcat. Uji 2 sempat bernilai True karena ada MySQL lain yang berjalan langsung di Windows. Setelah dicek dengan docker port dan dimatikan, hasilnya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14: docker compose down menghapus container dan jaringan, tapi data tetap ada karena tersimpan di volume pos_mysql_data. Uji 15: setelah DB menyala lagi, BE langsung pulih karena Laravel membuka koneksi baru di setiap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Baris terakhir penting: dari pesan error saja kita bisa menebak lapisan yang bermasalah. Tidak ada respons sama sekali berarti masalah antara browser dan BE, biasanya CORS. Error 500 berarti BE hidup tapi ada masalah antara BE dan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ditanya “bagaimana kalau di server asli?”, slide ini jawabannya. Konfigurasi aplikasinya tetap: DB_HOST, CORS, dan VITE_API_URL hanya berganti nilai. Yang ditambah di produksi adalah DNS, HTTPS, firewall, dan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presentasi: matikan MySQL Windows, jalankan mode produksi, dan siapkan terminal kedua untuk mode development kalau ingin menunjukkan uji nc. Share hanya jendela browser dan terminal, bukan seluruh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5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5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5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5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F6B55"/>
          </a:solidFill>
          <a:ln/>
        </p:spPr>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FD1B4"/>
                </a:solidFill>
                <a:latin typeface="IBM Plex Sans" pitchFamily="34" charset="0"/>
                <a:ea typeface="IBM Plex Sans" pitchFamily="34" charset="-122"/>
                <a:cs typeface="IBM Plex Sans" pitchFamily="34" charset="-120"/>
              </a:rPr>
              <a:t>STUDI KASUS · INTERVIEW USER</a:t>
            </a:r>
            <a:endParaRPr lang="en-US" sz="1400" dirty="0"/>
          </a:p>
        </p:txBody>
      </p:sp>
      <p:sp>
        <p:nvSpPr>
          <p:cNvPr id="4" name="Text 2"/>
          <p:cNvSpPr/>
          <p:nvPr>
            <p:ph type="title"/>
          </p:nvPr>
        </p:nvSpPr>
        <p:spPr>
          <a:xfrm>
            <a:off x="812800" y="2143919"/>
            <a:ext cx="981075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IBM Plex Sans" pitchFamily="34" charset="0"/>
                <a:ea typeface="IBM Plex Sans" pitchFamily="34" charset="-122"/>
                <a:cs typeface="IBM Plex Sans" pitchFamily="34" charset="-120"/>
              </a:rPr>
              <a:t>Deployment aplikasi POS ke tiga server terpisah</a:t>
            </a:r>
            <a:endParaRPr lang="en-US" sz="4800" dirty="0"/>
          </a:p>
        </p:txBody>
      </p:sp>
      <p:sp>
        <p:nvSpPr>
          <p:cNvPr id="5" name="Text 3"/>
          <p:cNvSpPr/>
          <p:nvPr/>
        </p:nvSpPr>
        <p:spPr>
          <a:xfrm>
            <a:off x="812800" y="3688159"/>
            <a:ext cx="98107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8C4CE"/>
                </a:solidFill>
                <a:latin typeface="IBM Plex Sans" pitchFamily="34" charset="0"/>
                <a:ea typeface="IBM Plex Sans" pitchFamily="34" charset="-122"/>
                <a:cs typeface="IBM Plex Sans" pitchFamily="34" charset="-120"/>
              </a:rPr>
              <a:t>Frontend Vue, backend Laravel, dan MySQL di server berbeda, disimulasikan dengan Docker Compose</a:t>
            </a:r>
            <a:endParaRPr lang="en-US" sz="2200" dirty="0"/>
          </a:p>
        </p:txBody>
      </p:sp>
      <p:sp>
        <p:nvSpPr>
          <p:cNvPr id="6" name="Text 4"/>
          <p:cNvSpPr/>
          <p:nvPr/>
        </p:nvSpPr>
        <p:spPr>
          <a:xfrm>
            <a:off x="812800" y="549671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Jonathan Nathannael Zefanya</a:t>
            </a:r>
            <a:endParaRPr lang="en-US" sz="1400" dirty="0"/>
          </a:p>
        </p:txBody>
      </p:sp>
      <p:sp>
        <p:nvSpPr>
          <p:cNvPr id="7" name="Text 5"/>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ICT BDO Development (Fullstack Developer) · PT Solusi Integrasi Pratama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KASUS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Satu aplikasi POS, tiga server terpisah</a:t>
            </a:r>
            <a:endParaRPr lang="en-US" sz="3200" dirty="0"/>
          </a:p>
        </p:txBody>
      </p:sp>
      <p:sp>
        <p:nvSpPr>
          <p:cNvPr id="4" name="Shape 2"/>
          <p:cNvSpPr/>
          <p:nvPr/>
        </p:nvSpPr>
        <p:spPr>
          <a:xfrm>
            <a:off x="815975" y="1806476"/>
            <a:ext cx="3380284" cy="3529509"/>
          </a:xfrm>
          <a:prstGeom prst="roundRect">
            <a:avLst>
              <a:gd name="adj" fmla="val 2912"/>
            </a:avLst>
          </a:prstGeom>
          <a:solidFill>
            <a:srgbClr val="FBFAF7"/>
          </a:solidFill>
          <a:ln w="6350">
            <a:solidFill>
              <a:srgbClr val="DDD9CE"/>
            </a:solidFill>
            <a:prstDash val="solid"/>
          </a:ln>
        </p:spPr>
      </p:sp>
      <p:sp>
        <p:nvSpPr>
          <p:cNvPr id="5" name="Text 3"/>
          <p:cNvSpPr/>
          <p:nvPr/>
        </p:nvSpPr>
        <p:spPr>
          <a:xfrm>
            <a:off x="1073150" y="20636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SERVER 1</a:t>
            </a:r>
            <a:endParaRPr lang="en-US" sz="1200" dirty="0"/>
          </a:p>
        </p:txBody>
      </p:sp>
      <p:sp>
        <p:nvSpPr>
          <p:cNvPr id="6" name="Text 4"/>
          <p:cNvSpPr/>
          <p:nvPr/>
        </p:nvSpPr>
        <p:spPr>
          <a:xfrm>
            <a:off x="1073150" y="237857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202B"/>
                </a:solidFill>
                <a:latin typeface="IBM Plex Sans" pitchFamily="34" charset="0"/>
                <a:ea typeface="IBM Plex Sans" pitchFamily="34" charset="-122"/>
                <a:cs typeface="IBM Plex Sans" pitchFamily="34" charset="-120"/>
              </a:rPr>
              <a:t>Frontend</a:t>
            </a:r>
            <a:endParaRPr lang="en-US" sz="2200" dirty="0"/>
          </a:p>
        </p:txBody>
      </p:sp>
      <p:sp>
        <p:nvSpPr>
          <p:cNvPr id="7" name="Text 5"/>
          <p:cNvSpPr/>
          <p:nvPr/>
        </p:nvSpPr>
        <p:spPr>
          <a:xfrm>
            <a:off x="1073150" y="2815431"/>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2B"/>
                </a:solidFill>
                <a:latin typeface="JetBrains Mono" pitchFamily="49" charset="0"/>
                <a:ea typeface="JetBrains Mono" pitchFamily="49" charset="-122"/>
                <a:cs typeface="JetBrains Mono" pitchFamily="49" charset="-120"/>
              </a:rPr>
              <a:t>Vue + Vite → Nginx</a:t>
            </a:r>
            <a:endParaRPr lang="en-US" sz="1200" dirty="0"/>
          </a:p>
        </p:txBody>
      </p:sp>
      <p:sp>
        <p:nvSpPr>
          <p:cNvPr id="8" name="Text 6"/>
          <p:cNvSpPr/>
          <p:nvPr/>
        </p:nvSpPr>
        <p:spPr>
          <a:xfrm>
            <a:off x="1073150" y="3130352"/>
            <a:ext cx="29519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752"/>
                </a:solidFill>
                <a:latin typeface="IBM Plex Sans" pitchFamily="34" charset="0"/>
                <a:ea typeface="IBM Plex Sans" pitchFamily="34" charset="-122"/>
                <a:cs typeface="IBM Plex Sans" pitchFamily="34" charset="-120"/>
              </a:rPr>
              <a:t>Tampilan back office dan kasir. Di produksi berupa file statis yang disajikan Nginx.</a:t>
            </a:r>
            <a:endParaRPr lang="en-US" sz="1400" dirty="0"/>
          </a:p>
        </p:txBody>
      </p:sp>
      <p:sp>
        <p:nvSpPr>
          <p:cNvPr id="9" name="Shape 7"/>
          <p:cNvSpPr/>
          <p:nvPr/>
        </p:nvSpPr>
        <p:spPr>
          <a:xfrm>
            <a:off x="4405809" y="1806476"/>
            <a:ext cx="3380383" cy="3529509"/>
          </a:xfrm>
          <a:prstGeom prst="roundRect">
            <a:avLst>
              <a:gd name="adj" fmla="val 2912"/>
            </a:avLst>
          </a:prstGeom>
          <a:solidFill>
            <a:srgbClr val="FBFAF7"/>
          </a:solidFill>
          <a:ln w="6350">
            <a:solidFill>
              <a:srgbClr val="DDD9CE"/>
            </a:solidFill>
            <a:prstDash val="solid"/>
          </a:ln>
        </p:spPr>
      </p:sp>
      <p:sp>
        <p:nvSpPr>
          <p:cNvPr id="10" name="Text 8"/>
          <p:cNvSpPr/>
          <p:nvPr/>
        </p:nvSpPr>
        <p:spPr>
          <a:xfrm>
            <a:off x="4662984" y="2063651"/>
            <a:ext cx="295201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SERVER 2</a:t>
            </a:r>
            <a:endParaRPr lang="en-US" sz="1200" dirty="0"/>
          </a:p>
        </p:txBody>
      </p:sp>
      <p:sp>
        <p:nvSpPr>
          <p:cNvPr id="11" name="Text 9"/>
          <p:cNvSpPr/>
          <p:nvPr/>
        </p:nvSpPr>
        <p:spPr>
          <a:xfrm>
            <a:off x="4662984" y="2378571"/>
            <a:ext cx="29520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202B"/>
                </a:solidFill>
                <a:latin typeface="IBM Plex Sans" pitchFamily="34" charset="0"/>
                <a:ea typeface="IBM Plex Sans" pitchFamily="34" charset="-122"/>
                <a:cs typeface="IBM Plex Sans" pitchFamily="34" charset="-120"/>
              </a:rPr>
              <a:t>Backend</a:t>
            </a:r>
            <a:endParaRPr lang="en-US" sz="2200" dirty="0"/>
          </a:p>
        </p:txBody>
      </p:sp>
      <p:sp>
        <p:nvSpPr>
          <p:cNvPr id="12" name="Text 10"/>
          <p:cNvSpPr/>
          <p:nvPr/>
        </p:nvSpPr>
        <p:spPr>
          <a:xfrm>
            <a:off x="4662984" y="2815431"/>
            <a:ext cx="29520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2B"/>
                </a:solidFill>
                <a:latin typeface="JetBrains Mono" pitchFamily="49" charset="0"/>
                <a:ea typeface="JetBrains Mono" pitchFamily="49" charset="-122"/>
                <a:cs typeface="JetBrains Mono" pitchFamily="49" charset="-120"/>
              </a:rPr>
              <a:t>Laravel · PHP 8.3</a:t>
            </a:r>
            <a:endParaRPr lang="en-US" sz="1200" dirty="0"/>
          </a:p>
        </p:txBody>
      </p:sp>
      <p:sp>
        <p:nvSpPr>
          <p:cNvPr id="13" name="Text 11"/>
          <p:cNvSpPr/>
          <p:nvPr/>
        </p:nvSpPr>
        <p:spPr>
          <a:xfrm>
            <a:off x="4662984" y="3130352"/>
            <a:ext cx="295201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752"/>
                </a:solidFill>
                <a:latin typeface="IBM Plex Sans" pitchFamily="34" charset="0"/>
                <a:ea typeface="IBM Plex Sans" pitchFamily="34" charset="-122"/>
                <a:cs typeface="IBM Plex Sans" pitchFamily="34" charset="-120"/>
              </a:rPr>
              <a:t>REST API dengan token Bearer. Satu-satunya yang boleh berbicara dengan database.</a:t>
            </a:r>
            <a:endParaRPr lang="en-US" sz="1400" dirty="0"/>
          </a:p>
        </p:txBody>
      </p:sp>
      <p:sp>
        <p:nvSpPr>
          <p:cNvPr id="14" name="Shape 12"/>
          <p:cNvSpPr/>
          <p:nvPr/>
        </p:nvSpPr>
        <p:spPr>
          <a:xfrm>
            <a:off x="7995741" y="1806476"/>
            <a:ext cx="3380284" cy="3529509"/>
          </a:xfrm>
          <a:prstGeom prst="roundRect">
            <a:avLst>
              <a:gd name="adj" fmla="val 2912"/>
            </a:avLst>
          </a:prstGeom>
          <a:solidFill>
            <a:srgbClr val="FBFAF7"/>
          </a:solidFill>
          <a:ln w="6350">
            <a:solidFill>
              <a:srgbClr val="DDD9CE"/>
            </a:solidFill>
            <a:prstDash val="solid"/>
          </a:ln>
        </p:spPr>
      </p:sp>
      <p:sp>
        <p:nvSpPr>
          <p:cNvPr id="15" name="Text 13"/>
          <p:cNvSpPr/>
          <p:nvPr/>
        </p:nvSpPr>
        <p:spPr>
          <a:xfrm>
            <a:off x="8252916" y="20636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531A"/>
                </a:solidFill>
                <a:latin typeface="IBM Plex Sans" pitchFamily="34" charset="0"/>
                <a:ea typeface="IBM Plex Sans" pitchFamily="34" charset="-122"/>
                <a:cs typeface="IBM Plex Sans" pitchFamily="34" charset="-120"/>
              </a:rPr>
              <a:t>SERVER 3</a:t>
            </a:r>
            <a:endParaRPr lang="en-US" sz="1200" dirty="0"/>
          </a:p>
        </p:txBody>
      </p:sp>
      <p:sp>
        <p:nvSpPr>
          <p:cNvPr id="16" name="Text 14"/>
          <p:cNvSpPr/>
          <p:nvPr/>
        </p:nvSpPr>
        <p:spPr>
          <a:xfrm>
            <a:off x="8252916" y="237857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202B"/>
                </a:solidFill>
                <a:latin typeface="IBM Plex Sans" pitchFamily="34" charset="0"/>
                <a:ea typeface="IBM Plex Sans" pitchFamily="34" charset="-122"/>
                <a:cs typeface="IBM Plex Sans" pitchFamily="34" charset="-120"/>
              </a:rPr>
              <a:t>Database</a:t>
            </a:r>
            <a:endParaRPr lang="en-US" sz="2200" dirty="0"/>
          </a:p>
        </p:txBody>
      </p:sp>
      <p:sp>
        <p:nvSpPr>
          <p:cNvPr id="17" name="Text 15"/>
          <p:cNvSpPr/>
          <p:nvPr/>
        </p:nvSpPr>
        <p:spPr>
          <a:xfrm>
            <a:off x="8252916" y="2815431"/>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2B"/>
                </a:solidFill>
                <a:latin typeface="JetBrains Mono" pitchFamily="49" charset="0"/>
                <a:ea typeface="JetBrains Mono" pitchFamily="49" charset="-122"/>
                <a:cs typeface="JetBrains Mono" pitchFamily="49" charset="-120"/>
              </a:rPr>
              <a:t>MySQL 8.4</a:t>
            </a:r>
            <a:endParaRPr lang="en-US" sz="1200" dirty="0"/>
          </a:p>
        </p:txBody>
      </p:sp>
      <p:sp>
        <p:nvSpPr>
          <p:cNvPr id="18" name="Text 16"/>
          <p:cNvSpPr/>
          <p:nvPr/>
        </p:nvSpPr>
        <p:spPr>
          <a:xfrm>
            <a:off x="8252916" y="3130352"/>
            <a:ext cx="29519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752"/>
                </a:solidFill>
                <a:latin typeface="IBM Plex Sans" pitchFamily="34" charset="0"/>
                <a:ea typeface="IBM Plex Sans" pitchFamily="34" charset="-122"/>
                <a:cs typeface="IBM Plex Sans" pitchFamily="34" charset="-120"/>
              </a:rPr>
              <a:t>Menyimpan penjualan, stok, dan pengguna. Tidak bisa diakses langsung dari luar.</a:t>
            </a:r>
            <a:endParaRPr lang="en-US" sz="1400" dirty="0"/>
          </a:p>
        </p:txBody>
      </p:sp>
      <p:sp>
        <p:nvSpPr>
          <p:cNvPr id="19" name="Text 17"/>
          <p:cNvSpPr/>
          <p:nvPr/>
        </p:nvSpPr>
        <p:spPr>
          <a:xfrm>
            <a:off x="812800" y="5593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02B"/>
                </a:solidFill>
                <a:latin typeface="IBM Plex Sans" pitchFamily="34" charset="0"/>
                <a:ea typeface="IBM Plex Sans" pitchFamily="34" charset="-122"/>
                <a:cs typeface="IBM Plex Sans" pitchFamily="34" charset="-120"/>
              </a:rPr>
              <a:t>Pertanyaannya: bagaimana ketiganya saling terhubung, dan siapa boleh mengakses siapa?</a:t>
            </a:r>
            <a:endParaRPr lang="en-US" sz="14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Shape 0"/>
          <p:cNvSpPr/>
          <p:nvPr/>
        </p:nvSpPr>
        <p:spPr>
          <a:xfrm>
            <a:off x="2676525" y="2105025"/>
            <a:ext cx="5568950" cy="2901950"/>
          </a:xfrm>
          <a:prstGeom prst="roundRect">
            <a:avLst>
              <a:gd name="adj" fmla="val 4923"/>
            </a:avLst>
          </a:prstGeom>
          <a:solidFill>
            <a:srgbClr val="EAF1EC"/>
          </a:solidFill>
          <a:ln w="19050">
            <a:solidFill>
              <a:srgbClr val="1F6B55"/>
            </a:solidFill>
            <a:prstDash val="dash"/>
          </a:ln>
        </p:spPr>
      </p:sp>
      <p:sp>
        <p:nvSpPr>
          <p:cNvPr id="3" name="Shape 1"/>
          <p:cNvSpPr/>
          <p:nvPr/>
        </p:nvSpPr>
        <p:spPr>
          <a:xfrm>
            <a:off x="6486525" y="2422525"/>
            <a:ext cx="4883150" cy="2901950"/>
          </a:xfrm>
          <a:prstGeom prst="roundRect">
            <a:avLst>
              <a:gd name="adj" fmla="val 4923"/>
            </a:avLst>
          </a:prstGeom>
          <a:solidFill>
            <a:srgbClr val="A6531A">
              <a:alpha val="7000"/>
            </a:srgbClr>
          </a:solidFill>
          <a:ln w="19050">
            <a:solidFill>
              <a:srgbClr val="A6531A"/>
            </a:solidFill>
            <a:prstDash val="dash"/>
          </a:ln>
        </p:spPr>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ARSITEKTUR</a:t>
            </a:r>
            <a:endParaRPr lang="en-US" sz="1200" dirty="0"/>
          </a:p>
        </p:txBody>
      </p:sp>
      <p:sp>
        <p:nvSpPr>
          <p:cNvPr id="5" name="Text 3"/>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Satu container mewakili satu server</a:t>
            </a:r>
            <a:endParaRPr lang="en-US" sz="3200" dirty="0"/>
          </a:p>
        </p:txBody>
      </p:sp>
      <p:sp>
        <p:nvSpPr>
          <p:cNvPr id="6" name="Text 4"/>
          <p:cNvSpPr/>
          <p:nvPr/>
        </p:nvSpPr>
        <p:spPr>
          <a:xfrm>
            <a:off x="812800" y="175250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1 Buka halaman di :8080 · 2 Browser memanggil API langsung ke :8000 · 3 BE menjalankan query ke MySQL :3306</a:t>
            </a:r>
            <a:endParaRPr lang="en-US" sz="1200" dirty="0"/>
          </a:p>
        </p:txBody>
      </p:sp>
      <p:sp>
        <p:nvSpPr>
          <p:cNvPr id="7" name="Text 5"/>
          <p:cNvSpPr/>
          <p:nvPr/>
        </p:nvSpPr>
        <p:spPr>
          <a:xfrm>
            <a:off x="2819400" y="2209800"/>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55"/>
                </a:solidFill>
                <a:latin typeface="JetBrains Mono" pitchFamily="49" charset="0"/>
                <a:ea typeface="JetBrains Mono" pitchFamily="49" charset="-122"/>
                <a:cs typeface="JetBrains Mono" pitchFamily="49" charset="-120"/>
              </a:rPr>
              <a:t>pos_app · 172.20.0.0/24</a:t>
            </a:r>
            <a:endParaRPr lang="en-US" sz="1200" dirty="0"/>
          </a:p>
        </p:txBody>
      </p:sp>
      <p:sp>
        <p:nvSpPr>
          <p:cNvPr id="8" name="Text 6"/>
          <p:cNvSpPr/>
          <p:nvPr/>
        </p:nvSpPr>
        <p:spPr>
          <a:xfrm>
            <a:off x="8356600" y="2527300"/>
            <a:ext cx="300863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6531A"/>
                </a:solidFill>
                <a:latin typeface="JetBrains Mono" pitchFamily="49" charset="0"/>
                <a:ea typeface="JetBrains Mono" pitchFamily="49" charset="-122"/>
                <a:cs typeface="JetBrains Mono" pitchFamily="49" charset="-120"/>
              </a:rPr>
              <a:t>pos_db · internal</a:t>
            </a:r>
            <a:endParaRPr lang="en-US" sz="1200" dirty="0"/>
          </a:p>
          <a:p>
            <a:pPr algn="l" indent="0" marL="0">
              <a:lnSpc>
                <a:spcPts val="1680"/>
              </a:lnSpc>
              <a:buNone/>
            </a:pPr>
            <a:r>
              <a:rPr lang="en-US" sz="1200" b="1" dirty="0">
                <a:solidFill>
                  <a:srgbClr val="A6531A"/>
                </a:solidFill>
                <a:latin typeface="JetBrains Mono" pitchFamily="49" charset="0"/>
                <a:ea typeface="JetBrains Mono" pitchFamily="49" charset="-122"/>
                <a:cs typeface="JetBrains Mono" pitchFamily="49" charset="-120"/>
              </a:rPr>
              <a:t>172.21.0.0/24</a:t>
            </a:r>
            <a:endParaRPr lang="en-US" sz="1200" dirty="0"/>
          </a:p>
        </p:txBody>
      </p:sp>
      <p:sp>
        <p:nvSpPr>
          <p:cNvPr id="9" name="Shape 7"/>
          <p:cNvSpPr/>
          <p:nvPr/>
        </p:nvSpPr>
        <p:spPr>
          <a:xfrm>
            <a:off x="819150" y="3181350"/>
            <a:ext cx="1384300" cy="1447800"/>
          </a:xfrm>
          <a:prstGeom prst="roundRect">
            <a:avLst>
              <a:gd name="adj" fmla="val 6881"/>
            </a:avLst>
          </a:prstGeom>
          <a:solidFill>
            <a:srgbClr val="FBFAF7"/>
          </a:solidFill>
          <a:ln w="12700">
            <a:solidFill>
              <a:srgbClr val="15202B"/>
            </a:solidFill>
            <a:prstDash val="solid"/>
          </a:ln>
        </p:spPr>
      </p:sp>
      <p:sp>
        <p:nvSpPr>
          <p:cNvPr id="10" name="Text 8"/>
          <p:cNvSpPr/>
          <p:nvPr/>
        </p:nvSpPr>
        <p:spPr>
          <a:xfrm>
            <a:off x="977900" y="3340100"/>
            <a:ext cx="1117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IBM Plex Sans" pitchFamily="34" charset="0"/>
                <a:ea typeface="IBM Plex Sans" pitchFamily="34" charset="-122"/>
                <a:cs typeface="IBM Plex Sans" pitchFamily="34" charset="-120"/>
              </a:rPr>
              <a:t>Browser</a:t>
            </a:r>
            <a:endParaRPr lang="en-US" sz="1600" dirty="0"/>
          </a:p>
        </p:txBody>
      </p:sp>
      <p:sp>
        <p:nvSpPr>
          <p:cNvPr id="11" name="Text 9"/>
          <p:cNvSpPr/>
          <p:nvPr/>
        </p:nvSpPr>
        <p:spPr>
          <a:xfrm>
            <a:off x="977900" y="3621980"/>
            <a:ext cx="11176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752"/>
                </a:solidFill>
                <a:latin typeface="IBM Plex Sans" pitchFamily="34" charset="0"/>
                <a:ea typeface="IBM Plex Sans" pitchFamily="34" charset="-122"/>
                <a:cs typeface="IBM Plex Sans" pitchFamily="34" charset="-120"/>
              </a:rPr>
              <a:t>laptop</a:t>
            </a:r>
            <a:endParaRPr lang="en-US" sz="1200" dirty="0"/>
          </a:p>
          <a:p>
            <a:pPr algn="l" indent="0" marL="0">
              <a:lnSpc>
                <a:spcPts val="1620"/>
              </a:lnSpc>
              <a:buNone/>
            </a:pPr>
            <a:r>
              <a:rPr lang="en-US" sz="1200" dirty="0">
                <a:solidFill>
                  <a:srgbClr val="3D4752"/>
                </a:solidFill>
                <a:latin typeface="IBM Plex Sans" pitchFamily="34" charset="0"/>
                <a:ea typeface="IBM Plex Sans" pitchFamily="34" charset="-122"/>
                <a:cs typeface="IBM Plex Sans" pitchFamily="34" charset="-120"/>
              </a:rPr>
              <a:t>pengguna</a:t>
            </a:r>
            <a:endParaRPr lang="en-US" sz="1200" dirty="0"/>
          </a:p>
        </p:txBody>
      </p:sp>
      <p:sp>
        <p:nvSpPr>
          <p:cNvPr id="12" name="Shape 10"/>
          <p:cNvSpPr/>
          <p:nvPr/>
        </p:nvSpPr>
        <p:spPr>
          <a:xfrm>
            <a:off x="3562350" y="3181350"/>
            <a:ext cx="1892300" cy="1447800"/>
          </a:xfrm>
          <a:prstGeom prst="roundRect">
            <a:avLst>
              <a:gd name="adj" fmla="val 6579"/>
            </a:avLst>
          </a:prstGeom>
          <a:solidFill>
            <a:srgbClr val="FBFAF7"/>
          </a:solidFill>
          <a:ln w="12700">
            <a:solidFill>
              <a:srgbClr val="15202B"/>
            </a:solidFill>
            <a:prstDash val="solid"/>
          </a:ln>
        </p:spPr>
      </p:sp>
      <p:sp>
        <p:nvSpPr>
          <p:cNvPr id="13" name="Text 11"/>
          <p:cNvSpPr/>
          <p:nvPr/>
        </p:nvSpPr>
        <p:spPr>
          <a:xfrm>
            <a:off x="3721100" y="3340100"/>
            <a:ext cx="1625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IBM Plex Sans" pitchFamily="34" charset="0"/>
                <a:ea typeface="IBM Plex Sans" pitchFamily="34" charset="-122"/>
                <a:cs typeface="IBM Plex Sans" pitchFamily="34" charset="-120"/>
              </a:rPr>
              <a:t>FE</a:t>
            </a:r>
            <a:endParaRPr lang="en-US" sz="1600" dirty="0"/>
          </a:p>
        </p:txBody>
      </p:sp>
      <p:sp>
        <p:nvSpPr>
          <p:cNvPr id="14" name="Text 12"/>
          <p:cNvSpPr/>
          <p:nvPr/>
        </p:nvSpPr>
        <p:spPr>
          <a:xfrm>
            <a:off x="3721100" y="3621980"/>
            <a:ext cx="162560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pos-web</a:t>
            </a:r>
            <a:endParaRPr lang="en-US" sz="1200" dirty="0"/>
          </a:p>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172.20.0.10</a:t>
            </a:r>
            <a:endParaRPr lang="en-US" sz="1200" dirty="0"/>
          </a:p>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Nginx :8080</a:t>
            </a:r>
            <a:endParaRPr lang="en-US" sz="1200" dirty="0"/>
          </a:p>
        </p:txBody>
      </p:sp>
      <p:sp>
        <p:nvSpPr>
          <p:cNvPr id="15" name="Shape 13"/>
          <p:cNvSpPr/>
          <p:nvPr/>
        </p:nvSpPr>
        <p:spPr>
          <a:xfrm>
            <a:off x="6610350" y="3181350"/>
            <a:ext cx="1511300" cy="1447800"/>
          </a:xfrm>
          <a:prstGeom prst="roundRect">
            <a:avLst>
              <a:gd name="adj" fmla="val 6579"/>
            </a:avLst>
          </a:prstGeom>
          <a:solidFill>
            <a:srgbClr val="FBFAF7"/>
          </a:solidFill>
          <a:ln w="12700">
            <a:solidFill>
              <a:srgbClr val="15202B"/>
            </a:solidFill>
            <a:prstDash val="solid"/>
          </a:ln>
        </p:spPr>
      </p:sp>
      <p:sp>
        <p:nvSpPr>
          <p:cNvPr id="16" name="Text 14"/>
          <p:cNvSpPr/>
          <p:nvPr/>
        </p:nvSpPr>
        <p:spPr>
          <a:xfrm>
            <a:off x="6769100" y="3340100"/>
            <a:ext cx="1244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IBM Plex Sans" pitchFamily="34" charset="0"/>
                <a:ea typeface="IBM Plex Sans" pitchFamily="34" charset="-122"/>
                <a:cs typeface="IBM Plex Sans" pitchFamily="34" charset="-120"/>
              </a:rPr>
              <a:t>BE</a:t>
            </a:r>
            <a:endParaRPr lang="en-US" sz="1600" dirty="0"/>
          </a:p>
        </p:txBody>
      </p:sp>
      <p:sp>
        <p:nvSpPr>
          <p:cNvPr id="17" name="Text 15"/>
          <p:cNvSpPr/>
          <p:nvPr/>
        </p:nvSpPr>
        <p:spPr>
          <a:xfrm>
            <a:off x="6769100" y="3621980"/>
            <a:ext cx="124460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pos-restapi</a:t>
            </a:r>
            <a:endParaRPr lang="en-US" sz="1200" dirty="0"/>
          </a:p>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172.20.0.20</a:t>
            </a:r>
            <a:endParaRPr lang="en-US" sz="1200" dirty="0"/>
          </a:p>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172.21.0.20</a:t>
            </a:r>
            <a:endParaRPr lang="en-US" sz="1200" dirty="0"/>
          </a:p>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Nginx :8000</a:t>
            </a:r>
            <a:endParaRPr lang="en-US" sz="1200" dirty="0"/>
          </a:p>
        </p:txBody>
      </p:sp>
      <p:sp>
        <p:nvSpPr>
          <p:cNvPr id="18" name="Shape 16"/>
          <p:cNvSpPr/>
          <p:nvPr/>
        </p:nvSpPr>
        <p:spPr>
          <a:xfrm>
            <a:off x="9658350" y="3181350"/>
            <a:ext cx="1511300" cy="1447800"/>
          </a:xfrm>
          <a:prstGeom prst="roundRect">
            <a:avLst>
              <a:gd name="adj" fmla="val 6579"/>
            </a:avLst>
          </a:prstGeom>
          <a:solidFill>
            <a:srgbClr val="FBFAF7"/>
          </a:solidFill>
          <a:ln w="12700">
            <a:solidFill>
              <a:srgbClr val="15202B"/>
            </a:solidFill>
            <a:prstDash val="solid"/>
          </a:ln>
        </p:spPr>
      </p:sp>
      <p:sp>
        <p:nvSpPr>
          <p:cNvPr id="19" name="Text 17"/>
          <p:cNvSpPr/>
          <p:nvPr/>
        </p:nvSpPr>
        <p:spPr>
          <a:xfrm>
            <a:off x="9817100" y="3340100"/>
            <a:ext cx="12446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IBM Plex Sans" pitchFamily="34" charset="0"/>
                <a:ea typeface="IBM Plex Sans" pitchFamily="34" charset="-122"/>
                <a:cs typeface="IBM Plex Sans" pitchFamily="34" charset="-120"/>
              </a:rPr>
              <a:t>DB</a:t>
            </a:r>
            <a:endParaRPr lang="en-US" sz="1600" dirty="0"/>
          </a:p>
        </p:txBody>
      </p:sp>
      <p:sp>
        <p:nvSpPr>
          <p:cNvPr id="20" name="Text 18"/>
          <p:cNvSpPr/>
          <p:nvPr/>
        </p:nvSpPr>
        <p:spPr>
          <a:xfrm>
            <a:off x="9817100" y="3621980"/>
            <a:ext cx="124460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pos-mysql</a:t>
            </a:r>
            <a:endParaRPr lang="en-US" sz="1200" dirty="0"/>
          </a:p>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172.21.0.30</a:t>
            </a:r>
            <a:endParaRPr lang="en-US" sz="1200" dirty="0"/>
          </a:p>
          <a:p>
            <a:pPr algn="l" indent="0" marL="0">
              <a:lnSpc>
                <a:spcPts val="1620"/>
              </a:lnSpc>
              <a:buNone/>
            </a:pPr>
            <a:r>
              <a:rPr lang="en-US" sz="1200" dirty="0">
                <a:solidFill>
                  <a:srgbClr val="3D4752"/>
                </a:solidFill>
                <a:latin typeface="JetBrains Mono" pitchFamily="49" charset="0"/>
                <a:ea typeface="JetBrains Mono" pitchFamily="49" charset="-122"/>
                <a:cs typeface="JetBrains Mono" pitchFamily="49" charset="-120"/>
              </a:rPr>
              <a:t>tanpa port</a:t>
            </a:r>
            <a:endParaRPr lang="en-US" sz="1200" dirty="0"/>
          </a:p>
        </p:txBody>
      </p:sp>
      <p:pic>
        <p:nvPicPr>
          <p:cNvPr id="21" name="Image 0" descr="connector">    </p:cNvPr>
          <p:cNvPicPr>
            <a:picLocks noChangeAspect="1"/>
          </p:cNvPicPr>
          <p:nvPr/>
        </p:nvPicPr>
        <p:blipFill>
          <a:blip r:embed="rId1"/>
          <a:srcRect l="0" r="0" t="0" b="0"/>
          <a:stretch/>
        </p:blipFill>
        <p:spPr>
          <a:xfrm>
            <a:off x="2159000" y="3854450"/>
            <a:ext cx="1447800" cy="101600"/>
          </a:xfrm>
          <a:prstGeom prst="rect">
            <a:avLst/>
          </a:prstGeom>
        </p:spPr>
      </p:pic>
      <p:pic>
        <p:nvPicPr>
          <p:cNvPr id="22" name="Image 1" descr="connector">    </p:cNvPr>
          <p:cNvPicPr>
            <a:picLocks noChangeAspect="1"/>
          </p:cNvPicPr>
          <p:nvPr/>
        </p:nvPicPr>
        <p:blipFill>
          <a:blip r:embed="rId2"/>
          <a:srcRect l="0" r="0" t="0" b="0"/>
          <a:stretch/>
        </p:blipFill>
        <p:spPr>
          <a:xfrm>
            <a:off x="1460500" y="4584700"/>
            <a:ext cx="101600" cy="1054100"/>
          </a:xfrm>
          <a:prstGeom prst="rect">
            <a:avLst/>
          </a:prstGeom>
        </p:spPr>
      </p:pic>
      <p:pic>
        <p:nvPicPr>
          <p:cNvPr id="23" name="Image 2" descr="connector">    </p:cNvPr>
          <p:cNvPicPr>
            <a:picLocks noChangeAspect="1"/>
          </p:cNvPicPr>
          <p:nvPr/>
        </p:nvPicPr>
        <p:blipFill>
          <a:blip r:embed="rId3"/>
          <a:srcRect l="0" r="0" t="0" b="0"/>
          <a:stretch/>
        </p:blipFill>
        <p:spPr>
          <a:xfrm>
            <a:off x="1460500" y="5537200"/>
            <a:ext cx="5956300" cy="101600"/>
          </a:xfrm>
          <a:prstGeom prst="rect">
            <a:avLst/>
          </a:prstGeom>
        </p:spPr>
      </p:pic>
      <p:pic>
        <p:nvPicPr>
          <p:cNvPr id="24" name="Image 3" descr="connector">    </p:cNvPr>
          <p:cNvPicPr>
            <a:picLocks noChangeAspect="1"/>
          </p:cNvPicPr>
          <p:nvPr/>
        </p:nvPicPr>
        <p:blipFill>
          <a:blip r:embed="rId4"/>
          <a:srcRect l="0" r="0" t="0" b="0"/>
          <a:stretch/>
        </p:blipFill>
        <p:spPr>
          <a:xfrm>
            <a:off x="7315200" y="4584700"/>
            <a:ext cx="101600" cy="1054100"/>
          </a:xfrm>
          <a:prstGeom prst="rect">
            <a:avLst/>
          </a:prstGeom>
        </p:spPr>
      </p:pic>
      <p:pic>
        <p:nvPicPr>
          <p:cNvPr id="25" name="Image 4" descr="connector">    </p:cNvPr>
          <p:cNvPicPr>
            <a:picLocks noChangeAspect="1"/>
          </p:cNvPicPr>
          <p:nvPr/>
        </p:nvPicPr>
        <p:blipFill>
          <a:blip r:embed="rId5"/>
          <a:srcRect l="0" r="0" t="0" b="0"/>
          <a:stretch/>
        </p:blipFill>
        <p:spPr>
          <a:xfrm>
            <a:off x="8077200" y="3854450"/>
            <a:ext cx="1625600" cy="101600"/>
          </a:xfrm>
          <a:prstGeom prst="rect">
            <a:avLst/>
          </a:prstGeom>
        </p:spPr>
      </p:pic>
      <p:sp>
        <p:nvSpPr>
          <p:cNvPr id="26" name="Text 19"/>
          <p:cNvSpPr/>
          <p:nvPr/>
        </p:nvSpPr>
        <p:spPr>
          <a:xfrm>
            <a:off x="2324100" y="3765550"/>
            <a:ext cx="279400" cy="278805"/>
          </a:xfrm>
          <a:custGeom>
            <a:avLst/>
            <a:gdLst/>
            <a:ahLst/>
            <a:cxnLst/>
            <a:rect l="l" t="t" r="r" b="b"/>
            <a:pathLst>
              <a:path w="279400" h="278805">
                <a:moveTo>
                  <a:pt x="139402" y="0"/>
                </a:moveTo>
                <a:lnTo>
                  <a:pt x="139998" y="0"/>
                </a:lnTo>
                <a:arcTo hR="139402" wR="139402" stAng="16200000" swAng="5400000"/>
                <a:lnTo>
                  <a:pt x="279400" y="139402"/>
                </a:lnTo>
                <a:arcTo hR="139402" wR="139402" stAng="0" swAng="5400000"/>
                <a:lnTo>
                  <a:pt x="139402" y="278805"/>
                </a:lnTo>
                <a:arcTo hR="139402" wR="139402" stAng="5400000" swAng="5400000"/>
                <a:lnTo>
                  <a:pt x="0" y="139402"/>
                </a:lnTo>
                <a:arcTo hR="139402" wR="139402" stAng="10800000" swAng="5400000"/>
                <a:close/>
              </a:path>
            </a:pathLst>
          </a:custGeom>
          <a:solidFill>
            <a:srgbClr val="15202B"/>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1</a:t>
            </a:r>
            <a:endParaRPr lang="en-US" sz="1200" dirty="0"/>
          </a:p>
        </p:txBody>
      </p:sp>
      <p:sp>
        <p:nvSpPr>
          <p:cNvPr id="27" name="Text 20"/>
          <p:cNvSpPr/>
          <p:nvPr/>
        </p:nvSpPr>
        <p:spPr>
          <a:xfrm>
            <a:off x="3810000" y="5448300"/>
            <a:ext cx="279400" cy="278805"/>
          </a:xfrm>
          <a:custGeom>
            <a:avLst/>
            <a:gdLst/>
            <a:ahLst/>
            <a:cxnLst/>
            <a:rect l="l" t="t" r="r" b="b"/>
            <a:pathLst>
              <a:path w="279400" h="278805">
                <a:moveTo>
                  <a:pt x="139402" y="0"/>
                </a:moveTo>
                <a:lnTo>
                  <a:pt x="139998" y="0"/>
                </a:lnTo>
                <a:arcTo hR="139402" wR="139402" stAng="16200000" swAng="5400000"/>
                <a:lnTo>
                  <a:pt x="279400" y="139402"/>
                </a:lnTo>
                <a:arcTo hR="139402" wR="139402" stAng="0" swAng="5400000"/>
                <a:lnTo>
                  <a:pt x="139402" y="278805"/>
                </a:lnTo>
                <a:arcTo hR="139402" wR="139402" stAng="5400000" swAng="5400000"/>
                <a:lnTo>
                  <a:pt x="0" y="139402"/>
                </a:lnTo>
                <a:arcTo hR="139402" wR="139402" stAng="10800000" swAng="5400000"/>
                <a:close/>
              </a:path>
            </a:pathLst>
          </a:custGeom>
          <a:solidFill>
            <a:srgbClr val="15202B"/>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2</a:t>
            </a:r>
            <a:endParaRPr lang="en-US" sz="1200" dirty="0"/>
          </a:p>
        </p:txBody>
      </p:sp>
      <p:sp>
        <p:nvSpPr>
          <p:cNvPr id="28" name="Text 21"/>
          <p:cNvSpPr/>
          <p:nvPr/>
        </p:nvSpPr>
        <p:spPr>
          <a:xfrm>
            <a:off x="8750300" y="3765550"/>
            <a:ext cx="279400" cy="278805"/>
          </a:xfrm>
          <a:custGeom>
            <a:avLst/>
            <a:gdLst/>
            <a:ahLst/>
            <a:cxnLst/>
            <a:rect l="l" t="t" r="r" b="b"/>
            <a:pathLst>
              <a:path w="279400" h="278805">
                <a:moveTo>
                  <a:pt x="139402" y="0"/>
                </a:moveTo>
                <a:lnTo>
                  <a:pt x="139998" y="0"/>
                </a:lnTo>
                <a:arcTo hR="139402" wR="139402" stAng="16200000" swAng="5400000"/>
                <a:lnTo>
                  <a:pt x="279400" y="139402"/>
                </a:lnTo>
                <a:arcTo hR="139402" wR="139402" stAng="0" swAng="5400000"/>
                <a:lnTo>
                  <a:pt x="139402" y="278805"/>
                </a:lnTo>
                <a:arcTo hR="139402" wR="139402" stAng="5400000" swAng="5400000"/>
                <a:lnTo>
                  <a:pt x="0" y="139402"/>
                </a:lnTo>
                <a:arcTo hR="139402" wR="139402" stAng="10800000" swAng="5400000"/>
                <a:close/>
              </a:path>
            </a:pathLst>
          </a:custGeom>
          <a:solidFill>
            <a:srgbClr val="A6531A"/>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3</a:t>
            </a:r>
            <a:endParaRPr lang="en-US" sz="1200" dirty="0"/>
          </a:p>
        </p:txBody>
      </p:sp>
      <p:sp>
        <p:nvSpPr>
          <p:cNvPr id="29"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6B55"/>
        </a:solidFill>
      </p:bgPr>
    </p:bg>
    <p:spTree>
      <p:nvGrpSpPr>
        <p:cNvPr id="1" name=""/>
        <p:cNvGrpSpPr/>
        <p:nvPr/>
      </p:nvGrpSpPr>
      <p:grpSpPr>
        <a:xfrm>
          <a:off x="0" y="0"/>
          <a:ext cx="0" cy="0"/>
          <a:chOff x="0" y="0"/>
          <a:chExt cx="0" cy="0"/>
        </a:xfrm>
      </p:grpSpPr>
      <p:sp>
        <p:nvSpPr>
          <p:cNvPr id="2" name="Text 0"/>
          <p:cNvSpPr/>
          <p:nvPr/>
        </p:nvSpPr>
        <p:spPr>
          <a:xfrm>
            <a:off x="812800" y="167967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DEBDF"/>
                </a:solidFill>
                <a:latin typeface="IBM Plex Sans" pitchFamily="34" charset="0"/>
                <a:ea typeface="IBM Plex Sans" pitchFamily="34" charset="-122"/>
                <a:cs typeface="IBM Plex Sans" pitchFamily="34" charset="-120"/>
              </a:rPr>
              <a:t>ALUR REQUEST</a:t>
            </a:r>
            <a:endParaRPr lang="en-US" sz="1200" dirty="0"/>
          </a:p>
        </p:txBody>
      </p:sp>
      <p:sp>
        <p:nvSpPr>
          <p:cNvPr id="3" name="Text 1"/>
          <p:cNvSpPr/>
          <p:nvPr>
            <p:ph type="title"/>
          </p:nvPr>
        </p:nvSpPr>
        <p:spPr>
          <a:xfrm>
            <a:off x="812800" y="2197795"/>
            <a:ext cx="981075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IBM Plex Sans" pitchFamily="34" charset="0"/>
                <a:ea typeface="IBM Plex Sans" pitchFamily="34" charset="-122"/>
                <a:cs typeface="IBM Plex Sans" pitchFamily="34" charset="-120"/>
              </a:rPr>
              <a:t>Yang memanggil API adalah browser, bukan server FE.</a:t>
            </a:r>
            <a:endParaRPr lang="en-US" sz="4800" dirty="0"/>
          </a:p>
        </p:txBody>
      </p:sp>
      <p:sp>
        <p:nvSpPr>
          <p:cNvPr id="4" name="Text 2"/>
          <p:cNvSpPr/>
          <p:nvPr/>
        </p:nvSpPr>
        <p:spPr>
          <a:xfrm>
            <a:off x="812800" y="3843635"/>
            <a:ext cx="9810750" cy="115679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DDEFE7"/>
                </a:solidFill>
                <a:latin typeface="IBM Plex Sans" pitchFamily="34" charset="0"/>
                <a:ea typeface="IBM Plex Sans" pitchFamily="34" charset="-122"/>
                <a:cs typeface="IBM Plex Sans" pitchFamily="34" charset="-120"/>
              </a:rPr>
              <a:t>Server FE hanya mengirim file Vue. Karena itu BE butuh alamat yang bisa dijangkau pengguna dan aturan CORS, sedangkan DB cukup di jaringan privat.</a:t>
            </a:r>
            <a:endParaRPr lang="en-US" sz="2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DEBDF"/>
                </a:solidFill>
                <a:latin typeface="IBM Plex Sans" pitchFamily="34" charset="0"/>
                <a:ea typeface="IBM Plex Sans" pitchFamily="34" charset="-122"/>
                <a:cs typeface="IBM Plex Sans" pitchFamily="34" charset="-120"/>
              </a:rPr>
              <a:t>Deployment POS tiga server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KONFIGURASI · SERVER FE</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FE dibangun sekali, lalu disajikan Nginx</a:t>
            </a:r>
            <a:endParaRPr lang="en-US" sz="3200" dirty="0"/>
          </a:p>
        </p:txBody>
      </p:sp>
      <p:sp>
        <p:nvSpPr>
          <p:cNvPr id="4" name="Text 2"/>
          <p:cNvSpPr/>
          <p:nvPr/>
        </p:nvSpPr>
        <p:spPr>
          <a:xfrm>
            <a:off x="812800" y="1803301"/>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Build dua tahap</a:t>
            </a:r>
            <a:endParaRPr lang="en-US" sz="1400" dirty="0"/>
          </a:p>
        </p:txBody>
      </p:sp>
      <p:sp>
        <p:nvSpPr>
          <p:cNvPr id="5" name="Text 3"/>
          <p:cNvSpPr/>
          <p:nvPr/>
        </p:nvSpPr>
        <p:spPr>
          <a:xfrm>
            <a:off x="812800" y="2067421"/>
            <a:ext cx="52062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Node.js hanya dipakai saat build. Image akhir berisi Nginx dan file statis saja.</a:t>
            </a:r>
            <a:endParaRPr lang="en-US" sz="1400" dirty="0"/>
          </a:p>
        </p:txBody>
      </p:sp>
      <p:sp>
        <p:nvSpPr>
          <p:cNvPr id="6" name="Text 4"/>
          <p:cNvSpPr/>
          <p:nvPr/>
        </p:nvSpPr>
        <p:spPr>
          <a:xfrm>
            <a:off x="812800" y="2768302"/>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Alamat BE ditanam saat build</a:t>
            </a:r>
            <a:endParaRPr lang="en-US" sz="1400" dirty="0"/>
          </a:p>
        </p:txBody>
      </p:sp>
      <p:sp>
        <p:nvSpPr>
          <p:cNvPr id="7" name="Text 5"/>
          <p:cNvSpPr/>
          <p:nvPr/>
        </p:nvSpPr>
        <p:spPr>
          <a:xfrm>
            <a:off x="812800" y="3032423"/>
            <a:ext cx="52062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VITE_API_URL dikirim sebagai build arg. Kalau alamat BE berubah, image FE harus di-build ulang.</a:t>
            </a:r>
            <a:endParaRPr lang="en-US" sz="1400" dirty="0"/>
          </a:p>
        </p:txBody>
      </p:sp>
      <p:sp>
        <p:nvSpPr>
          <p:cNvPr id="8" name="Text 6"/>
          <p:cNvSpPr/>
          <p:nvPr/>
        </p:nvSpPr>
        <p:spPr>
          <a:xfrm>
            <a:off x="812800" y="3733304"/>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Routing SPA</a:t>
            </a:r>
            <a:endParaRPr lang="en-US" sz="1400" dirty="0"/>
          </a:p>
        </p:txBody>
      </p:sp>
      <p:sp>
        <p:nvSpPr>
          <p:cNvPr id="9" name="Text 7"/>
          <p:cNvSpPr/>
          <p:nvPr/>
        </p:nvSpPr>
        <p:spPr>
          <a:xfrm>
            <a:off x="812800" y="3997424"/>
            <a:ext cx="52062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try_files mengarahkan semua route ke index.html, jadi halaman tidak 404 saat di-refresh.</a:t>
            </a:r>
            <a:endParaRPr lang="en-US" sz="1400" dirty="0"/>
          </a:p>
        </p:txBody>
      </p:sp>
      <p:sp>
        <p:nvSpPr>
          <p:cNvPr id="10" name="Shape 8"/>
          <p:cNvSpPr/>
          <p:nvPr/>
        </p:nvSpPr>
        <p:spPr>
          <a:xfrm>
            <a:off x="6172200" y="1803301"/>
            <a:ext cx="5207000" cy="4038699"/>
          </a:xfrm>
          <a:prstGeom prst="roundRect">
            <a:avLst>
              <a:gd name="adj" fmla="val 2516"/>
            </a:avLst>
          </a:prstGeom>
          <a:solidFill>
            <a:srgbClr val="15202B"/>
          </a:solidFill>
          <a:ln/>
        </p:spPr>
      </p:sp>
      <p:sp>
        <p:nvSpPr>
          <p:cNvPr id="11" name="Text 9"/>
          <p:cNvSpPr/>
          <p:nvPr/>
        </p:nvSpPr>
        <p:spPr>
          <a:xfrm>
            <a:off x="6426200" y="2057301"/>
            <a:ext cx="4839970" cy="2219424"/>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FA3B3"/>
                </a:solidFill>
                <a:latin typeface="JetBrains Mono" pitchFamily="49" charset="0"/>
                <a:ea typeface="JetBrains Mono" pitchFamily="49" charset="-122"/>
                <a:cs typeface="JetBrains Mono" pitchFamily="49" charset="-120"/>
              </a:rPr>
              <a:t># Tahap 1: build</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FROM node:22-alpine AS build</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ARG VITE_API_URL</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RUN npm ci</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RUN npm run build</a:t>
            </a:r>
            <a:endParaRPr lang="en-US" sz="1200" dirty="0"/>
          </a:p>
          <a:p>
            <a:pPr algn="l" indent="0" marL="0">
              <a:lnSpc>
                <a:spcPts val="1920"/>
              </a:lnSpc>
              <a:buNone/>
            </a:pPr>
            <a:endParaRPr lang="en-US" sz="1200" dirty="0"/>
          </a:p>
          <a:p>
            <a:pPr algn="l" indent="0" marL="0">
              <a:lnSpc>
                <a:spcPts val="1920"/>
              </a:lnSpc>
              <a:buNone/>
            </a:pPr>
            <a:r>
              <a:rPr lang="en-US" sz="1200" dirty="0">
                <a:solidFill>
                  <a:srgbClr val="8FA3B3"/>
                </a:solidFill>
                <a:latin typeface="JetBrains Mono" pitchFamily="49" charset="0"/>
                <a:ea typeface="JetBrains Mono" pitchFamily="49" charset="-122"/>
                <a:cs typeface="JetBrains Mono" pitchFamily="49" charset="-120"/>
              </a:rPr>
              <a:t># Tahap 2: sajikan</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FROM nginx:1.27-alpine</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COPY --from=build /app/dist /usr/share/nginx/html</a:t>
            </a:r>
            <a:endParaRPr lang="en-US" sz="1200" dirty="0"/>
          </a:p>
        </p:txBody>
      </p:sp>
      <p:sp>
        <p:nvSpPr>
          <p:cNvPr id="12" name="Text 10"/>
          <p:cNvSpPr/>
          <p:nvPr/>
        </p:nvSpPr>
        <p:spPr>
          <a:xfrm>
            <a:off x="6426200" y="4403725"/>
            <a:ext cx="4839970" cy="1000522"/>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FA3B3"/>
                </a:solidFill>
                <a:latin typeface="JetBrains Mono" pitchFamily="49" charset="0"/>
                <a:ea typeface="JetBrains Mono" pitchFamily="49" charset="-122"/>
                <a:cs typeface="JetBrains Mono" pitchFamily="49" charset="-120"/>
              </a:rPr>
              <a:t># nginx.conf</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location / {</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try_files $uri $uri/ /index.html;</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a:t>
            </a:r>
            <a:endParaRPr lang="en-US" sz="12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KONFIGURASI · SERVER BE</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BE menjadi satu-satunya jembatan ke DB</a:t>
            </a:r>
            <a:endParaRPr lang="en-US" sz="3200" dirty="0"/>
          </a:p>
        </p:txBody>
      </p:sp>
      <p:sp>
        <p:nvSpPr>
          <p:cNvPr id="4" name="Text 2"/>
          <p:cNvSpPr/>
          <p:nvPr/>
        </p:nvSpPr>
        <p:spPr>
          <a:xfrm>
            <a:off x="812800" y="1803301"/>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Koneksi ke DB lewat IP privat</a:t>
            </a:r>
            <a:endParaRPr lang="en-US" sz="1400" dirty="0"/>
          </a:p>
        </p:txBody>
      </p:sp>
      <p:sp>
        <p:nvSpPr>
          <p:cNvPr id="5" name="Text 3"/>
          <p:cNvSpPr/>
          <p:nvPr/>
        </p:nvSpPr>
        <p:spPr>
          <a:xfrm>
            <a:off x="812800" y="2067421"/>
            <a:ext cx="52062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DB_HOST=172.21.0.30, alamat MySQL di jaringan pos_db.</a:t>
            </a:r>
            <a:endParaRPr lang="en-US" sz="1400" dirty="0"/>
          </a:p>
        </p:txBody>
      </p:sp>
      <p:sp>
        <p:nvSpPr>
          <p:cNvPr id="6" name="Text 4"/>
          <p:cNvSpPr/>
          <p:nvPr/>
        </p:nvSpPr>
        <p:spPr>
          <a:xfrm>
            <a:off x="812800" y="2494062"/>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CORS hanya untuk origin FE</a:t>
            </a:r>
            <a:endParaRPr lang="en-US" sz="1400" dirty="0"/>
          </a:p>
        </p:txBody>
      </p:sp>
      <p:sp>
        <p:nvSpPr>
          <p:cNvPr id="7" name="Text 5"/>
          <p:cNvSpPr/>
          <p:nvPr/>
        </p:nvSpPr>
        <p:spPr>
          <a:xfrm>
            <a:off x="812800" y="2758182"/>
            <a:ext cx="52062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Origin harus cocok persis, termasuk port.</a:t>
            </a:r>
            <a:endParaRPr lang="en-US" sz="1400" dirty="0"/>
          </a:p>
        </p:txBody>
      </p:sp>
      <p:sp>
        <p:nvSpPr>
          <p:cNvPr id="8" name="Text 6"/>
          <p:cNvSpPr/>
          <p:nvPr/>
        </p:nvSpPr>
        <p:spPr>
          <a:xfrm>
            <a:off x="812800" y="3184823"/>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Nginx dan PHP-FPM</a:t>
            </a:r>
            <a:endParaRPr lang="en-US" sz="1400" dirty="0"/>
          </a:p>
        </p:txBody>
      </p:sp>
      <p:sp>
        <p:nvSpPr>
          <p:cNvPr id="9" name="Text 7"/>
          <p:cNvSpPr/>
          <p:nvPr/>
        </p:nvSpPr>
        <p:spPr>
          <a:xfrm>
            <a:off x="812800" y="3448943"/>
            <a:ext cx="52062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Dijalankan bersama oleh Supervisor, menggantikan php artisan serve.</a:t>
            </a:r>
            <a:endParaRPr lang="en-US" sz="1400" dirty="0"/>
          </a:p>
        </p:txBody>
      </p:sp>
      <p:sp>
        <p:nvSpPr>
          <p:cNvPr id="10" name="Text 8"/>
          <p:cNvSpPr/>
          <p:nvPr/>
        </p:nvSpPr>
        <p:spPr>
          <a:xfrm>
            <a:off x="812800" y="4124424"/>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Siap saat container menyala</a:t>
            </a:r>
            <a:endParaRPr lang="en-US" sz="1400" dirty="0"/>
          </a:p>
        </p:txBody>
      </p:sp>
      <p:sp>
        <p:nvSpPr>
          <p:cNvPr id="11" name="Text 9"/>
          <p:cNvSpPr/>
          <p:nvPr/>
        </p:nvSpPr>
        <p:spPr>
          <a:xfrm>
            <a:off x="812800" y="4388545"/>
            <a:ext cx="52062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Entrypoint menjalankan config:cache, route:cache, dan migrate --force.</a:t>
            </a:r>
            <a:endParaRPr lang="en-US" sz="1400" dirty="0"/>
          </a:p>
        </p:txBody>
      </p:sp>
      <p:sp>
        <p:nvSpPr>
          <p:cNvPr id="12" name="Shape 10"/>
          <p:cNvSpPr/>
          <p:nvPr/>
        </p:nvSpPr>
        <p:spPr>
          <a:xfrm>
            <a:off x="6172200" y="1803301"/>
            <a:ext cx="5207000" cy="4038699"/>
          </a:xfrm>
          <a:prstGeom prst="roundRect">
            <a:avLst>
              <a:gd name="adj" fmla="val 2516"/>
            </a:avLst>
          </a:prstGeom>
          <a:solidFill>
            <a:srgbClr val="15202B"/>
          </a:solidFill>
          <a:ln/>
        </p:spPr>
      </p:sp>
      <p:sp>
        <p:nvSpPr>
          <p:cNvPr id="13" name="Text 11"/>
          <p:cNvSpPr/>
          <p:nvPr/>
        </p:nvSpPr>
        <p:spPr>
          <a:xfrm>
            <a:off x="6426200" y="2057301"/>
            <a:ext cx="4839970" cy="1731863"/>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FA3B3"/>
                </a:solidFill>
                <a:latin typeface="JetBrains Mono" pitchFamily="49" charset="0"/>
                <a:ea typeface="JetBrains Mono" pitchFamily="49" charset="-122"/>
                <a:cs typeface="JetBrains Mono" pitchFamily="49" charset="-120"/>
              </a:rPr>
              <a:t># .env.production (ringkas)</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APP_ENV=production</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APP_DEBUG=false</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DB_HOST=</a:t>
            </a:r>
            <a:r>
              <a:rPr lang="en-US" sz="1200" dirty="0">
                <a:solidFill>
                  <a:srgbClr val="7FD1B4"/>
                </a:solidFill>
                <a:latin typeface="JetBrains Mono" pitchFamily="49" charset="0"/>
                <a:ea typeface="JetBrains Mono" pitchFamily="49" charset="-122"/>
                <a:cs typeface="JetBrains Mono" pitchFamily="49" charset="-120"/>
              </a:rPr>
              <a:t>172.21.0.30</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DB_DATABASE=pos</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DB_USERNAME=pos</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CORS_ALLOWED_ORIGINS=</a:t>
            </a:r>
            <a:r>
              <a:rPr lang="en-US" sz="1200" dirty="0">
                <a:solidFill>
                  <a:srgbClr val="7FD1B4"/>
                </a:solidFill>
                <a:latin typeface="JetBrains Mono" pitchFamily="49" charset="0"/>
                <a:ea typeface="JetBrains Mono" pitchFamily="49" charset="-122"/>
                <a:cs typeface="JetBrains Mono" pitchFamily="49" charset="-120"/>
              </a:rPr>
              <a:t>http://localhost:8080</a:t>
            </a:r>
            <a:endParaRPr lang="en-US" sz="1200" dirty="0"/>
          </a:p>
        </p:txBody>
      </p:sp>
      <p:sp>
        <p:nvSpPr>
          <p:cNvPr id="14" name="Text 12"/>
          <p:cNvSpPr/>
          <p:nvPr/>
        </p:nvSpPr>
        <p:spPr>
          <a:xfrm>
            <a:off x="6426200" y="3916164"/>
            <a:ext cx="4839970" cy="1000522"/>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FA3B3"/>
                </a:solidFill>
                <a:latin typeface="JetBrains Mono" pitchFamily="49" charset="0"/>
                <a:ea typeface="JetBrains Mono" pitchFamily="49" charset="-122"/>
                <a:cs typeface="JetBrains Mono" pitchFamily="49" charset="-120"/>
              </a:rPr>
              <a:t># config/cors.php</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'allowed_origins' =&gt; array_filter(</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explode(',', env('CORS_ALLOWED_ORIGINS'))),</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'supports_credentials' =&gt; false,</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531A"/>
                </a:solidFill>
                <a:latin typeface="IBM Plex Sans" pitchFamily="34" charset="0"/>
                <a:ea typeface="IBM Plex Sans" pitchFamily="34" charset="-122"/>
                <a:cs typeface="IBM Plex Sans" pitchFamily="34" charset="-120"/>
              </a:rPr>
              <a:t>KONFIGURASI · SERVER DB</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DB hanya menerima koneksi dari BE</a:t>
            </a:r>
            <a:endParaRPr lang="en-US" sz="3200" dirty="0"/>
          </a:p>
        </p:txBody>
      </p:sp>
      <p:sp>
        <p:nvSpPr>
          <p:cNvPr id="4" name="Text 2"/>
          <p:cNvSpPr/>
          <p:nvPr/>
        </p:nvSpPr>
        <p:spPr>
          <a:xfrm>
            <a:off x="812800" y="1803301"/>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Tidak ada port ke luar</a:t>
            </a:r>
            <a:endParaRPr lang="en-US" sz="1400" dirty="0"/>
          </a:p>
        </p:txBody>
      </p:sp>
      <p:sp>
        <p:nvSpPr>
          <p:cNvPr id="5" name="Text 3"/>
          <p:cNvSpPr/>
          <p:nvPr/>
        </p:nvSpPr>
        <p:spPr>
          <a:xfrm>
            <a:off x="812800" y="2067421"/>
            <a:ext cx="52062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Container MySQL tanpa ports, jadi tidak terjangkau dari laptop maupun jaringan lain.</a:t>
            </a:r>
            <a:endParaRPr lang="en-US" sz="1400" dirty="0"/>
          </a:p>
        </p:txBody>
      </p:sp>
      <p:sp>
        <p:nvSpPr>
          <p:cNvPr id="6" name="Text 4"/>
          <p:cNvSpPr/>
          <p:nvPr/>
        </p:nvSpPr>
        <p:spPr>
          <a:xfrm>
            <a:off x="812800" y="2742902"/>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Jaringan internal</a:t>
            </a:r>
            <a:endParaRPr lang="en-US" sz="1400" dirty="0"/>
          </a:p>
        </p:txBody>
      </p:sp>
      <p:sp>
        <p:nvSpPr>
          <p:cNvPr id="7" name="Text 5"/>
          <p:cNvSpPr/>
          <p:nvPr/>
        </p:nvSpPr>
        <p:spPr>
          <a:xfrm>
            <a:off x="812800" y="3007023"/>
            <a:ext cx="52062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pos_db tanpa akses keluar dan hanya berisi BE dan DB.</a:t>
            </a:r>
            <a:endParaRPr lang="en-US" sz="1400" dirty="0"/>
          </a:p>
        </p:txBody>
      </p:sp>
      <p:sp>
        <p:nvSpPr>
          <p:cNvPr id="8" name="Text 6"/>
          <p:cNvSpPr/>
          <p:nvPr/>
        </p:nvSpPr>
        <p:spPr>
          <a:xfrm>
            <a:off x="812800" y="3433663"/>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User dikunci per IP</a:t>
            </a:r>
            <a:endParaRPr lang="en-US" sz="1400" dirty="0"/>
          </a:p>
        </p:txBody>
      </p:sp>
      <p:sp>
        <p:nvSpPr>
          <p:cNvPr id="9" name="Text 7"/>
          <p:cNvSpPr/>
          <p:nvPr/>
        </p:nvSpPr>
        <p:spPr>
          <a:xfrm>
            <a:off x="812800" y="3697784"/>
            <a:ext cx="52062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User pos hanya boleh login dari 172.21.0.20. Root hanya dari localhost.</a:t>
            </a:r>
            <a:endParaRPr lang="en-US" sz="1400" dirty="0"/>
          </a:p>
        </p:txBody>
      </p:sp>
      <p:sp>
        <p:nvSpPr>
          <p:cNvPr id="10" name="Text 8"/>
          <p:cNvSpPr/>
          <p:nvPr/>
        </p:nvSpPr>
        <p:spPr>
          <a:xfrm>
            <a:off x="812800" y="4373265"/>
            <a:ext cx="520623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Data di volume</a:t>
            </a:r>
            <a:endParaRPr lang="en-US" sz="1400" dirty="0"/>
          </a:p>
        </p:txBody>
      </p:sp>
      <p:sp>
        <p:nvSpPr>
          <p:cNvPr id="11" name="Text 9"/>
          <p:cNvSpPr/>
          <p:nvPr/>
        </p:nvSpPr>
        <p:spPr>
          <a:xfrm>
            <a:off x="812800" y="4637385"/>
            <a:ext cx="52062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Data tetap ada walau container dihapus. Healthcheck membuat BE menunggu DB siap.</a:t>
            </a:r>
            <a:endParaRPr lang="en-US" sz="1400" dirty="0"/>
          </a:p>
        </p:txBody>
      </p:sp>
      <p:sp>
        <p:nvSpPr>
          <p:cNvPr id="12" name="Shape 10"/>
          <p:cNvSpPr/>
          <p:nvPr/>
        </p:nvSpPr>
        <p:spPr>
          <a:xfrm>
            <a:off x="6172200" y="1803301"/>
            <a:ext cx="5207000" cy="4038699"/>
          </a:xfrm>
          <a:prstGeom prst="roundRect">
            <a:avLst>
              <a:gd name="adj" fmla="val 2516"/>
            </a:avLst>
          </a:prstGeom>
          <a:solidFill>
            <a:srgbClr val="15202B"/>
          </a:solidFill>
          <a:ln/>
        </p:spPr>
      </p:sp>
      <p:sp>
        <p:nvSpPr>
          <p:cNvPr id="13" name="Text 11"/>
          <p:cNvSpPr/>
          <p:nvPr/>
        </p:nvSpPr>
        <p:spPr>
          <a:xfrm>
            <a:off x="6426200" y="2057301"/>
            <a:ext cx="4839970" cy="2706985"/>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FA3B3"/>
                </a:solidFill>
                <a:latin typeface="JetBrains Mono" pitchFamily="49" charset="0"/>
                <a:ea typeface="JetBrains Mono" pitchFamily="49" charset="-122"/>
                <a:cs typeface="JetBrains Mono" pitchFamily="49" charset="-120"/>
              </a:rPr>
              <a:t># docker-compose.yml (ringkas)</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pos-mysql:</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image: mysql:8.4</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command: ["--skip-name-resolve"]</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networks:</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pos_db:</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ipv4_address: </a:t>
            </a:r>
            <a:r>
              <a:rPr lang="en-US" sz="1200" dirty="0">
                <a:solidFill>
                  <a:srgbClr val="7FD1B4"/>
                </a:solidFill>
                <a:latin typeface="JetBrains Mono" pitchFamily="49" charset="0"/>
                <a:ea typeface="JetBrains Mono" pitchFamily="49" charset="-122"/>
                <a:cs typeface="JetBrains Mono" pitchFamily="49" charset="-120"/>
              </a:rPr>
              <a:t>172.21.0.30</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a:t>
            </a:r>
            <a:r>
              <a:rPr lang="en-US" sz="1200" dirty="0">
                <a:solidFill>
                  <a:srgbClr val="8FA3B3"/>
                </a:solidFill>
                <a:latin typeface="JetBrains Mono" pitchFamily="49" charset="0"/>
                <a:ea typeface="JetBrains Mono" pitchFamily="49" charset="-122"/>
                <a:cs typeface="JetBrains Mono" pitchFamily="49" charset="-120"/>
              </a:rPr>
              <a:t># tanpa ports</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networks:</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pos_db:</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    internal: </a:t>
            </a:r>
            <a:r>
              <a:rPr lang="en-US" sz="1200" dirty="0">
                <a:solidFill>
                  <a:srgbClr val="7FD1B4"/>
                </a:solidFill>
                <a:latin typeface="JetBrains Mono" pitchFamily="49" charset="0"/>
                <a:ea typeface="JetBrains Mono" pitchFamily="49" charset="-122"/>
                <a:cs typeface="JetBrains Mono" pitchFamily="49" charset="-120"/>
              </a:rPr>
              <a:t>true</a:t>
            </a:r>
            <a:endParaRPr lang="en-US" sz="1200" dirty="0"/>
          </a:p>
        </p:txBody>
      </p:sp>
      <p:sp>
        <p:nvSpPr>
          <p:cNvPr id="14" name="Text 12"/>
          <p:cNvSpPr/>
          <p:nvPr/>
        </p:nvSpPr>
        <p:spPr>
          <a:xfrm>
            <a:off x="6426200" y="4891286"/>
            <a:ext cx="4839970" cy="51296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FA3B3"/>
                </a:solidFill>
                <a:latin typeface="JetBrains Mono" pitchFamily="49" charset="0"/>
                <a:ea typeface="JetBrains Mono" pitchFamily="49" charset="-122"/>
                <a:cs typeface="JetBrains Mono" pitchFamily="49" charset="-120"/>
              </a:rPr>
              <a:t>-- user aplikasi (init.sh)</a:t>
            </a:r>
            <a:endParaRPr lang="en-US" sz="1200" dirty="0"/>
          </a:p>
          <a:p>
            <a:pPr algn="l" indent="0" marL="0">
              <a:lnSpc>
                <a:spcPts val="1920"/>
              </a:lnSpc>
              <a:buNone/>
            </a:pPr>
            <a:r>
              <a:rPr lang="en-US" sz="1200" dirty="0">
                <a:solidFill>
                  <a:srgbClr val="E6EAEE"/>
                </a:solidFill>
                <a:latin typeface="JetBrains Mono" pitchFamily="49" charset="0"/>
                <a:ea typeface="JetBrains Mono" pitchFamily="49" charset="-122"/>
                <a:cs typeface="JetBrains Mono" pitchFamily="49" charset="-120"/>
              </a:rPr>
              <a:t>CREATE USER 'pos'@'</a:t>
            </a:r>
            <a:r>
              <a:rPr lang="en-US" sz="1200" dirty="0">
                <a:solidFill>
                  <a:srgbClr val="7FD1B4"/>
                </a:solidFill>
                <a:latin typeface="JetBrains Mono" pitchFamily="49" charset="0"/>
                <a:ea typeface="JetBrains Mono" pitchFamily="49" charset="-122"/>
                <a:cs typeface="JetBrains Mono" pitchFamily="49" charset="-120"/>
              </a:rPr>
              <a:t>172.21.0.20</a:t>
            </a:r>
            <a:r>
              <a:rPr lang="en-US" sz="1200" dirty="0">
                <a:solidFill>
                  <a:srgbClr val="E6EAEE"/>
                </a:solidFill>
                <a:latin typeface="JetBrains Mono" pitchFamily="49" charset="0"/>
                <a:ea typeface="JetBrains Mono" pitchFamily="49" charset="-122"/>
                <a:cs typeface="JetBrains Mono" pitchFamily="49" charset="-120"/>
              </a:rPr>
              <a:t>'</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RINGKASAN KONFIGURASI</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Empat titik yang menghubungkan tiga server</a:t>
            </a:r>
            <a:endParaRPr lang="en-US" sz="3200" dirty="0"/>
          </a:p>
        </p:txBody>
      </p:sp>
      <p:sp>
        <p:nvSpPr>
          <p:cNvPr id="4" name="Shape 2"/>
          <p:cNvSpPr/>
          <p:nvPr/>
        </p:nvSpPr>
        <p:spPr>
          <a:xfrm>
            <a:off x="812800" y="1803301"/>
            <a:ext cx="10566400" cy="2197695"/>
          </a:xfrm>
          <a:prstGeom prst="rect">
            <a:avLst/>
          </a:prstGeom>
          <a:solidFill>
            <a:srgbClr val="FBFAF7"/>
          </a:solidFill>
          <a:ln/>
        </p:spPr>
      </p:sp>
      <p:sp>
        <p:nvSpPr>
          <p:cNvPr id="5" name="Shape 3"/>
          <p:cNvSpPr/>
          <p:nvPr/>
        </p:nvSpPr>
        <p:spPr>
          <a:xfrm>
            <a:off x="11376025" y="1803301"/>
            <a:ext cx="0" cy="2197695"/>
          </a:xfrm>
          <a:prstGeom prst="line">
            <a:avLst/>
          </a:prstGeom>
          <a:noFill/>
          <a:ln w="6350">
            <a:solidFill>
              <a:srgbClr val="DDD9CE"/>
            </a:solidFill>
            <a:prstDash val="solid"/>
          </a:ln>
        </p:spPr>
      </p:sp>
      <p:sp>
        <p:nvSpPr>
          <p:cNvPr id="6" name="Shape 4"/>
          <p:cNvSpPr/>
          <p:nvPr/>
        </p:nvSpPr>
        <p:spPr>
          <a:xfrm>
            <a:off x="812800" y="3997821"/>
            <a:ext cx="10566400" cy="0"/>
          </a:xfrm>
          <a:prstGeom prst="line">
            <a:avLst/>
          </a:prstGeom>
          <a:noFill/>
          <a:ln w="6350">
            <a:solidFill>
              <a:srgbClr val="DDD9CE"/>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10547350" cy="2178645"/>
        </p:xfrm>
        <a:graphic>
          <a:graphicData uri="http://schemas.openxmlformats.org/drawingml/2006/table">
            <a:tbl>
              <a:tblPr/>
              <a:tblGrid>
                <a:gridCol w="3164205"/>
                <a:gridCol w="2320417"/>
                <a:gridCol w="5062728"/>
              </a:tblGrid>
              <a:tr h="385961">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Hubungan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Diatur di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Konfigurasi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FE tahu alamat BE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FE, saat build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VITE_API_URL=http://localhost:8000/api/v1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BE mengizinkan FE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BE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CORS_ALLOWED_ORIGINS=http://localhost:8080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BE tahu alamat DB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BE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DB_HOST=172.21.0.30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634802">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DB hanya menerima BE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DB dan jaringan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User pos@172.21.0.20, jaringan pos_db internal, tanpa ports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bl>
          </a:graphicData>
        </a:graphic>
      </p:graphicFrame>
      <p:sp>
        <p:nvSpPr>
          <p:cNvPr id="8" name="Text 5"/>
          <p:cNvSpPr/>
          <p:nvPr/>
        </p:nvSpPr>
        <p:spPr>
          <a:xfrm>
            <a:off x="812800" y="4254996"/>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02B"/>
                </a:solidFill>
                <a:latin typeface="IBM Plex Sans" pitchFamily="34" charset="0"/>
                <a:ea typeface="IBM Plex Sans" pitchFamily="34" charset="-122"/>
                <a:cs typeface="IBM Plex Sans" pitchFamily="34" charset="-120"/>
              </a:rPr>
              <a:t>Kalau salah satu titik keliru, gejalanya berbeda, dan itu memudahkan troubleshooting.</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A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DEVELOPMENT DAN PRODUKSI</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Satu compose dasar, ditimpa untuk produksi</a:t>
            </a:r>
            <a:endParaRPr lang="en-US" sz="3200" dirty="0"/>
          </a:p>
        </p:txBody>
      </p:sp>
      <p:sp>
        <p:nvSpPr>
          <p:cNvPr id="4" name="Shape 2"/>
          <p:cNvSpPr/>
          <p:nvPr/>
        </p:nvSpPr>
        <p:spPr>
          <a:xfrm>
            <a:off x="812800" y="1803301"/>
            <a:ext cx="10566400" cy="2334816"/>
          </a:xfrm>
          <a:prstGeom prst="rect">
            <a:avLst/>
          </a:prstGeom>
          <a:solidFill>
            <a:srgbClr val="FBFAF7"/>
          </a:solidFill>
          <a:ln/>
        </p:spPr>
      </p:sp>
      <p:sp>
        <p:nvSpPr>
          <p:cNvPr id="5" name="Shape 3"/>
          <p:cNvSpPr/>
          <p:nvPr/>
        </p:nvSpPr>
        <p:spPr>
          <a:xfrm>
            <a:off x="11376025" y="1803301"/>
            <a:ext cx="0" cy="2334816"/>
          </a:xfrm>
          <a:prstGeom prst="line">
            <a:avLst/>
          </a:prstGeom>
          <a:noFill/>
          <a:ln w="6350">
            <a:solidFill>
              <a:srgbClr val="D3CEC1"/>
            </a:solidFill>
            <a:prstDash val="solid"/>
          </a:ln>
        </p:spPr>
      </p:sp>
      <p:sp>
        <p:nvSpPr>
          <p:cNvPr id="6" name="Shape 4"/>
          <p:cNvSpPr/>
          <p:nvPr/>
        </p:nvSpPr>
        <p:spPr>
          <a:xfrm>
            <a:off x="812800" y="4134941"/>
            <a:ext cx="10566400" cy="0"/>
          </a:xfrm>
          <a:prstGeom prst="line">
            <a:avLst/>
          </a:prstGeom>
          <a:noFill/>
          <a:ln w="6350">
            <a:solidFill>
              <a:srgbClr val="D3CEC1"/>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10547350" cy="2315766"/>
        </p:xfrm>
        <a:graphic>
          <a:graphicData uri="http://schemas.openxmlformats.org/drawingml/2006/table">
            <a:tbl>
              <a:tblPr/>
              <a:tblGrid>
                <a:gridCol w="2320417"/>
                <a:gridCol w="4113466"/>
                <a:gridCol w="4113466"/>
              </a:tblGrid>
              <a:tr h="385961">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Aspek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Development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Produksi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Server FE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Vite dev server :5173, HMR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Nginx, file statis :8080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Server BE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php artisan serve :8000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Nginx dan PHP-FPM :8000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Kode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Di-mount dari laptop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Disalin ke dalam image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Error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APP_DEBUG=true, detail lengkap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APP_DEBUG=false, pesan singkat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Perintah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docker compose up -d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Tambah file docker-compose.prod.yml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bl>
          </a:graphicData>
        </a:graphic>
      </p:graphicFrame>
      <p:sp>
        <p:nvSpPr>
          <p:cNvPr id="8" name="Text 5"/>
          <p:cNvSpPr/>
          <p:nvPr/>
        </p:nvSpPr>
        <p:spPr>
          <a:xfrm>
            <a:off x="812800" y="4392116"/>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02B"/>
                </a:solidFill>
                <a:latin typeface="IBM Plex Sans" pitchFamily="34" charset="0"/>
                <a:ea typeface="IBM Plex Sans" pitchFamily="34" charset="-122"/>
                <a:cs typeface="IBM Plex Sans" pitchFamily="34" charset="-120"/>
              </a:rPr>
              <a:t>Database dan jaringan sama persis di kedua mode. Yang berubah hanya cara FE dan BE dijalankan.</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KEAMANAN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Akses dibatasi di setiap lapis</a:t>
            </a:r>
            <a:endParaRPr lang="en-US" sz="3200" dirty="0"/>
          </a:p>
        </p:txBody>
      </p:sp>
      <p:sp>
        <p:nvSpPr>
          <p:cNvPr id="4" name="Shape 2"/>
          <p:cNvSpPr/>
          <p:nvPr/>
        </p:nvSpPr>
        <p:spPr>
          <a:xfrm>
            <a:off x="815975" y="1806476"/>
            <a:ext cx="3380284" cy="1911350"/>
          </a:xfrm>
          <a:prstGeom prst="roundRect">
            <a:avLst>
              <a:gd name="adj" fmla="val 5150"/>
            </a:avLst>
          </a:prstGeom>
          <a:solidFill>
            <a:srgbClr val="FBFAF7"/>
          </a:solidFill>
          <a:ln w="6350">
            <a:solidFill>
              <a:srgbClr val="DDD9CE"/>
            </a:solidFill>
            <a:prstDash val="solid"/>
          </a:ln>
        </p:spPr>
      </p:sp>
      <p:sp>
        <p:nvSpPr>
          <p:cNvPr id="5" name="Text 3"/>
          <p:cNvSpPr/>
          <p:nvPr/>
        </p:nvSpPr>
        <p:spPr>
          <a:xfrm>
            <a:off x="1047750" y="2038251"/>
            <a:ext cx="30042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DB tidak publik</a:t>
            </a:r>
            <a:endParaRPr lang="en-US" sz="1400" dirty="0"/>
          </a:p>
        </p:txBody>
      </p:sp>
      <p:sp>
        <p:nvSpPr>
          <p:cNvPr id="6" name="Text 4"/>
          <p:cNvSpPr/>
          <p:nvPr/>
        </p:nvSpPr>
        <p:spPr>
          <a:xfrm>
            <a:off x="1047750" y="2327771"/>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752"/>
                </a:solidFill>
                <a:latin typeface="IBM Plex Sans" pitchFamily="34" charset="0"/>
                <a:ea typeface="IBM Plex Sans" pitchFamily="34" charset="-122"/>
                <a:cs typeface="IBM Plex Sans" pitchFamily="34" charset="-120"/>
              </a:rPr>
              <a:t>Tanpa ports dan berada di jaringan internal.</a:t>
            </a:r>
            <a:endParaRPr lang="en-US" sz="1200" dirty="0"/>
          </a:p>
        </p:txBody>
      </p:sp>
      <p:sp>
        <p:nvSpPr>
          <p:cNvPr id="7" name="Shape 5"/>
          <p:cNvSpPr/>
          <p:nvPr/>
        </p:nvSpPr>
        <p:spPr>
          <a:xfrm>
            <a:off x="4405809" y="1806476"/>
            <a:ext cx="3380284" cy="1911350"/>
          </a:xfrm>
          <a:prstGeom prst="roundRect">
            <a:avLst>
              <a:gd name="adj" fmla="val 5150"/>
            </a:avLst>
          </a:prstGeom>
          <a:solidFill>
            <a:srgbClr val="FBFAF7"/>
          </a:solidFill>
          <a:ln w="6350">
            <a:solidFill>
              <a:srgbClr val="DDD9CE"/>
            </a:solidFill>
            <a:prstDash val="solid"/>
          </a:ln>
        </p:spPr>
      </p:sp>
      <p:sp>
        <p:nvSpPr>
          <p:cNvPr id="8" name="Text 6"/>
          <p:cNvSpPr/>
          <p:nvPr/>
        </p:nvSpPr>
        <p:spPr>
          <a:xfrm>
            <a:off x="4637584" y="2038251"/>
            <a:ext cx="30042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Akses DB per IP</a:t>
            </a:r>
            <a:endParaRPr lang="en-US" sz="1400" dirty="0"/>
          </a:p>
        </p:txBody>
      </p:sp>
      <p:sp>
        <p:nvSpPr>
          <p:cNvPr id="9" name="Text 7"/>
          <p:cNvSpPr/>
          <p:nvPr/>
        </p:nvSpPr>
        <p:spPr>
          <a:xfrm>
            <a:off x="4637584" y="2327771"/>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752"/>
                </a:solidFill>
                <a:latin typeface="IBM Plex Sans" pitchFamily="34" charset="0"/>
                <a:ea typeface="IBM Plex Sans" pitchFamily="34" charset="-122"/>
                <a:cs typeface="IBM Plex Sans" pitchFamily="34" charset="-120"/>
              </a:rPr>
              <a:t>User pos hanya dari IP BE, root hanya dari localhost.</a:t>
            </a:r>
            <a:endParaRPr lang="en-US" sz="1200" dirty="0"/>
          </a:p>
        </p:txBody>
      </p:sp>
      <p:sp>
        <p:nvSpPr>
          <p:cNvPr id="10" name="Shape 8"/>
          <p:cNvSpPr/>
          <p:nvPr/>
        </p:nvSpPr>
        <p:spPr>
          <a:xfrm>
            <a:off x="7995642" y="1806476"/>
            <a:ext cx="3380284" cy="1911350"/>
          </a:xfrm>
          <a:prstGeom prst="roundRect">
            <a:avLst>
              <a:gd name="adj" fmla="val 5150"/>
            </a:avLst>
          </a:prstGeom>
          <a:solidFill>
            <a:srgbClr val="FBFAF7"/>
          </a:solidFill>
          <a:ln w="6350">
            <a:solidFill>
              <a:srgbClr val="DDD9CE"/>
            </a:solidFill>
            <a:prstDash val="solid"/>
          </a:ln>
        </p:spPr>
      </p:sp>
      <p:sp>
        <p:nvSpPr>
          <p:cNvPr id="11" name="Text 9"/>
          <p:cNvSpPr/>
          <p:nvPr/>
        </p:nvSpPr>
        <p:spPr>
          <a:xfrm>
            <a:off x="8227417" y="2038251"/>
            <a:ext cx="30042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CORS ketat</a:t>
            </a:r>
            <a:endParaRPr lang="en-US" sz="1400" dirty="0"/>
          </a:p>
        </p:txBody>
      </p:sp>
      <p:sp>
        <p:nvSpPr>
          <p:cNvPr id="12" name="Text 10"/>
          <p:cNvSpPr/>
          <p:nvPr/>
        </p:nvSpPr>
        <p:spPr>
          <a:xfrm>
            <a:off x="8227417" y="2327771"/>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752"/>
                </a:solidFill>
                <a:latin typeface="IBM Plex Sans" pitchFamily="34" charset="0"/>
                <a:ea typeface="IBM Plex Sans" pitchFamily="34" charset="-122"/>
                <a:cs typeface="IBM Plex Sans" pitchFamily="34" charset="-120"/>
              </a:rPr>
              <a:t>Hanya origin FE yang diizinkan, termasuk port-nya.</a:t>
            </a:r>
            <a:endParaRPr lang="en-US" sz="1200" dirty="0"/>
          </a:p>
        </p:txBody>
      </p:sp>
      <p:sp>
        <p:nvSpPr>
          <p:cNvPr id="13" name="Shape 11"/>
          <p:cNvSpPr/>
          <p:nvPr/>
        </p:nvSpPr>
        <p:spPr>
          <a:xfrm>
            <a:off x="815975" y="3927376"/>
            <a:ext cx="3380284" cy="1911449"/>
          </a:xfrm>
          <a:prstGeom prst="roundRect">
            <a:avLst>
              <a:gd name="adj" fmla="val 5149"/>
            </a:avLst>
          </a:prstGeom>
          <a:solidFill>
            <a:srgbClr val="FBFAF7"/>
          </a:solidFill>
          <a:ln w="6350">
            <a:solidFill>
              <a:srgbClr val="DDD9CE"/>
            </a:solidFill>
            <a:prstDash val="solid"/>
          </a:ln>
        </p:spPr>
      </p:sp>
      <p:sp>
        <p:nvSpPr>
          <p:cNvPr id="14" name="Text 12"/>
          <p:cNvSpPr/>
          <p:nvPr/>
        </p:nvSpPr>
        <p:spPr>
          <a:xfrm>
            <a:off x="1047750" y="4159151"/>
            <a:ext cx="30042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Rahasia di luar image</a:t>
            </a:r>
            <a:endParaRPr lang="en-US" sz="1400" dirty="0"/>
          </a:p>
        </p:txBody>
      </p:sp>
      <p:sp>
        <p:nvSpPr>
          <p:cNvPr id="15" name="Text 13"/>
          <p:cNvSpPr/>
          <p:nvPr/>
        </p:nvSpPr>
        <p:spPr>
          <a:xfrm>
            <a:off x="1047750" y="4448671"/>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752"/>
                </a:solidFill>
                <a:latin typeface="IBM Plex Sans" pitchFamily="34" charset="0"/>
                <a:ea typeface="IBM Plex Sans" pitchFamily="34" charset="-122"/>
                <a:cs typeface="IBM Plex Sans" pitchFamily="34" charset="-120"/>
              </a:rPr>
              <a:t>File .env diabaikan .dockerignore dan dikirim lewat env_file.</a:t>
            </a:r>
            <a:endParaRPr lang="en-US" sz="1200" dirty="0"/>
          </a:p>
        </p:txBody>
      </p:sp>
      <p:sp>
        <p:nvSpPr>
          <p:cNvPr id="16" name="Shape 14"/>
          <p:cNvSpPr/>
          <p:nvPr/>
        </p:nvSpPr>
        <p:spPr>
          <a:xfrm>
            <a:off x="4405809" y="3927376"/>
            <a:ext cx="3380284" cy="1911449"/>
          </a:xfrm>
          <a:prstGeom prst="roundRect">
            <a:avLst>
              <a:gd name="adj" fmla="val 5149"/>
            </a:avLst>
          </a:prstGeom>
          <a:solidFill>
            <a:srgbClr val="FBFAF7"/>
          </a:solidFill>
          <a:ln w="6350">
            <a:solidFill>
              <a:srgbClr val="DDD9CE"/>
            </a:solidFill>
            <a:prstDash val="solid"/>
          </a:ln>
        </p:spPr>
      </p:sp>
      <p:sp>
        <p:nvSpPr>
          <p:cNvPr id="17" name="Text 15"/>
          <p:cNvSpPr/>
          <p:nvPr/>
        </p:nvSpPr>
        <p:spPr>
          <a:xfrm>
            <a:off x="4637584" y="4159151"/>
            <a:ext cx="30042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202B"/>
                </a:solidFill>
                <a:latin typeface="IBM Plex Sans" pitchFamily="34" charset="0"/>
                <a:ea typeface="IBM Plex Sans" pitchFamily="34" charset="-122"/>
                <a:cs typeface="IBM Plex Sans" pitchFamily="34" charset="-120"/>
              </a:rPr>
              <a:t>Error tidak bocor</a:t>
            </a:r>
            <a:endParaRPr lang="en-US" sz="1400" dirty="0"/>
          </a:p>
        </p:txBody>
      </p:sp>
      <p:sp>
        <p:nvSpPr>
          <p:cNvPr id="18" name="Text 16"/>
          <p:cNvSpPr/>
          <p:nvPr/>
        </p:nvSpPr>
        <p:spPr>
          <a:xfrm>
            <a:off x="4637584" y="4448671"/>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752"/>
                </a:solidFill>
                <a:latin typeface="IBM Plex Sans" pitchFamily="34" charset="0"/>
                <a:ea typeface="IBM Plex Sans" pitchFamily="34" charset="-122"/>
                <a:cs typeface="IBM Plex Sans" pitchFamily="34" charset="-120"/>
              </a:rPr>
              <a:t>APP_DEBUG=false, dan /.env dibalas 403 oleh Nginx.</a:t>
            </a:r>
            <a:endParaRPr lang="en-US" sz="1200" dirty="0"/>
          </a:p>
        </p:txBody>
      </p:sp>
      <p:sp>
        <p:nvSpPr>
          <p:cNvPr id="19" name="Shape 17"/>
          <p:cNvSpPr/>
          <p:nvPr/>
        </p:nvSpPr>
        <p:spPr>
          <a:xfrm>
            <a:off x="7995642" y="3927376"/>
            <a:ext cx="3380284" cy="1911449"/>
          </a:xfrm>
          <a:prstGeom prst="roundRect">
            <a:avLst>
              <a:gd name="adj" fmla="val 5149"/>
            </a:avLst>
          </a:prstGeom>
          <a:solidFill>
            <a:srgbClr val="FBFAF7"/>
          </a:solidFill>
          <a:ln w="6350">
            <a:solidFill>
              <a:srgbClr val="A6531A"/>
            </a:solidFill>
            <a:prstDash val="dash"/>
          </a:ln>
        </p:spPr>
      </p:sp>
      <p:sp>
        <p:nvSpPr>
          <p:cNvPr id="20" name="Text 18"/>
          <p:cNvSpPr/>
          <p:nvPr/>
        </p:nvSpPr>
        <p:spPr>
          <a:xfrm>
            <a:off x="8227417" y="4159151"/>
            <a:ext cx="30042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6531A"/>
                </a:solidFill>
                <a:latin typeface="IBM Plex Sans" pitchFamily="34" charset="0"/>
                <a:ea typeface="IBM Plex Sans" pitchFamily="34" charset="-122"/>
                <a:cs typeface="IBM Plex Sans" pitchFamily="34" charset="-120"/>
              </a:rPr>
              <a:t>Berikutnya</a:t>
            </a:r>
            <a:endParaRPr lang="en-US" sz="1400" dirty="0"/>
          </a:p>
        </p:txBody>
      </p:sp>
      <p:sp>
        <p:nvSpPr>
          <p:cNvPr id="21" name="Text 19"/>
          <p:cNvSpPr/>
          <p:nvPr/>
        </p:nvSpPr>
        <p:spPr>
          <a:xfrm>
            <a:off x="8227417" y="4448671"/>
            <a:ext cx="300423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752"/>
                </a:solidFill>
                <a:latin typeface="IBM Plex Sans" pitchFamily="34" charset="0"/>
                <a:ea typeface="IBM Plex Sans" pitchFamily="34" charset="-122"/>
                <a:cs typeface="IBM Plex Sans" pitchFamily="34" charset="-120"/>
              </a:rPr>
              <a:t>Least privilege: di produksi, user pos tidak perlu akses ke database pos_testing.</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PENGUJIAN · 1 DARI 2</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Jaringan dan database: 8 dari 8 lolos</a:t>
            </a:r>
            <a:endParaRPr lang="en-US" sz="3200" dirty="0"/>
          </a:p>
        </p:txBody>
      </p:sp>
      <p:sp>
        <p:nvSpPr>
          <p:cNvPr id="4" name="Shape 2"/>
          <p:cNvSpPr/>
          <p:nvPr/>
        </p:nvSpPr>
        <p:spPr>
          <a:xfrm>
            <a:off x="812800" y="1803301"/>
            <a:ext cx="10566400" cy="3012281"/>
          </a:xfrm>
          <a:prstGeom prst="rect">
            <a:avLst/>
          </a:prstGeom>
          <a:solidFill>
            <a:srgbClr val="FBFAF7"/>
          </a:solidFill>
          <a:ln/>
        </p:spPr>
      </p:sp>
      <p:sp>
        <p:nvSpPr>
          <p:cNvPr id="5" name="Shape 3"/>
          <p:cNvSpPr/>
          <p:nvPr/>
        </p:nvSpPr>
        <p:spPr>
          <a:xfrm>
            <a:off x="11376025" y="1803301"/>
            <a:ext cx="0" cy="3012281"/>
          </a:xfrm>
          <a:prstGeom prst="line">
            <a:avLst/>
          </a:prstGeom>
          <a:noFill/>
          <a:ln w="6350">
            <a:solidFill>
              <a:srgbClr val="DDD9CE"/>
            </a:solidFill>
            <a:prstDash val="solid"/>
          </a:ln>
        </p:spPr>
      </p:sp>
      <p:sp>
        <p:nvSpPr>
          <p:cNvPr id="6" name="Shape 4"/>
          <p:cNvSpPr/>
          <p:nvPr/>
        </p:nvSpPr>
        <p:spPr>
          <a:xfrm>
            <a:off x="812800" y="4812407"/>
            <a:ext cx="10566400" cy="0"/>
          </a:xfrm>
          <a:prstGeom prst="line">
            <a:avLst/>
          </a:prstGeom>
          <a:noFill/>
          <a:ln w="6350">
            <a:solidFill>
              <a:srgbClr val="DDD9CE"/>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10547350" cy="2993231"/>
        </p:xfrm>
        <a:graphic>
          <a:graphicData uri="http://schemas.openxmlformats.org/drawingml/2006/table">
            <a:tbl>
              <a:tblPr/>
              <a:tblGrid>
                <a:gridCol w="632841"/>
                <a:gridCol w="4007993"/>
                <a:gridCol w="4640834"/>
                <a:gridCol w="1265682"/>
              </a:tblGrid>
              <a:tr h="332581">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Uji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Bukti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Hasil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Port DB tidak dibuka ke laptop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docker port pos-mysql kosong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DB tidak terjangkau dari laptop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Test-NetConnection :3306 bernilai False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User aplikasi dikunci ke IP 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mysql.user: pos dari 172.21.0.20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Login dari host lain ditolak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Access denied for 'pos'@'localhost'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FE tidak bisa ke IP 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nc 172.21.0.30 3306: timed 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FE tidak mengenal nama 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nc pos-mysql: bad address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BE terhubung ke 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artisan db:show: host 172.21.0.30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Isi jaringan pos_db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Hanya pos-mysql dan pos-restapi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PENGUJIAN · 2 DARI 2</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Aplikasi dan ketahanan: 7 dari 7 lolos</a:t>
            </a:r>
            <a:endParaRPr lang="en-US" sz="3200" dirty="0"/>
          </a:p>
        </p:txBody>
      </p:sp>
      <p:sp>
        <p:nvSpPr>
          <p:cNvPr id="4" name="Shape 2"/>
          <p:cNvSpPr/>
          <p:nvPr/>
        </p:nvSpPr>
        <p:spPr>
          <a:xfrm>
            <a:off x="812800" y="1803301"/>
            <a:ext cx="10566400" cy="2679700"/>
          </a:xfrm>
          <a:prstGeom prst="rect">
            <a:avLst/>
          </a:prstGeom>
          <a:solidFill>
            <a:srgbClr val="FBFAF7"/>
          </a:solidFill>
          <a:ln/>
        </p:spPr>
      </p:sp>
      <p:sp>
        <p:nvSpPr>
          <p:cNvPr id="5" name="Shape 3"/>
          <p:cNvSpPr/>
          <p:nvPr/>
        </p:nvSpPr>
        <p:spPr>
          <a:xfrm>
            <a:off x="11376025" y="1803301"/>
            <a:ext cx="0" cy="2679700"/>
          </a:xfrm>
          <a:prstGeom prst="line">
            <a:avLst/>
          </a:prstGeom>
          <a:noFill/>
          <a:ln w="6350">
            <a:solidFill>
              <a:srgbClr val="DDD9CE"/>
            </a:solidFill>
            <a:prstDash val="solid"/>
          </a:ln>
        </p:spPr>
      </p:sp>
      <p:sp>
        <p:nvSpPr>
          <p:cNvPr id="6" name="Shape 4"/>
          <p:cNvSpPr/>
          <p:nvPr/>
        </p:nvSpPr>
        <p:spPr>
          <a:xfrm>
            <a:off x="812800" y="4479826"/>
            <a:ext cx="10566400" cy="0"/>
          </a:xfrm>
          <a:prstGeom prst="line">
            <a:avLst/>
          </a:prstGeom>
          <a:noFill/>
          <a:ln w="6350">
            <a:solidFill>
              <a:srgbClr val="DDD9CE"/>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10547350" cy="2660650"/>
        </p:xfrm>
        <a:graphic>
          <a:graphicData uri="http://schemas.openxmlformats.org/drawingml/2006/table">
            <a:tbl>
              <a:tblPr/>
              <a:tblGrid>
                <a:gridCol w="632841"/>
                <a:gridCol w="4007993"/>
                <a:gridCol w="4640834"/>
                <a:gridCol w="1265682"/>
              </a:tblGrid>
              <a:tr h="332581">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Uji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Bukti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Hasil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CORS menolak origin lain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Origin ibuki.test: request diblokir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CORS mengikuti port FE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Origin :8080: login berhasil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File .env tidak bocor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/.env dibalas 403 Forbidden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Error tidak membuka kode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/api/v1/xyz: pesan singkat saja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Routing SPA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Refresh halaman dalam tetap tampil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Data bertahan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down lalu up: data utuh di volume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DB mati sementara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Error 500 rapi, pulih tanpa restart 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F6B55"/>
                          </a:solidFill>
                          <a:latin typeface="IBM Plex Sans" pitchFamily="34" charset="0"/>
                          <a:ea typeface="IBM Plex Sans" pitchFamily="34" charset="-122"/>
                          <a:cs typeface="IBM Plex Sans" pitchFamily="34" charset="-120"/>
                        </a:rPr>
                        <a:t>Lolos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AE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531A"/>
                </a:solidFill>
                <a:latin typeface="IBM Plex Sans" pitchFamily="34" charset="0"/>
                <a:ea typeface="IBM Plex Sans" pitchFamily="34" charset="-122"/>
                <a:cs typeface="IBM Plex Sans" pitchFamily="34" charset="-120"/>
              </a:rPr>
              <a:t>TROUBLESHOOTING</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Masalah yang ditemui selama pengerjaan</a:t>
            </a:r>
            <a:endParaRPr lang="en-US" sz="3200" dirty="0"/>
          </a:p>
        </p:txBody>
      </p:sp>
      <p:sp>
        <p:nvSpPr>
          <p:cNvPr id="4" name="Shape 2"/>
          <p:cNvSpPr/>
          <p:nvPr/>
        </p:nvSpPr>
        <p:spPr>
          <a:xfrm>
            <a:off x="812800" y="1803301"/>
            <a:ext cx="10566400" cy="2867819"/>
          </a:xfrm>
          <a:prstGeom prst="rect">
            <a:avLst/>
          </a:prstGeom>
          <a:solidFill>
            <a:srgbClr val="FBFAF7"/>
          </a:solidFill>
          <a:ln/>
        </p:spPr>
      </p:sp>
      <p:sp>
        <p:nvSpPr>
          <p:cNvPr id="5" name="Shape 3"/>
          <p:cNvSpPr/>
          <p:nvPr/>
        </p:nvSpPr>
        <p:spPr>
          <a:xfrm>
            <a:off x="11376025" y="1803301"/>
            <a:ext cx="0" cy="2867819"/>
          </a:xfrm>
          <a:prstGeom prst="line">
            <a:avLst/>
          </a:prstGeom>
          <a:noFill/>
          <a:ln w="6350">
            <a:solidFill>
              <a:srgbClr val="D3CEC1"/>
            </a:solidFill>
            <a:prstDash val="solid"/>
          </a:ln>
        </p:spPr>
      </p:sp>
      <p:sp>
        <p:nvSpPr>
          <p:cNvPr id="6" name="Shape 4"/>
          <p:cNvSpPr/>
          <p:nvPr/>
        </p:nvSpPr>
        <p:spPr>
          <a:xfrm>
            <a:off x="812800" y="4667945"/>
            <a:ext cx="10566400" cy="0"/>
          </a:xfrm>
          <a:prstGeom prst="line">
            <a:avLst/>
          </a:prstGeom>
          <a:noFill/>
          <a:ln w="6350">
            <a:solidFill>
              <a:srgbClr val="D3CEC1"/>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10547350" cy="2848769"/>
        </p:xfrm>
        <a:graphic>
          <a:graphicData uri="http://schemas.openxmlformats.org/drawingml/2006/table">
            <a:tbl>
              <a:tblPr/>
              <a:tblGrid>
                <a:gridCol w="3375152"/>
                <a:gridCol w="3586099"/>
                <a:gridCol w="3586099"/>
              </a:tblGrid>
              <a:tr h="332581">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Gejala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Penyebab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Perbaikan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545902">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“Tidak dapat terhubung ke server” setelah pindah ke produksi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FE pindah ke :8080, CORS masih mengizinkan :5173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CORS_ALLOWED_ORIGINS diganti ke :8080, container BE dibuat ulang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545902">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Build gagal: invalid file request public/storage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Symlink storage:link dari development menunjuk path di container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Diabaikan di .dockerignore, dibuat ulang di entrypoint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Ekstensi “intl” dibutuhkan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Ekstensi PHP intl belum terpasang di image 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Tambah libicu-dev dan ekstensi intl di Dockerfile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545902">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Port 3306 terbuka di laptop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MySQL lain yang berjalan langsung di Windows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Dicek dengan docker port, service Windows dimatikan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545902">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“Terjadi kesalahan di 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DB mati, BE tetap hidup dan membalas 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3D4752"/>
                          </a:solidFill>
                          <a:latin typeface="IBM Plex Sans" pitchFamily="34" charset="0"/>
                          <a:ea typeface="IBM Plex Sans" pitchFamily="34" charset="-122"/>
                          <a:cs typeface="IBM Plex Sans" pitchFamily="34" charset="-120"/>
                        </a:rPr>
                        <a:t>Beda dengan CORS, yang sama sekali tidak memberi respons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B55"/>
                </a:solidFill>
                <a:latin typeface="IBM Plex Sans" pitchFamily="34" charset="0"/>
                <a:ea typeface="IBM Plex Sans" pitchFamily="34" charset="-122"/>
                <a:cs typeface="IBM Plex Sans" pitchFamily="34" charset="-120"/>
              </a:rPr>
              <a:t>KE SERVER SUNGGUHAN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B"/>
                </a:solidFill>
                <a:latin typeface="IBM Plex Sans" pitchFamily="34" charset="0"/>
                <a:ea typeface="IBM Plex Sans" pitchFamily="34" charset="-122"/>
                <a:cs typeface="IBM Plex Sans" pitchFamily="34" charset="-120"/>
              </a:rPr>
              <a:t>Pola yang sama, hanya alamatnya yang berganti</a:t>
            </a:r>
            <a:endParaRPr lang="en-US" sz="3200" dirty="0"/>
          </a:p>
        </p:txBody>
      </p:sp>
      <p:sp>
        <p:nvSpPr>
          <p:cNvPr id="4" name="Shape 2"/>
          <p:cNvSpPr/>
          <p:nvPr/>
        </p:nvSpPr>
        <p:spPr>
          <a:xfrm>
            <a:off x="812800" y="1803301"/>
            <a:ext cx="10566400" cy="2720777"/>
          </a:xfrm>
          <a:prstGeom prst="rect">
            <a:avLst/>
          </a:prstGeom>
          <a:solidFill>
            <a:srgbClr val="FBFAF7"/>
          </a:solidFill>
          <a:ln/>
        </p:spPr>
      </p:sp>
      <p:sp>
        <p:nvSpPr>
          <p:cNvPr id="5" name="Shape 3"/>
          <p:cNvSpPr/>
          <p:nvPr/>
        </p:nvSpPr>
        <p:spPr>
          <a:xfrm>
            <a:off x="11376025" y="1803301"/>
            <a:ext cx="0" cy="2720777"/>
          </a:xfrm>
          <a:prstGeom prst="line">
            <a:avLst/>
          </a:prstGeom>
          <a:noFill/>
          <a:ln w="6350">
            <a:solidFill>
              <a:srgbClr val="DDD9CE"/>
            </a:solidFill>
            <a:prstDash val="solid"/>
          </a:ln>
        </p:spPr>
      </p:sp>
      <p:sp>
        <p:nvSpPr>
          <p:cNvPr id="6" name="Shape 4"/>
          <p:cNvSpPr/>
          <p:nvPr/>
        </p:nvSpPr>
        <p:spPr>
          <a:xfrm>
            <a:off x="812800" y="4520902"/>
            <a:ext cx="10566400" cy="0"/>
          </a:xfrm>
          <a:prstGeom prst="line">
            <a:avLst/>
          </a:prstGeom>
          <a:noFill/>
          <a:ln w="6350">
            <a:solidFill>
              <a:srgbClr val="DDD9CE"/>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10547350" cy="2701727"/>
        </p:xfrm>
        <a:graphic>
          <a:graphicData uri="http://schemas.openxmlformats.org/drawingml/2006/table">
            <a:tbl>
              <a:tblPr/>
              <a:tblGrid>
                <a:gridCol w="4218940"/>
                <a:gridCol w="6328410"/>
              </a:tblGrid>
              <a:tr h="385961">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Di demo ini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Di produksi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Tiga container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Tiga VM atau VPS terpisah, image Docker yang sama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localhost:8080 dan :8000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Domain dan DNS, misalnya app.[domain] dan api.[domain]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Port HTTP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HTTPS dengan Let’s Encrypt, publik hanya 80 dan 443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Jaringan pos_db internal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Jaringan privat dan firewall: 3306 hanya dari IP BE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Volume pos_mysql_data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Volume ditambah backup terjadwal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env_file di laptop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3D4752"/>
                          </a:solidFill>
                          <a:latin typeface="IBM Plex Sans" pitchFamily="34" charset="0"/>
                          <a:ea typeface="IBM Plex Sans" pitchFamily="34" charset="-122"/>
                          <a:cs typeface="IBM Plex Sans" pitchFamily="34" charset="-120"/>
                        </a:rPr>
                        <a:t>Rahasia disimpan di server atau secret manager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3"/>
                </a:solidFill>
                <a:latin typeface="IBM Plex Sans" pitchFamily="34" charset="0"/>
                <a:ea typeface="IBM Plex Sans" pitchFamily="34" charset="-122"/>
                <a:cs typeface="IBM Plex Sans" pitchFamily="34" charset="-120"/>
              </a:rPr>
              <a:t>Deployment POS tiga server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1B4"/>
                </a:solidFill>
                <a:latin typeface="IBM Plex Sans" pitchFamily="34" charset="0"/>
                <a:ea typeface="IBM Plex Sans" pitchFamily="34" charset="-122"/>
                <a:cs typeface="IBM Plex Sans" pitchFamily="34" charset="-120"/>
              </a:rPr>
              <a:t>DEMO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4EF"/>
                </a:solidFill>
                <a:latin typeface="IBM Plex Sans" pitchFamily="34" charset="0"/>
                <a:ea typeface="IBM Plex Sans" pitchFamily="34" charset="-122"/>
                <a:cs typeface="IBM Plex Sans" pitchFamily="34" charset="-120"/>
              </a:rPr>
              <a:t>Lima hal yang akan ditunjukkan langsung</a:t>
            </a:r>
            <a:endParaRPr lang="en-US" sz="3200" dirty="0"/>
          </a:p>
        </p:txBody>
      </p:sp>
      <p:sp>
        <p:nvSpPr>
          <p:cNvPr id="4" name="Text 2"/>
          <p:cNvSpPr/>
          <p:nvPr/>
        </p:nvSpPr>
        <p:spPr>
          <a:xfrm>
            <a:off x="869652" y="1854101"/>
            <a:ext cx="10818920" cy="1358900"/>
          </a:xfrm>
          <a:prstGeom prst="rect">
            <a:avLst/>
          </a:prstGeom>
          <a:noFill/>
          <a:ln/>
        </p:spPr>
        <p:txBody>
          <a:bodyPr wrap="square" lIns="0" tIns="0" rIns="0" bIns="0" rtlCol="0" anchor="t">
            <a:normAutofit/>
          </a:bodyPr>
          <a:lstStyle/>
          <a:p>
            <a:pPr algn="l" marL="197148" indent="-197148">
              <a:lnSpc>
                <a:spcPts val="2100"/>
              </a:lnSpc>
              <a:buSzPct val="100000"/>
              <a:buFontTx/>
              <a:buAutoNum type="arabicPeriod" startAt="1"/>
            </a:pPr>
            <a:r>
              <a:rPr lang="en-US" sz="1400" dirty="0">
                <a:solidFill>
                  <a:srgbClr val="DCE3E8"/>
                </a:solidFill>
                <a:latin typeface="IBM Plex Sans" pitchFamily="34" charset="0"/>
                <a:ea typeface="IBM Plex Sans" pitchFamily="34" charset="-122"/>
                <a:cs typeface="IBM Plex Sans" pitchFamily="34" charset="-120"/>
              </a:rPr>
              <a:t>docker compose ps: tiga container, dua jaringan</a:t>
            </a:r>
            <a:endParaRPr lang="en-US" sz="1400" dirty="0"/>
          </a:p>
          <a:p>
            <a:pPr algn="l" marL="197148" indent="-197148">
              <a:lnSpc>
                <a:spcPts val="2100"/>
              </a:lnSpc>
              <a:buSzPct val="100000"/>
              <a:buFontTx/>
              <a:buAutoNum type="arabicPeriod" startAt="1"/>
            </a:pPr>
            <a:r>
              <a:rPr lang="en-US" sz="1400" dirty="0">
                <a:solidFill>
                  <a:srgbClr val="DCE3E8"/>
                </a:solidFill>
                <a:latin typeface="IBM Plex Sans" pitchFamily="34" charset="0"/>
                <a:ea typeface="IBM Plex Sans" pitchFamily="34" charset="-122"/>
                <a:cs typeface="IBM Plex Sans" pitchFamily="34" charset="-120"/>
              </a:rPr>
              <a:t>Login dan dashboard POS di localhost:8080</a:t>
            </a:r>
            <a:endParaRPr lang="en-US" sz="1400" dirty="0"/>
          </a:p>
          <a:p>
            <a:pPr algn="l" marL="197148" indent="-197148">
              <a:lnSpc>
                <a:spcPts val="2100"/>
              </a:lnSpc>
              <a:buSzPct val="100000"/>
              <a:buFontTx/>
              <a:buAutoNum type="arabicPeriod" startAt="1"/>
            </a:pPr>
            <a:r>
              <a:rPr lang="en-US" sz="1400" dirty="0">
                <a:solidFill>
                  <a:srgbClr val="DCE3E8"/>
                </a:solidFill>
                <a:latin typeface="IBM Plex Sans" pitchFamily="34" charset="0"/>
                <a:ea typeface="IBM Plex Sans" pitchFamily="34" charset="-122"/>
                <a:cs typeface="IBM Plex Sans" pitchFamily="34" charset="-120"/>
              </a:rPr>
              <a:t>FE mencoba menjangkau DB lewat nc dan gagal</a:t>
            </a:r>
            <a:endParaRPr lang="en-US" sz="1400" dirty="0"/>
          </a:p>
          <a:p>
            <a:pPr algn="l" marL="197148" indent="-197148">
              <a:lnSpc>
                <a:spcPts val="2100"/>
              </a:lnSpc>
              <a:buSzPct val="100000"/>
              <a:buFontTx/>
              <a:buAutoNum type="arabicPeriod" startAt="1"/>
            </a:pPr>
            <a:r>
              <a:rPr lang="en-US" sz="1400" dirty="0">
                <a:solidFill>
                  <a:srgbClr val="DCE3E8"/>
                </a:solidFill>
                <a:latin typeface="IBM Plex Sans" pitchFamily="34" charset="0"/>
                <a:ea typeface="IBM Plex Sans" pitchFamily="34" charset="-122"/>
                <a:cs typeface="IBM Plex Sans" pitchFamily="34" charset="-120"/>
              </a:rPr>
              <a:t>Login MySQL sebagai user pos dari host lain ditolak</a:t>
            </a:r>
            <a:endParaRPr lang="en-US" sz="1400" dirty="0"/>
          </a:p>
          <a:p>
            <a:pPr algn="l" marL="197148" indent="-197148">
              <a:lnSpc>
                <a:spcPts val="2100"/>
              </a:lnSpc>
              <a:buSzPct val="100000"/>
              <a:buFontTx/>
              <a:buAutoNum type="arabicPeriod" startAt="1"/>
            </a:pPr>
            <a:r>
              <a:rPr lang="en-US" sz="1400" dirty="0">
                <a:solidFill>
                  <a:srgbClr val="DCE3E8"/>
                </a:solidFill>
                <a:latin typeface="IBM Plex Sans" pitchFamily="34" charset="0"/>
                <a:ea typeface="IBM Plex Sans" pitchFamily="34" charset="-122"/>
                <a:cs typeface="IBM Plex Sans" pitchFamily="34" charset="-120"/>
              </a:rPr>
              <a:t>DB dimatikan, aplikasi menampilkan error rapi, lalu pulih setelah DB menyala</a:t>
            </a:r>
            <a:endParaRPr lang="en-US" sz="14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E"/>
                </a:solidFill>
                <a:latin typeface="IBM Plex Sans" pitchFamily="34" charset="0"/>
                <a:ea typeface="IBM Plex Sans" pitchFamily="34" charset="-122"/>
                <a:cs typeface="IBM Plex Sans" pitchFamily="34" charset="-120"/>
              </a:rPr>
              <a:t>Deployment POS tiga server · 15</a:t>
            </a:r>
            <a:endParaRPr lang="en-US" sz="1200" dirty="0"/>
          </a:p>
        </p:txBody>
      </p:sp>
    </p:spTree>
  </p:cSld>
  <p:clrMapOvr>
    <a:masterClrMapping/>
  </p:clrMapOvr>
</p:sld>
</file>

<file path=ppt/theme/theme1.xml><?xml version="1.0" encoding="utf-8"?>
<a:theme xmlns:a="http://schemas.openxmlformats.org/drawingml/2006/main" name="Deployment POS Tiga Server">
  <a:themeElements>
    <a:clrScheme name="Deployment POS Tiga Server">
      <a:dk1>
        <a:srgbClr val="15202B"/>
      </a:dk1>
      <a:lt1>
        <a:srgbClr val="F5F4EF"/>
      </a:lt1>
      <a:dk2>
        <a:srgbClr val="4D555C"/>
      </a:dk2>
      <a:lt2>
        <a:srgbClr val="DFDFDB"/>
      </a:lt2>
      <a:accent1>
        <a:srgbClr val="1F6B55"/>
      </a:accent1>
      <a:accent2>
        <a:srgbClr val="A6531A"/>
      </a:accent2>
      <a:accent3>
        <a:srgbClr val="7FD1B4"/>
      </a:accent3>
      <a:accent4>
        <a:srgbClr val="3D4752"/>
      </a:accent4>
      <a:accent5>
        <a:srgbClr val="5F6973"/>
      </a:accent5>
      <a:accent6>
        <a:srgbClr val="B8C4CE"/>
      </a:accent6>
      <a:hlink>
        <a:srgbClr val="0563C1"/>
      </a:hlink>
      <a:folHlink>
        <a:srgbClr val="954F72"/>
      </a:folHlink>
    </a:clrScheme>
    <a:fontScheme name="Deployment POS Tiga Server">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Deployment POS Tiga Server</dc:title>
  <dc:subject/>
  <dc:creator/>
  <cp:lastModifiedBy/>
  <cp:revision>1</cp:revision>
  <dcterms:created xsi:type="dcterms:W3CDTF">2026-10-16T02:24:17Z</dcterms:created>
  <dcterms:modified xsi:type="dcterms:W3CDTF">2026-10-16T02:24:17Z</dcterms:modified>
</cp:coreProperties>
</file>