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Perkenalkan diri singkat, lalu sampaikan tujuan: menunjukkan bagaimana FE, BE, dan DB di server terpisah saling terhubung, dan bagaimana aksesnya dibatasi. Sebut bahwa semua konfigurasi sudah diuji, hasilnya ada di bagian pengujian.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Jelaskan pembagian peran tiap server. Tekankan bahwa BE adalah satu-satunya yang boleh mengakses database. Itu prinsip yang dipegang di semua konfigurasi berikutnya.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Jelaskan dua jaringan. pos_app untuk FE dan BE. pos_db untuk BE dan DB, ditandai internal sehingga tidak punya akses keluar. BE satu-satunya yang ada di dua jaringan, jadi FE tidak punya jalur sama sekali ke DB. Ikuti panah dari kiri sebagai alur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Ini kunci pemahaman. Kode Vue berjalan di browser pengguna. Saat Vue memanggil API, permintaannya keluar dari laptop pengguna, bukan dari container FE. Makanya VITE_API_URL berisi alamat yang bisa dijangkau browser, yaitu localhost:8000, dan BE wajib mengatur CORS.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 development FE memakai Vite dev server dengan HMR. Untuk produksi, kode di-build menjadi file statis lalu disajikan Nginx. Tekankan bahwa VITE_API_URL ditanam saat build, bukan dibaca saat berjalan.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supports_credentials false karena autentikasi memakai token Bearer, bukan cookie. Password database tidak ditampilkan di slide dan tidak masuk image: dikirim lewat env_file saat container berjalan.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skip-name-resolve membuat MySQL mencocokkan host berdasarkan IP, bukan nama. Jadi walaupun username dan password benar, login dari selain IP BE tetap ditolak. Di server sungguhan, padanannya bind-address ke IP privat dan firewall yang hanya membuka 3306 untuk IP 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ringkasan. Kalau ditanya “konfigurasinya di mana saja?”, jawabannya empat titik ini. Dua di sisi BE, satu di FE saat build, dan satu di DB beserta jaringannya.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File docker-compose.prod.yml hanya menimpa bagian FE dan BE: Dockerfile produksi, port, volume source dihapus, dan env_file. Perintah lengkapnya: docker compose -f docker-compose.yml -f docker-compose.prod.yml up -d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Lima lapis sudah diterapkan dan diuji. Kartu terakhir adalah temuan saat pengujian: user pos ternyata juga punya akses ke database pos_testing. Wajar untuk development, tapi di produksi aksesnya cukup ke database pos saja.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Uji 5 dan 6 dijalankan di mode development, karena image FE produksi tidak berisi netcat. Uji 2 sempat bernilai True karena ada MySQL lain yang berjalan langsung di Windows. Setelah dicek dengan docker port dan dimatikan, hasilnya False.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Uji 14: docker compose down menghapus container dan jaringan, tapi data tetap ada karena tersimpan di volume pos_mysql_data. Uji 15: setelah DB menyala lagi, BE langsung pulih karena Laravel membuka koneksi baru di setiap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Baris terakhir penting: dari pesan error saja kita bisa menebak lapisan yang bermasalah. Tidak ada respons sama sekali berarti masalah antara browser dan BE, biasanya CORS. Error 500 berarti BE hidup tapi ada masalah antara BE dan 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Kalau ditanya “bagaimana kalau di server asli?”, slide ini jawabannya. Konfigurasi aplikasinya tetap: DB_HOST, CORS, dan VITE_API_URL hanya berganti nilai. Yang ditambah di produksi adalah DNS, HTTPS, firewall, dan backup.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Sebelum presentasi: matikan MySQL Windows, jalankan mode produksi, dan siapkan terminal kedua untuk mode development kalau ingin menunjukkan uji nc. Share hanya jendela browser dan terminal, bukan seluruh layar.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FFFFF"/>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094680"/>
            <a:ext cx="10566400" cy="438150"/>
          </a:xfrm>
          <a:prstGeom prst="rect">
            <a:avLst/>
          </a:prstGeom>
          <a:noFill/>
          <a:ln/>
        </p:spPr>
        <p:txBody>
          <a:bodyPr wrap="square" lIns="0" tIns="0" rIns="0" bIns="0" rtlCol="0" anchor="t"/>
          <a:lstStyle>
            <a:lvl1pPr algn="l" indent="0" marL="0">
              <a:lnSpc>
                <a:spcPct val="115000"/>
              </a:lnSpc>
              <a:buNone/>
              <a:defRPr lang="en-US" sz="3000" dirty="0">
                <a:solidFill>
                  <a:srgbClr val="0F172A"/>
                </a:solidFill>
                <a:latin typeface="Plus Jakarta Sans" pitchFamily="34" charset="0"/>
                <a:ea typeface="Plus Jakarta Sans" pitchFamily="34" charset="-122"/>
                <a:cs typeface="Plus Jakarta Sans" pitchFamily="34" charset="-120"/>
              </a:defRPr>
            </a:lvl1pPr>
          </a:lstStyle>
          <a:p>
            <a:pPr algn="l" indent="0" marL="0">
              <a:lnSpc>
                <a:spcPct val="115000"/>
              </a:lnSpc>
              <a:buNone/>
            </a:pPr>
            <a:endParaRPr lang="en-US" sz="3000" dirty="0"/>
          </a:p>
        </p:txBody>
      </p:sp>
      <p:sp>
        <p:nvSpPr>
          <p:cNvPr id="3" name="Text Placeholder 2"/>
          <p:cNvSpPr/>
          <p:nvPr>
            <p:ph idx="101" type="body"/>
          </p:nvPr>
        </p:nvSpPr>
        <p:spPr>
          <a:xfrm>
            <a:off x="812800" y="1837630"/>
            <a:ext cx="10566400" cy="4207570"/>
          </a:xfrm>
          <a:prstGeom prst="rect">
            <a:avLst/>
          </a:prstGeom>
          <a:noFill/>
          <a:ln/>
        </p:spPr>
        <p:txBody>
          <a:bodyPr wrap="square" lIns="0" tIns="0" rIns="0" bIns="0" rtlCol="0" anchor="t"/>
          <a:lstStyle>
            <a:lvl1pPr algn="l" indent="0" marL="0">
              <a:lnSpc>
                <a:spcPct val="140000"/>
              </a:lnSpc>
              <a:buNone/>
              <a:defRPr lang="en-US" sz="1600" dirty="0">
                <a:solidFill>
                  <a:srgbClr val="0F172A"/>
                </a:solidFill>
                <a:latin typeface="Plus Jakarta Sans" pitchFamily="34" charset="0"/>
                <a:ea typeface="Plus Jakarta Sans" pitchFamily="34" charset="-122"/>
                <a:cs typeface="Plus Jakarta Sans" pitchFamily="34" charset="-120"/>
              </a:defRPr>
            </a:lvl1pPr>
          </a:lstStyle>
          <a:p>
            <a:pPr algn="l" indent="0" marL="0">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094680"/>
            <a:ext cx="10566400" cy="438150"/>
          </a:xfrm>
          <a:prstGeom prst="rect">
            <a:avLst/>
          </a:prstGeom>
          <a:noFill/>
          <a:ln/>
        </p:spPr>
        <p:txBody>
          <a:bodyPr wrap="square" lIns="0" tIns="0" rIns="0" bIns="0" rtlCol="0" anchor="t"/>
          <a:lstStyle>
            <a:lvl1pPr algn="l" indent="0" marL="0">
              <a:lnSpc>
                <a:spcPct val="115000"/>
              </a:lnSpc>
              <a:buNone/>
              <a:defRPr lang="en-US" sz="3000" dirty="0">
                <a:solidFill>
                  <a:srgbClr val="0F172A"/>
                </a:solidFill>
                <a:latin typeface="Plus Jakarta Sans" pitchFamily="34" charset="0"/>
                <a:ea typeface="Plus Jakarta Sans" pitchFamily="34" charset="-122"/>
                <a:cs typeface="Plus Jakarta Sans" pitchFamily="34" charset="-120"/>
              </a:defRPr>
            </a:lvl1pPr>
          </a:lstStyle>
          <a:p>
            <a:pPr algn="l" indent="0" marL="0">
              <a:lnSpc>
                <a:spcPct val="115000"/>
              </a:lnSpc>
              <a:buNone/>
            </a:pPr>
            <a:endParaRPr lang="en-US" sz="3000" dirty="0"/>
          </a:p>
        </p:txBody>
      </p:sp>
      <p:sp>
        <p:nvSpPr>
          <p:cNvPr id="3" name="Text Placeholder 2"/>
          <p:cNvSpPr/>
          <p:nvPr>
            <p:ph idx="101" type="body"/>
          </p:nvPr>
        </p:nvSpPr>
        <p:spPr>
          <a:xfrm>
            <a:off x="812800" y="1837630"/>
            <a:ext cx="10566400" cy="4207570"/>
          </a:xfrm>
          <a:prstGeom prst="rect">
            <a:avLst/>
          </a:prstGeom>
          <a:noFill/>
          <a:ln/>
        </p:spPr>
        <p:txBody>
          <a:bodyPr wrap="square" lIns="0" tIns="0" rIns="0" bIns="0" rtlCol="0" anchor="t"/>
          <a:lstStyle>
            <a:lvl1pPr algn="l" indent="0" marL="0">
              <a:lnSpc>
                <a:spcPct val="140000"/>
              </a:lnSpc>
              <a:buNone/>
              <a:defRPr lang="en-US" sz="1600" dirty="0">
                <a:solidFill>
                  <a:srgbClr val="0F172A"/>
                </a:solidFill>
                <a:latin typeface="Plus Jakarta Sans" pitchFamily="34" charset="0"/>
                <a:ea typeface="Plus Jakarta Sans" pitchFamily="34" charset="-122"/>
                <a:cs typeface="Plus Jakarta Sans" pitchFamily="34" charset="-120"/>
              </a:defRPr>
            </a:lvl1pPr>
          </a:lstStyle>
          <a:p>
            <a:pPr algn="l" indent="0" marL="0">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2.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2000" cy="76200"/>
          </a:xfrm>
          <a:prstGeom prst="rect">
            <a:avLst/>
          </a:prstGeom>
          <a:solidFill>
            <a:srgbClr val="2563EB"/>
          </a:solidFill>
          <a:ln/>
        </p:spPr>
      </p:sp>
      <p:sp>
        <p:nvSpPr>
          <p:cNvPr id="3" name="Text 1"/>
          <p:cNvSpPr/>
          <p:nvPr/>
        </p:nvSpPr>
        <p:spPr>
          <a:xfrm>
            <a:off x="812800" y="812800"/>
            <a:ext cx="10883392" cy="274241"/>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2563EB"/>
                </a:solidFill>
                <a:latin typeface="Plus Jakarta Sans" pitchFamily="34" charset="0"/>
                <a:ea typeface="Plus Jakarta Sans" pitchFamily="34" charset="-122"/>
                <a:cs typeface="Plus Jakarta Sans" pitchFamily="34" charset="-120"/>
              </a:rPr>
              <a:t>Studi kasus · Interview user</a:t>
            </a:r>
            <a:endParaRPr lang="en-US" sz="1400" dirty="0"/>
          </a:p>
        </p:txBody>
      </p:sp>
      <p:sp>
        <p:nvSpPr>
          <p:cNvPr id="4" name="Text 2"/>
          <p:cNvSpPr/>
          <p:nvPr>
            <p:ph type="title"/>
          </p:nvPr>
        </p:nvSpPr>
        <p:spPr>
          <a:xfrm>
            <a:off x="812800" y="2179439"/>
            <a:ext cx="9810750" cy="1310481"/>
          </a:xfrm>
          <a:prstGeom prst="rect">
            <a:avLst/>
          </a:prstGeom>
          <a:noFill/>
          <a:ln/>
        </p:spPr>
        <p:txBody>
          <a:bodyPr wrap="square" lIns="0" tIns="0" rIns="0" bIns="0" rtlCol="0" anchor="t">
            <a:normAutofit/>
          </a:bodyPr>
          <a:lstStyle/>
          <a:p>
            <a:pPr algn="l" indent="0" marL="0">
              <a:lnSpc>
                <a:spcPts val="5060"/>
              </a:lnSpc>
              <a:buNone/>
            </a:pPr>
            <a:r>
              <a:rPr lang="en-US" sz="4600" b="1" i="0" dirty="0">
                <a:solidFill>
                  <a:srgbClr val="0F172A"/>
                </a:solidFill>
                <a:latin typeface="Plus Jakarta Sans" pitchFamily="34" charset="0"/>
                <a:ea typeface="Plus Jakarta Sans" pitchFamily="34" charset="-122"/>
                <a:cs typeface="Plus Jakarta Sans" pitchFamily="34" charset="-120"/>
              </a:rPr>
              <a:t>Deployment aplikasi POS ke tiga server terpisah</a:t>
            </a:r>
            <a:endParaRPr lang="en-US" sz="4600" dirty="0"/>
          </a:p>
        </p:txBody>
      </p:sp>
      <p:sp>
        <p:nvSpPr>
          <p:cNvPr id="5" name="Text 3"/>
          <p:cNvSpPr/>
          <p:nvPr/>
        </p:nvSpPr>
        <p:spPr>
          <a:xfrm>
            <a:off x="812800" y="3667720"/>
            <a:ext cx="9156700" cy="736600"/>
          </a:xfrm>
          <a:prstGeom prst="rect">
            <a:avLst/>
          </a:prstGeom>
          <a:noFill/>
          <a:ln/>
        </p:spPr>
        <p:txBody>
          <a:bodyPr wrap="square" lIns="0" tIns="0" rIns="0" bIns="0" rtlCol="0" anchor="t">
            <a:normAutofit/>
          </a:bodyPr>
          <a:lstStyle/>
          <a:p>
            <a:pPr algn="l" indent="0" marL="0">
              <a:lnSpc>
                <a:spcPts val="2800"/>
              </a:lnSpc>
              <a:buNone/>
            </a:pPr>
            <a:r>
              <a:rPr lang="en-US" sz="2000" dirty="0">
                <a:solidFill>
                  <a:srgbClr val="475569"/>
                </a:solidFill>
                <a:latin typeface="Plus Jakarta Sans" pitchFamily="34" charset="0"/>
                <a:ea typeface="Plus Jakarta Sans" pitchFamily="34" charset="-122"/>
                <a:cs typeface="Plus Jakarta Sans" pitchFamily="34" charset="-120"/>
              </a:rPr>
              <a:t>Frontend Vue, backend Laravel, dan MySQL di server berbeda, disimulasikan dengan Docker Compose</a:t>
            </a:r>
            <a:endParaRPr lang="en-US" sz="2000" dirty="0"/>
          </a:p>
        </p:txBody>
      </p:sp>
      <p:sp>
        <p:nvSpPr>
          <p:cNvPr id="6" name="Shape 4"/>
          <p:cNvSpPr/>
          <p:nvPr/>
        </p:nvSpPr>
        <p:spPr>
          <a:xfrm>
            <a:off x="831850" y="5496620"/>
            <a:ext cx="0" cy="548580"/>
          </a:xfrm>
          <a:prstGeom prst="line">
            <a:avLst/>
          </a:prstGeom>
          <a:noFill/>
          <a:ln w="38100">
            <a:solidFill>
              <a:srgbClr val="2563EB"/>
            </a:solidFill>
            <a:prstDash val="solid"/>
          </a:ln>
        </p:spPr>
      </p:sp>
      <p:sp>
        <p:nvSpPr>
          <p:cNvPr id="7" name="Text 5"/>
          <p:cNvSpPr/>
          <p:nvPr/>
        </p:nvSpPr>
        <p:spPr>
          <a:xfrm>
            <a:off x="1028700" y="5496620"/>
            <a:ext cx="10661015"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0F172A"/>
                </a:solidFill>
                <a:latin typeface="Plus Jakarta Sans" pitchFamily="34" charset="0"/>
                <a:ea typeface="Plus Jakarta Sans" pitchFamily="34" charset="-122"/>
                <a:cs typeface="Plus Jakarta Sans" pitchFamily="34" charset="-120"/>
              </a:rPr>
              <a:t>Jonathan Nathannael Zefanya</a:t>
            </a:r>
            <a:endParaRPr lang="en-US" sz="1500" dirty="0"/>
          </a:p>
        </p:txBody>
      </p:sp>
      <p:sp>
        <p:nvSpPr>
          <p:cNvPr id="8" name="Text 6"/>
          <p:cNvSpPr/>
          <p:nvPr/>
        </p:nvSpPr>
        <p:spPr>
          <a:xfrm>
            <a:off x="1028700" y="5814120"/>
            <a:ext cx="10661015"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75569"/>
                </a:solidFill>
                <a:latin typeface="Plus Jakarta Sans" pitchFamily="34" charset="0"/>
                <a:ea typeface="Plus Jakarta Sans" pitchFamily="34" charset="-122"/>
                <a:cs typeface="Plus Jakarta Sans" pitchFamily="34" charset="-120"/>
              </a:rPr>
              <a:t>ICT BDO Development (Fullstack Developer) · PT Solusi Integrasi Pratama</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12800" y="762000"/>
            <a:ext cx="10883392" cy="25648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2563EB"/>
                </a:solidFill>
                <a:latin typeface="Plus Jakarta Sans" pitchFamily="34" charset="0"/>
                <a:ea typeface="Plus Jakarta Sans" pitchFamily="34" charset="-122"/>
                <a:cs typeface="Plus Jakarta Sans" pitchFamily="34" charset="-120"/>
              </a:rPr>
              <a:t>Kasus</a:t>
            </a:r>
            <a:endParaRPr lang="en-US" sz="1300" dirty="0"/>
          </a:p>
        </p:txBody>
      </p:sp>
      <p:sp>
        <p:nvSpPr>
          <p:cNvPr id="3" name="Text 1"/>
          <p:cNvSpPr/>
          <p:nvPr>
            <p:ph type="title"/>
          </p:nvPr>
        </p:nvSpPr>
        <p:spPr>
          <a:xfrm>
            <a:off x="812800" y="1094680"/>
            <a:ext cx="10883392" cy="463550"/>
          </a:xfrm>
          <a:prstGeom prst="rect">
            <a:avLst/>
          </a:prstGeom>
          <a:noFill/>
          <a:ln/>
        </p:spPr>
        <p:txBody>
          <a:bodyPr wrap="square" lIns="0" tIns="0" rIns="0" bIns="0" rtlCol="0" anchor="t">
            <a:normAutofit/>
          </a:bodyPr>
          <a:lstStyle/>
          <a:p>
            <a:pPr algn="l" indent="0" marL="0">
              <a:lnSpc>
                <a:spcPts val="3450"/>
              </a:lnSpc>
              <a:buNone/>
            </a:pPr>
            <a:r>
              <a:rPr lang="en-US" sz="3000" b="1" i="0" dirty="0">
                <a:solidFill>
                  <a:srgbClr val="0F172A"/>
                </a:solidFill>
                <a:latin typeface="Plus Jakarta Sans" pitchFamily="34" charset="0"/>
                <a:ea typeface="Plus Jakarta Sans" pitchFamily="34" charset="-122"/>
                <a:cs typeface="Plus Jakarta Sans" pitchFamily="34" charset="-120"/>
              </a:rPr>
              <a:t>Satu aplikasi POS, tiga server terpisah</a:t>
            </a:r>
            <a:endParaRPr lang="en-US" sz="3000" dirty="0"/>
          </a:p>
        </p:txBody>
      </p:sp>
      <p:sp>
        <p:nvSpPr>
          <p:cNvPr id="4" name="Shape 2"/>
          <p:cNvSpPr/>
          <p:nvPr/>
        </p:nvSpPr>
        <p:spPr>
          <a:xfrm>
            <a:off x="815975" y="1790005"/>
            <a:ext cx="3380284" cy="3591620"/>
          </a:xfrm>
          <a:prstGeom prst="roundRect">
            <a:avLst>
              <a:gd name="adj" fmla="val 2160"/>
            </a:avLst>
          </a:prstGeom>
          <a:solidFill>
            <a:srgbClr val="FFFFFF"/>
          </a:solidFill>
          <a:ln w="6350">
            <a:solidFill>
              <a:srgbClr val="E2E8F0"/>
            </a:solidFill>
            <a:prstDash val="solid"/>
          </a:ln>
        </p:spPr>
      </p:sp>
      <p:sp>
        <p:nvSpPr>
          <p:cNvPr id="5" name="Text 3"/>
          <p:cNvSpPr/>
          <p:nvPr/>
        </p:nvSpPr>
        <p:spPr>
          <a:xfrm>
            <a:off x="1073150" y="2047180"/>
            <a:ext cx="2951912"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94A3B8"/>
                </a:solidFill>
                <a:latin typeface="Plus Jakarta Sans" pitchFamily="34" charset="0"/>
                <a:ea typeface="Plus Jakarta Sans" pitchFamily="34" charset="-122"/>
                <a:cs typeface="Plus Jakarta Sans" pitchFamily="34" charset="-120"/>
              </a:rPr>
              <a:t>Server 1</a:t>
            </a:r>
            <a:endParaRPr lang="en-US" sz="1200" dirty="0"/>
          </a:p>
        </p:txBody>
      </p:sp>
      <p:sp>
        <p:nvSpPr>
          <p:cNvPr id="6" name="Text 4"/>
          <p:cNvSpPr/>
          <p:nvPr/>
        </p:nvSpPr>
        <p:spPr>
          <a:xfrm>
            <a:off x="1073150" y="2362101"/>
            <a:ext cx="2951912"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0F172A"/>
                </a:solidFill>
                <a:latin typeface="Plus Jakarta Sans" pitchFamily="34" charset="0"/>
                <a:ea typeface="Plus Jakarta Sans" pitchFamily="34" charset="-122"/>
                <a:cs typeface="Plus Jakarta Sans" pitchFamily="34" charset="-120"/>
              </a:rPr>
              <a:t>Frontend</a:t>
            </a:r>
            <a:endParaRPr lang="en-US" sz="2200" dirty="0"/>
          </a:p>
        </p:txBody>
      </p:sp>
      <p:sp>
        <p:nvSpPr>
          <p:cNvPr id="7" name="Text 5"/>
          <p:cNvSpPr/>
          <p:nvPr/>
        </p:nvSpPr>
        <p:spPr>
          <a:xfrm>
            <a:off x="1073150" y="2798961"/>
            <a:ext cx="295191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2563EB"/>
                </a:solidFill>
                <a:latin typeface="JetBrains Mono" pitchFamily="49" charset="0"/>
                <a:ea typeface="JetBrains Mono" pitchFamily="49" charset="-122"/>
                <a:cs typeface="JetBrains Mono" pitchFamily="49" charset="-120"/>
              </a:rPr>
              <a:t>Vue + Vite → Nginx</a:t>
            </a:r>
            <a:endParaRPr lang="en-US" sz="1200" dirty="0"/>
          </a:p>
        </p:txBody>
      </p:sp>
      <p:sp>
        <p:nvSpPr>
          <p:cNvPr id="8" name="Text 6"/>
          <p:cNvSpPr/>
          <p:nvPr/>
        </p:nvSpPr>
        <p:spPr>
          <a:xfrm>
            <a:off x="1073150" y="3113881"/>
            <a:ext cx="2951912" cy="798711"/>
          </a:xfrm>
          <a:prstGeom prst="rect">
            <a:avLst/>
          </a:prstGeom>
          <a:noFill/>
          <a:ln/>
        </p:spPr>
        <p:txBody>
          <a:bodyPr wrap="square" lIns="0" tIns="0" rIns="0" bIns="0" rtlCol="0" anchor="t">
            <a:normAutofit/>
          </a:bodyPr>
          <a:lstStyle/>
          <a:p>
            <a:pPr algn="l" indent="0" marL="0">
              <a:lnSpc>
                <a:spcPts val="2030"/>
              </a:lnSpc>
              <a:buNone/>
            </a:pPr>
            <a:r>
              <a:rPr lang="en-US" sz="1400" dirty="0">
                <a:solidFill>
                  <a:srgbClr val="475569"/>
                </a:solidFill>
                <a:latin typeface="Plus Jakarta Sans" pitchFamily="34" charset="0"/>
                <a:ea typeface="Plus Jakarta Sans" pitchFamily="34" charset="-122"/>
                <a:cs typeface="Plus Jakarta Sans" pitchFamily="34" charset="-120"/>
              </a:rPr>
              <a:t>Tampilan back office dan kasir. Di produksi berupa file statis yang disajikan Nginx.</a:t>
            </a:r>
            <a:endParaRPr lang="en-US" sz="1400" dirty="0"/>
          </a:p>
        </p:txBody>
      </p:sp>
      <p:sp>
        <p:nvSpPr>
          <p:cNvPr id="9" name="Shape 7"/>
          <p:cNvSpPr/>
          <p:nvPr/>
        </p:nvSpPr>
        <p:spPr>
          <a:xfrm>
            <a:off x="4405809" y="1790005"/>
            <a:ext cx="3380383" cy="3591620"/>
          </a:xfrm>
          <a:prstGeom prst="roundRect">
            <a:avLst>
              <a:gd name="adj" fmla="val 2160"/>
            </a:avLst>
          </a:prstGeom>
          <a:solidFill>
            <a:srgbClr val="FFFFFF"/>
          </a:solidFill>
          <a:ln w="6350">
            <a:solidFill>
              <a:srgbClr val="E2E8F0"/>
            </a:solidFill>
            <a:prstDash val="solid"/>
          </a:ln>
        </p:spPr>
      </p:sp>
      <p:sp>
        <p:nvSpPr>
          <p:cNvPr id="10" name="Text 8"/>
          <p:cNvSpPr/>
          <p:nvPr/>
        </p:nvSpPr>
        <p:spPr>
          <a:xfrm>
            <a:off x="4662984" y="2047180"/>
            <a:ext cx="2952014"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94A3B8"/>
                </a:solidFill>
                <a:latin typeface="Plus Jakarta Sans" pitchFamily="34" charset="0"/>
                <a:ea typeface="Plus Jakarta Sans" pitchFamily="34" charset="-122"/>
                <a:cs typeface="Plus Jakarta Sans" pitchFamily="34" charset="-120"/>
              </a:rPr>
              <a:t>Server 2</a:t>
            </a:r>
            <a:endParaRPr lang="en-US" sz="1200" dirty="0"/>
          </a:p>
        </p:txBody>
      </p:sp>
      <p:sp>
        <p:nvSpPr>
          <p:cNvPr id="11" name="Text 9"/>
          <p:cNvSpPr/>
          <p:nvPr/>
        </p:nvSpPr>
        <p:spPr>
          <a:xfrm>
            <a:off x="4662984" y="2362101"/>
            <a:ext cx="2952014"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0F172A"/>
                </a:solidFill>
                <a:latin typeface="Plus Jakarta Sans" pitchFamily="34" charset="0"/>
                <a:ea typeface="Plus Jakarta Sans" pitchFamily="34" charset="-122"/>
                <a:cs typeface="Plus Jakarta Sans" pitchFamily="34" charset="-120"/>
              </a:rPr>
              <a:t>Backend</a:t>
            </a:r>
            <a:endParaRPr lang="en-US" sz="2200" dirty="0"/>
          </a:p>
        </p:txBody>
      </p:sp>
      <p:sp>
        <p:nvSpPr>
          <p:cNvPr id="12" name="Text 10"/>
          <p:cNvSpPr/>
          <p:nvPr/>
        </p:nvSpPr>
        <p:spPr>
          <a:xfrm>
            <a:off x="4662984" y="2798961"/>
            <a:ext cx="295201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2563EB"/>
                </a:solidFill>
                <a:latin typeface="JetBrains Mono" pitchFamily="49" charset="0"/>
                <a:ea typeface="JetBrains Mono" pitchFamily="49" charset="-122"/>
                <a:cs typeface="JetBrains Mono" pitchFamily="49" charset="-120"/>
              </a:rPr>
              <a:t>Laravel · PHP 8.3</a:t>
            </a:r>
            <a:endParaRPr lang="en-US" sz="1200" dirty="0"/>
          </a:p>
        </p:txBody>
      </p:sp>
      <p:sp>
        <p:nvSpPr>
          <p:cNvPr id="13" name="Text 11"/>
          <p:cNvSpPr/>
          <p:nvPr/>
        </p:nvSpPr>
        <p:spPr>
          <a:xfrm>
            <a:off x="4662984" y="3113881"/>
            <a:ext cx="2952014" cy="798711"/>
          </a:xfrm>
          <a:prstGeom prst="rect">
            <a:avLst/>
          </a:prstGeom>
          <a:noFill/>
          <a:ln/>
        </p:spPr>
        <p:txBody>
          <a:bodyPr wrap="square" lIns="0" tIns="0" rIns="0" bIns="0" rtlCol="0" anchor="t">
            <a:normAutofit/>
          </a:bodyPr>
          <a:lstStyle/>
          <a:p>
            <a:pPr algn="l" indent="0" marL="0">
              <a:lnSpc>
                <a:spcPts val="2030"/>
              </a:lnSpc>
              <a:buNone/>
            </a:pPr>
            <a:r>
              <a:rPr lang="en-US" sz="1400" dirty="0">
                <a:solidFill>
                  <a:srgbClr val="475569"/>
                </a:solidFill>
                <a:latin typeface="Plus Jakarta Sans" pitchFamily="34" charset="0"/>
                <a:ea typeface="Plus Jakarta Sans" pitchFamily="34" charset="-122"/>
                <a:cs typeface="Plus Jakarta Sans" pitchFamily="34" charset="-120"/>
              </a:rPr>
              <a:t>REST API dengan token Bearer. Satu-satunya yang boleh berbicara dengan database.</a:t>
            </a:r>
            <a:endParaRPr lang="en-US" sz="1400" dirty="0"/>
          </a:p>
        </p:txBody>
      </p:sp>
      <p:sp>
        <p:nvSpPr>
          <p:cNvPr id="14" name="Shape 12"/>
          <p:cNvSpPr/>
          <p:nvPr/>
        </p:nvSpPr>
        <p:spPr>
          <a:xfrm>
            <a:off x="7995741" y="1790005"/>
            <a:ext cx="3380284" cy="3591620"/>
          </a:xfrm>
          <a:prstGeom prst="roundRect">
            <a:avLst>
              <a:gd name="adj" fmla="val 2160"/>
            </a:avLst>
          </a:prstGeom>
          <a:solidFill>
            <a:srgbClr val="FFFFFF"/>
          </a:solidFill>
          <a:ln w="6350">
            <a:solidFill>
              <a:srgbClr val="E2E8F0"/>
            </a:solidFill>
            <a:prstDash val="solid"/>
          </a:ln>
        </p:spPr>
      </p:sp>
      <p:sp>
        <p:nvSpPr>
          <p:cNvPr id="15" name="Text 13"/>
          <p:cNvSpPr/>
          <p:nvPr/>
        </p:nvSpPr>
        <p:spPr>
          <a:xfrm>
            <a:off x="8252916" y="2047180"/>
            <a:ext cx="2951912"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94A3B8"/>
                </a:solidFill>
                <a:latin typeface="Plus Jakarta Sans" pitchFamily="34" charset="0"/>
                <a:ea typeface="Plus Jakarta Sans" pitchFamily="34" charset="-122"/>
                <a:cs typeface="Plus Jakarta Sans" pitchFamily="34" charset="-120"/>
              </a:rPr>
              <a:t>Server 3</a:t>
            </a:r>
            <a:endParaRPr lang="en-US" sz="1200" dirty="0"/>
          </a:p>
        </p:txBody>
      </p:sp>
      <p:sp>
        <p:nvSpPr>
          <p:cNvPr id="16" name="Text 14"/>
          <p:cNvSpPr/>
          <p:nvPr/>
        </p:nvSpPr>
        <p:spPr>
          <a:xfrm>
            <a:off x="8252916" y="2362101"/>
            <a:ext cx="2951912"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0F172A"/>
                </a:solidFill>
                <a:latin typeface="Plus Jakarta Sans" pitchFamily="34" charset="0"/>
                <a:ea typeface="Plus Jakarta Sans" pitchFamily="34" charset="-122"/>
                <a:cs typeface="Plus Jakarta Sans" pitchFamily="34" charset="-120"/>
              </a:rPr>
              <a:t>Database</a:t>
            </a:r>
            <a:endParaRPr lang="en-US" sz="2200" dirty="0"/>
          </a:p>
        </p:txBody>
      </p:sp>
      <p:sp>
        <p:nvSpPr>
          <p:cNvPr id="17" name="Text 15"/>
          <p:cNvSpPr/>
          <p:nvPr/>
        </p:nvSpPr>
        <p:spPr>
          <a:xfrm>
            <a:off x="8252916" y="2798961"/>
            <a:ext cx="295191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2563EB"/>
                </a:solidFill>
                <a:latin typeface="JetBrains Mono" pitchFamily="49" charset="0"/>
                <a:ea typeface="JetBrains Mono" pitchFamily="49" charset="-122"/>
                <a:cs typeface="JetBrains Mono" pitchFamily="49" charset="-120"/>
              </a:rPr>
              <a:t>MySQL 8.4</a:t>
            </a:r>
            <a:endParaRPr lang="en-US" sz="1200" dirty="0"/>
          </a:p>
        </p:txBody>
      </p:sp>
      <p:sp>
        <p:nvSpPr>
          <p:cNvPr id="18" name="Text 16"/>
          <p:cNvSpPr/>
          <p:nvPr/>
        </p:nvSpPr>
        <p:spPr>
          <a:xfrm>
            <a:off x="8252916" y="3113881"/>
            <a:ext cx="2951912" cy="798711"/>
          </a:xfrm>
          <a:prstGeom prst="rect">
            <a:avLst/>
          </a:prstGeom>
          <a:noFill/>
          <a:ln/>
        </p:spPr>
        <p:txBody>
          <a:bodyPr wrap="square" lIns="0" tIns="0" rIns="0" bIns="0" rtlCol="0" anchor="t">
            <a:normAutofit/>
          </a:bodyPr>
          <a:lstStyle/>
          <a:p>
            <a:pPr algn="l" indent="0" marL="0">
              <a:lnSpc>
                <a:spcPts val="2030"/>
              </a:lnSpc>
              <a:buNone/>
            </a:pPr>
            <a:r>
              <a:rPr lang="en-US" sz="1400" dirty="0">
                <a:solidFill>
                  <a:srgbClr val="475569"/>
                </a:solidFill>
                <a:latin typeface="Plus Jakarta Sans" pitchFamily="34" charset="0"/>
                <a:ea typeface="Plus Jakarta Sans" pitchFamily="34" charset="-122"/>
                <a:cs typeface="Plus Jakarta Sans" pitchFamily="34" charset="-120"/>
              </a:rPr>
              <a:t>Menyimpan penjualan, stok, dan pengguna. Tidak bisa diakses langsung dari luar.</a:t>
            </a:r>
            <a:endParaRPr lang="en-US" sz="1400" dirty="0"/>
          </a:p>
        </p:txBody>
      </p:sp>
      <p:sp>
        <p:nvSpPr>
          <p:cNvPr id="19" name="Text 17"/>
          <p:cNvSpPr/>
          <p:nvPr/>
        </p:nvSpPr>
        <p:spPr>
          <a:xfrm>
            <a:off x="812800" y="5638800"/>
            <a:ext cx="10883392"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0F172A"/>
                </a:solidFill>
                <a:latin typeface="Plus Jakarta Sans" pitchFamily="34" charset="0"/>
                <a:ea typeface="Plus Jakarta Sans" pitchFamily="34" charset="-122"/>
                <a:cs typeface="Plus Jakarta Sans" pitchFamily="34" charset="-120"/>
              </a:rPr>
              <a:t>Pertanyaannya: bagaimana ketiganya saling terhubung, dan siapa boleh mengakses siapa?</a:t>
            </a:r>
            <a:endParaRPr lang="en-US" sz="1500" dirty="0"/>
          </a:p>
        </p:txBody>
      </p:sp>
      <p:sp>
        <p:nvSpPr>
          <p:cNvPr id="20" name="Text 18"/>
          <p:cNvSpPr/>
          <p:nvPr/>
        </p:nvSpPr>
        <p:spPr>
          <a:xfrm>
            <a:off x="495808" y="6306840"/>
            <a:ext cx="10883392" cy="220960"/>
          </a:xfrm>
          <a:prstGeom prst="rect">
            <a:avLst/>
          </a:prstGeom>
          <a:noFill/>
          <a:ln/>
        </p:spPr>
        <p:txBody>
          <a:bodyPr wrap="square" lIns="0" tIns="0" rIns="0" bIns="0" rtlCol="0" anchor="t">
            <a:normAutofit/>
          </a:bodyPr>
          <a:lstStyle/>
          <a:p>
            <a:pPr algn="r" indent="0" marL="0">
              <a:lnSpc>
                <a:spcPts val="1540"/>
              </a:lnSpc>
              <a:buNone/>
            </a:pPr>
            <a:r>
              <a:rPr lang="en-US" sz="1100" dirty="0">
                <a:solidFill>
                  <a:srgbClr val="94A3B8"/>
                </a:solidFill>
                <a:latin typeface="Plus Jakarta Sans" pitchFamily="34" charset="0"/>
                <a:ea typeface="Plus Jakarta Sans" pitchFamily="34" charset="-122"/>
                <a:cs typeface="Plus Jakarta Sans" pitchFamily="34" charset="-120"/>
              </a:rPr>
              <a:t>02</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2667000" y="2095500"/>
            <a:ext cx="5588000" cy="2921000"/>
          </a:xfrm>
          <a:prstGeom prst="roundRect">
            <a:avLst>
              <a:gd name="adj" fmla="val 4348"/>
            </a:avLst>
          </a:prstGeom>
          <a:solidFill>
            <a:srgbClr val="EFF6FF"/>
          </a:solidFill>
          <a:ln/>
        </p:spPr>
      </p:sp>
      <p:sp>
        <p:nvSpPr>
          <p:cNvPr id="3" name="Shape 1"/>
          <p:cNvSpPr/>
          <p:nvPr/>
        </p:nvSpPr>
        <p:spPr>
          <a:xfrm>
            <a:off x="6477000" y="2413000"/>
            <a:ext cx="4902200" cy="2921000"/>
          </a:xfrm>
          <a:prstGeom prst="roundRect">
            <a:avLst>
              <a:gd name="adj" fmla="val 4348"/>
            </a:avLst>
          </a:prstGeom>
          <a:solidFill>
            <a:srgbClr val="0F172A">
              <a:alpha val="6000"/>
            </a:srgbClr>
          </a:solidFill>
          <a:ln/>
        </p:spPr>
      </p:sp>
      <p:sp>
        <p:nvSpPr>
          <p:cNvPr id="4" name="Text 2"/>
          <p:cNvSpPr/>
          <p:nvPr/>
        </p:nvSpPr>
        <p:spPr>
          <a:xfrm>
            <a:off x="812800" y="762000"/>
            <a:ext cx="10883392" cy="25648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2563EB"/>
                </a:solidFill>
                <a:latin typeface="Plus Jakarta Sans" pitchFamily="34" charset="0"/>
                <a:ea typeface="Plus Jakarta Sans" pitchFamily="34" charset="-122"/>
                <a:cs typeface="Plus Jakarta Sans" pitchFamily="34" charset="-120"/>
              </a:rPr>
              <a:t>Arsitektur</a:t>
            </a:r>
            <a:endParaRPr lang="en-US" sz="1300" dirty="0"/>
          </a:p>
        </p:txBody>
      </p:sp>
      <p:sp>
        <p:nvSpPr>
          <p:cNvPr id="5" name="Text 3"/>
          <p:cNvSpPr/>
          <p:nvPr>
            <p:ph type="title"/>
          </p:nvPr>
        </p:nvSpPr>
        <p:spPr>
          <a:xfrm>
            <a:off x="812800" y="1094680"/>
            <a:ext cx="10883392" cy="463550"/>
          </a:xfrm>
          <a:prstGeom prst="rect">
            <a:avLst/>
          </a:prstGeom>
          <a:noFill/>
          <a:ln/>
        </p:spPr>
        <p:txBody>
          <a:bodyPr wrap="square" lIns="0" tIns="0" rIns="0" bIns="0" rtlCol="0" anchor="t">
            <a:normAutofit/>
          </a:bodyPr>
          <a:lstStyle/>
          <a:p>
            <a:pPr algn="l" indent="0" marL="0">
              <a:lnSpc>
                <a:spcPts val="3450"/>
              </a:lnSpc>
              <a:buNone/>
            </a:pPr>
            <a:r>
              <a:rPr lang="en-US" sz="3000" b="1" i="0" dirty="0">
                <a:solidFill>
                  <a:srgbClr val="0F172A"/>
                </a:solidFill>
                <a:latin typeface="Plus Jakarta Sans" pitchFamily="34" charset="0"/>
                <a:ea typeface="Plus Jakarta Sans" pitchFamily="34" charset="-122"/>
                <a:cs typeface="Plus Jakarta Sans" pitchFamily="34" charset="-120"/>
              </a:rPr>
              <a:t>Satu container mewakili satu server</a:t>
            </a:r>
            <a:endParaRPr lang="en-US" sz="3000" dirty="0"/>
          </a:p>
        </p:txBody>
      </p:sp>
      <p:sp>
        <p:nvSpPr>
          <p:cNvPr id="6" name="Text 4"/>
          <p:cNvSpPr/>
          <p:nvPr/>
        </p:nvSpPr>
        <p:spPr>
          <a:xfrm>
            <a:off x="812800" y="173603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75569"/>
                </a:solidFill>
                <a:latin typeface="Plus Jakarta Sans" pitchFamily="34" charset="0"/>
                <a:ea typeface="Plus Jakarta Sans" pitchFamily="34" charset="-122"/>
                <a:cs typeface="Plus Jakarta Sans" pitchFamily="34" charset="-120"/>
              </a:rPr>
              <a:t>Alur: buka halaman di :8080 → browser memanggil API langsung ke :8000 → BE menjalankan query ke MySQL :3306</a:t>
            </a:r>
            <a:endParaRPr lang="en-US" sz="1200" dirty="0"/>
          </a:p>
        </p:txBody>
      </p:sp>
      <p:sp>
        <p:nvSpPr>
          <p:cNvPr id="7" name="Text 5"/>
          <p:cNvSpPr/>
          <p:nvPr/>
        </p:nvSpPr>
        <p:spPr>
          <a:xfrm>
            <a:off x="2819400" y="2209800"/>
            <a:ext cx="3662680" cy="220960"/>
          </a:xfrm>
          <a:prstGeom prst="rect">
            <a:avLst/>
          </a:prstGeom>
          <a:noFill/>
          <a:ln/>
        </p:spPr>
        <p:txBody>
          <a:bodyPr wrap="square" lIns="0" tIns="0" rIns="0" bIns="0" rtlCol="0" anchor="t">
            <a:normAutofit/>
          </a:bodyPr>
          <a:lstStyle/>
          <a:p>
            <a:pPr algn="l" indent="0" marL="0">
              <a:lnSpc>
                <a:spcPts val="1540"/>
              </a:lnSpc>
              <a:buNone/>
            </a:pPr>
            <a:r>
              <a:rPr lang="en-US" sz="1100" b="1" dirty="0">
                <a:solidFill>
                  <a:srgbClr val="2563EB"/>
                </a:solidFill>
                <a:latin typeface="JetBrains Mono" pitchFamily="49" charset="0"/>
                <a:ea typeface="JetBrains Mono" pitchFamily="49" charset="-122"/>
                <a:cs typeface="JetBrains Mono" pitchFamily="49" charset="-120"/>
              </a:rPr>
              <a:t>pos_app · 172.20.0.0/24</a:t>
            </a:r>
            <a:endParaRPr lang="en-US" sz="1100" dirty="0"/>
          </a:p>
        </p:txBody>
      </p:sp>
      <p:sp>
        <p:nvSpPr>
          <p:cNvPr id="8" name="Text 6"/>
          <p:cNvSpPr/>
          <p:nvPr/>
        </p:nvSpPr>
        <p:spPr>
          <a:xfrm>
            <a:off x="8356600" y="2527300"/>
            <a:ext cx="3008630" cy="416520"/>
          </a:xfrm>
          <a:prstGeom prst="rect">
            <a:avLst/>
          </a:prstGeom>
          <a:noFill/>
          <a:ln/>
        </p:spPr>
        <p:txBody>
          <a:bodyPr wrap="square" lIns="0" tIns="0" rIns="0" bIns="0" rtlCol="0" anchor="t">
            <a:normAutofit/>
          </a:bodyPr>
          <a:lstStyle/>
          <a:p>
            <a:pPr algn="l" indent="0" marL="0">
              <a:lnSpc>
                <a:spcPts val="1540"/>
              </a:lnSpc>
              <a:buNone/>
            </a:pPr>
            <a:r>
              <a:rPr lang="en-US" sz="1100" b="1" dirty="0">
                <a:solidFill>
                  <a:srgbClr val="334155"/>
                </a:solidFill>
                <a:latin typeface="JetBrains Mono" pitchFamily="49" charset="0"/>
                <a:ea typeface="JetBrains Mono" pitchFamily="49" charset="-122"/>
                <a:cs typeface="JetBrains Mono" pitchFamily="49" charset="-120"/>
              </a:rPr>
              <a:t>pos_db · internal</a:t>
            </a:r>
            <a:endParaRPr lang="en-US" sz="1100" dirty="0"/>
          </a:p>
          <a:p>
            <a:pPr algn="l" indent="0" marL="0">
              <a:lnSpc>
                <a:spcPts val="1540"/>
              </a:lnSpc>
              <a:buNone/>
            </a:pPr>
            <a:r>
              <a:rPr lang="en-US" sz="1100" b="1" dirty="0">
                <a:solidFill>
                  <a:srgbClr val="334155"/>
                </a:solidFill>
                <a:latin typeface="JetBrains Mono" pitchFamily="49" charset="0"/>
                <a:ea typeface="JetBrains Mono" pitchFamily="49" charset="-122"/>
                <a:cs typeface="JetBrains Mono" pitchFamily="49" charset="-120"/>
              </a:rPr>
              <a:t>172.21.0.0/24</a:t>
            </a:r>
            <a:endParaRPr lang="en-US" sz="1100" dirty="0"/>
          </a:p>
        </p:txBody>
      </p:sp>
      <p:sp>
        <p:nvSpPr>
          <p:cNvPr id="9" name="Shape 7"/>
          <p:cNvSpPr/>
          <p:nvPr/>
        </p:nvSpPr>
        <p:spPr>
          <a:xfrm>
            <a:off x="819150" y="3181350"/>
            <a:ext cx="1384300" cy="1447800"/>
          </a:xfrm>
          <a:prstGeom prst="roundRect">
            <a:avLst>
              <a:gd name="adj" fmla="val 5046"/>
            </a:avLst>
          </a:prstGeom>
          <a:solidFill>
            <a:srgbClr val="FFFFFF"/>
          </a:solidFill>
          <a:ln w="12700">
            <a:solidFill>
              <a:srgbClr val="CBD5E1"/>
            </a:solidFill>
            <a:prstDash val="solid"/>
          </a:ln>
        </p:spPr>
      </p:sp>
      <p:sp>
        <p:nvSpPr>
          <p:cNvPr id="10" name="Text 8"/>
          <p:cNvSpPr/>
          <p:nvPr/>
        </p:nvSpPr>
        <p:spPr>
          <a:xfrm>
            <a:off x="977900" y="3340100"/>
            <a:ext cx="1117600"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0F172A"/>
                </a:solidFill>
                <a:latin typeface="Plus Jakarta Sans" pitchFamily="34" charset="0"/>
                <a:ea typeface="Plus Jakarta Sans" pitchFamily="34" charset="-122"/>
                <a:cs typeface="Plus Jakarta Sans" pitchFamily="34" charset="-120"/>
              </a:rPr>
              <a:t>Browser</a:t>
            </a:r>
            <a:endParaRPr lang="en-US" sz="1600" dirty="0"/>
          </a:p>
        </p:txBody>
      </p:sp>
      <p:sp>
        <p:nvSpPr>
          <p:cNvPr id="11" name="Text 9"/>
          <p:cNvSpPr/>
          <p:nvPr/>
        </p:nvSpPr>
        <p:spPr>
          <a:xfrm>
            <a:off x="977900" y="3621980"/>
            <a:ext cx="1117600" cy="419695"/>
          </a:xfrm>
          <a:prstGeom prst="rect">
            <a:avLst/>
          </a:prstGeom>
          <a:noFill/>
          <a:ln/>
        </p:spPr>
        <p:txBody>
          <a:bodyPr wrap="square" lIns="0" tIns="0" rIns="0" bIns="0" rtlCol="0" anchor="t">
            <a:normAutofit/>
          </a:bodyPr>
          <a:lstStyle/>
          <a:p>
            <a:pPr algn="l" indent="0" marL="0">
              <a:lnSpc>
                <a:spcPts val="1553"/>
              </a:lnSpc>
              <a:buNone/>
            </a:pPr>
            <a:r>
              <a:rPr lang="en-US" sz="1150" dirty="0">
                <a:solidFill>
                  <a:srgbClr val="475569"/>
                </a:solidFill>
                <a:latin typeface="Plus Jakarta Sans" pitchFamily="34" charset="0"/>
                <a:ea typeface="Plus Jakarta Sans" pitchFamily="34" charset="-122"/>
                <a:cs typeface="Plus Jakarta Sans" pitchFamily="34" charset="-120"/>
              </a:rPr>
              <a:t>laptop</a:t>
            </a:r>
            <a:endParaRPr lang="en-US" sz="1150" dirty="0"/>
          </a:p>
          <a:p>
            <a:pPr algn="l" indent="0" marL="0">
              <a:lnSpc>
                <a:spcPts val="1553"/>
              </a:lnSpc>
              <a:buNone/>
            </a:pPr>
            <a:r>
              <a:rPr lang="en-US" sz="1150" dirty="0">
                <a:solidFill>
                  <a:srgbClr val="475569"/>
                </a:solidFill>
                <a:latin typeface="Plus Jakarta Sans" pitchFamily="34" charset="0"/>
                <a:ea typeface="Plus Jakarta Sans" pitchFamily="34" charset="-122"/>
                <a:cs typeface="Plus Jakarta Sans" pitchFamily="34" charset="-120"/>
              </a:rPr>
              <a:t>pengguna</a:t>
            </a:r>
            <a:endParaRPr lang="en-US" sz="1150" dirty="0"/>
          </a:p>
        </p:txBody>
      </p:sp>
      <p:sp>
        <p:nvSpPr>
          <p:cNvPr id="12" name="Shape 10"/>
          <p:cNvSpPr/>
          <p:nvPr/>
        </p:nvSpPr>
        <p:spPr>
          <a:xfrm>
            <a:off x="3562350" y="3181350"/>
            <a:ext cx="1892300" cy="1447800"/>
          </a:xfrm>
          <a:prstGeom prst="roundRect">
            <a:avLst>
              <a:gd name="adj" fmla="val 4825"/>
            </a:avLst>
          </a:prstGeom>
          <a:solidFill>
            <a:srgbClr val="FFFFFF"/>
          </a:solidFill>
          <a:ln w="12700">
            <a:solidFill>
              <a:srgbClr val="CBD5E1"/>
            </a:solidFill>
            <a:prstDash val="solid"/>
          </a:ln>
        </p:spPr>
      </p:sp>
      <p:sp>
        <p:nvSpPr>
          <p:cNvPr id="13" name="Text 11"/>
          <p:cNvSpPr/>
          <p:nvPr/>
        </p:nvSpPr>
        <p:spPr>
          <a:xfrm>
            <a:off x="3721100" y="3340100"/>
            <a:ext cx="1625600"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0F172A"/>
                </a:solidFill>
                <a:latin typeface="Plus Jakarta Sans" pitchFamily="34" charset="0"/>
                <a:ea typeface="Plus Jakarta Sans" pitchFamily="34" charset="-122"/>
                <a:cs typeface="Plus Jakarta Sans" pitchFamily="34" charset="-120"/>
              </a:rPr>
              <a:t>FE</a:t>
            </a:r>
            <a:endParaRPr lang="en-US" sz="1600" dirty="0"/>
          </a:p>
        </p:txBody>
      </p:sp>
      <p:sp>
        <p:nvSpPr>
          <p:cNvPr id="14" name="Text 12"/>
          <p:cNvSpPr/>
          <p:nvPr/>
        </p:nvSpPr>
        <p:spPr>
          <a:xfrm>
            <a:off x="3721100" y="3621980"/>
            <a:ext cx="1625600" cy="616843"/>
          </a:xfrm>
          <a:prstGeom prst="rect">
            <a:avLst/>
          </a:prstGeom>
          <a:noFill/>
          <a:ln/>
        </p:spPr>
        <p:txBody>
          <a:bodyPr wrap="square" lIns="0" tIns="0" rIns="0" bIns="0" rtlCol="0" anchor="t">
            <a:normAutofit/>
          </a:bodyPr>
          <a:lstStyle/>
          <a:p>
            <a:pPr algn="l" indent="0" marL="0">
              <a:lnSpc>
                <a:spcPts val="1553"/>
              </a:lnSpc>
              <a:buNone/>
            </a:pPr>
            <a:r>
              <a:rPr lang="en-US" sz="1150" dirty="0">
                <a:solidFill>
                  <a:srgbClr val="475569"/>
                </a:solidFill>
                <a:latin typeface="JetBrains Mono" pitchFamily="49" charset="0"/>
                <a:ea typeface="JetBrains Mono" pitchFamily="49" charset="-122"/>
                <a:cs typeface="JetBrains Mono" pitchFamily="49" charset="-120"/>
              </a:rPr>
              <a:t>pos-web</a:t>
            </a:r>
            <a:endParaRPr lang="en-US" sz="1150" dirty="0"/>
          </a:p>
          <a:p>
            <a:pPr algn="l" indent="0" marL="0">
              <a:lnSpc>
                <a:spcPts val="1553"/>
              </a:lnSpc>
              <a:buNone/>
            </a:pPr>
            <a:r>
              <a:rPr lang="en-US" sz="1150" dirty="0">
                <a:solidFill>
                  <a:srgbClr val="475569"/>
                </a:solidFill>
                <a:latin typeface="JetBrains Mono" pitchFamily="49" charset="0"/>
                <a:ea typeface="JetBrains Mono" pitchFamily="49" charset="-122"/>
                <a:cs typeface="JetBrains Mono" pitchFamily="49" charset="-120"/>
              </a:rPr>
              <a:t>172.20.0.10</a:t>
            </a:r>
            <a:endParaRPr lang="en-US" sz="1150" dirty="0"/>
          </a:p>
          <a:p>
            <a:pPr algn="l" indent="0" marL="0">
              <a:lnSpc>
                <a:spcPts val="1553"/>
              </a:lnSpc>
              <a:buNone/>
            </a:pPr>
            <a:r>
              <a:rPr lang="en-US" sz="1150" dirty="0">
                <a:solidFill>
                  <a:srgbClr val="475569"/>
                </a:solidFill>
                <a:latin typeface="JetBrains Mono" pitchFamily="49" charset="0"/>
                <a:ea typeface="JetBrains Mono" pitchFamily="49" charset="-122"/>
                <a:cs typeface="JetBrains Mono" pitchFamily="49" charset="-120"/>
              </a:rPr>
              <a:t>Nginx :8080</a:t>
            </a:r>
            <a:endParaRPr lang="en-US" sz="1150" dirty="0"/>
          </a:p>
        </p:txBody>
      </p:sp>
      <p:sp>
        <p:nvSpPr>
          <p:cNvPr id="15" name="Shape 13"/>
          <p:cNvSpPr/>
          <p:nvPr/>
        </p:nvSpPr>
        <p:spPr>
          <a:xfrm>
            <a:off x="6610350" y="3181350"/>
            <a:ext cx="1511300" cy="1447800"/>
          </a:xfrm>
          <a:prstGeom prst="roundRect">
            <a:avLst>
              <a:gd name="adj" fmla="val 4825"/>
            </a:avLst>
          </a:prstGeom>
          <a:solidFill>
            <a:srgbClr val="FFFFFF"/>
          </a:solidFill>
          <a:ln w="12700">
            <a:solidFill>
              <a:srgbClr val="CBD5E1"/>
            </a:solidFill>
            <a:prstDash val="solid"/>
          </a:ln>
        </p:spPr>
      </p:sp>
      <p:sp>
        <p:nvSpPr>
          <p:cNvPr id="16" name="Text 14"/>
          <p:cNvSpPr/>
          <p:nvPr/>
        </p:nvSpPr>
        <p:spPr>
          <a:xfrm>
            <a:off x="6769100" y="3340100"/>
            <a:ext cx="1244600"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0F172A"/>
                </a:solidFill>
                <a:latin typeface="Plus Jakarta Sans" pitchFamily="34" charset="0"/>
                <a:ea typeface="Plus Jakarta Sans" pitchFamily="34" charset="-122"/>
                <a:cs typeface="Plus Jakarta Sans" pitchFamily="34" charset="-120"/>
              </a:rPr>
              <a:t>BE</a:t>
            </a:r>
            <a:endParaRPr lang="en-US" sz="1600" dirty="0"/>
          </a:p>
        </p:txBody>
      </p:sp>
      <p:sp>
        <p:nvSpPr>
          <p:cNvPr id="17" name="Text 15"/>
          <p:cNvSpPr/>
          <p:nvPr/>
        </p:nvSpPr>
        <p:spPr>
          <a:xfrm>
            <a:off x="6769100" y="3621980"/>
            <a:ext cx="1244600" cy="813991"/>
          </a:xfrm>
          <a:prstGeom prst="rect">
            <a:avLst/>
          </a:prstGeom>
          <a:noFill/>
          <a:ln/>
        </p:spPr>
        <p:txBody>
          <a:bodyPr wrap="square" lIns="0" tIns="0" rIns="0" bIns="0" rtlCol="0" anchor="t">
            <a:normAutofit/>
          </a:bodyPr>
          <a:lstStyle/>
          <a:p>
            <a:pPr algn="l" indent="0" marL="0">
              <a:lnSpc>
                <a:spcPts val="1553"/>
              </a:lnSpc>
              <a:buNone/>
            </a:pPr>
            <a:r>
              <a:rPr lang="en-US" sz="1150" dirty="0">
                <a:solidFill>
                  <a:srgbClr val="475569"/>
                </a:solidFill>
                <a:latin typeface="JetBrains Mono" pitchFamily="49" charset="0"/>
                <a:ea typeface="JetBrains Mono" pitchFamily="49" charset="-122"/>
                <a:cs typeface="JetBrains Mono" pitchFamily="49" charset="-120"/>
              </a:rPr>
              <a:t>pos-restapi</a:t>
            </a:r>
            <a:endParaRPr lang="en-US" sz="1150" dirty="0"/>
          </a:p>
          <a:p>
            <a:pPr algn="l" indent="0" marL="0">
              <a:lnSpc>
                <a:spcPts val="1553"/>
              </a:lnSpc>
              <a:buNone/>
            </a:pPr>
            <a:r>
              <a:rPr lang="en-US" sz="1150" dirty="0">
                <a:solidFill>
                  <a:srgbClr val="475569"/>
                </a:solidFill>
                <a:latin typeface="JetBrains Mono" pitchFamily="49" charset="0"/>
                <a:ea typeface="JetBrains Mono" pitchFamily="49" charset="-122"/>
                <a:cs typeface="JetBrains Mono" pitchFamily="49" charset="-120"/>
              </a:rPr>
              <a:t>172.20.0.20</a:t>
            </a:r>
            <a:endParaRPr lang="en-US" sz="1150" dirty="0"/>
          </a:p>
          <a:p>
            <a:pPr algn="l" indent="0" marL="0">
              <a:lnSpc>
                <a:spcPts val="1553"/>
              </a:lnSpc>
              <a:buNone/>
            </a:pPr>
            <a:r>
              <a:rPr lang="en-US" sz="1150" dirty="0">
                <a:solidFill>
                  <a:srgbClr val="475569"/>
                </a:solidFill>
                <a:latin typeface="JetBrains Mono" pitchFamily="49" charset="0"/>
                <a:ea typeface="JetBrains Mono" pitchFamily="49" charset="-122"/>
                <a:cs typeface="JetBrains Mono" pitchFamily="49" charset="-120"/>
              </a:rPr>
              <a:t>172.21.0.20</a:t>
            </a:r>
            <a:endParaRPr lang="en-US" sz="1150" dirty="0"/>
          </a:p>
          <a:p>
            <a:pPr algn="l" indent="0" marL="0">
              <a:lnSpc>
                <a:spcPts val="1553"/>
              </a:lnSpc>
              <a:buNone/>
            </a:pPr>
            <a:r>
              <a:rPr lang="en-US" sz="1150" dirty="0">
                <a:solidFill>
                  <a:srgbClr val="475569"/>
                </a:solidFill>
                <a:latin typeface="JetBrains Mono" pitchFamily="49" charset="0"/>
                <a:ea typeface="JetBrains Mono" pitchFamily="49" charset="-122"/>
                <a:cs typeface="JetBrains Mono" pitchFamily="49" charset="-120"/>
              </a:rPr>
              <a:t>Nginx :8000</a:t>
            </a:r>
            <a:endParaRPr lang="en-US" sz="1150" dirty="0"/>
          </a:p>
        </p:txBody>
      </p:sp>
      <p:sp>
        <p:nvSpPr>
          <p:cNvPr id="18" name="Shape 16"/>
          <p:cNvSpPr/>
          <p:nvPr/>
        </p:nvSpPr>
        <p:spPr>
          <a:xfrm>
            <a:off x="9658350" y="3181350"/>
            <a:ext cx="1511300" cy="1447800"/>
          </a:xfrm>
          <a:prstGeom prst="roundRect">
            <a:avLst>
              <a:gd name="adj" fmla="val 4825"/>
            </a:avLst>
          </a:prstGeom>
          <a:solidFill>
            <a:srgbClr val="FFFFFF"/>
          </a:solidFill>
          <a:ln w="12700">
            <a:solidFill>
              <a:srgbClr val="CBD5E1"/>
            </a:solidFill>
            <a:prstDash val="solid"/>
          </a:ln>
        </p:spPr>
      </p:sp>
      <p:sp>
        <p:nvSpPr>
          <p:cNvPr id="19" name="Text 17"/>
          <p:cNvSpPr/>
          <p:nvPr/>
        </p:nvSpPr>
        <p:spPr>
          <a:xfrm>
            <a:off x="9817100" y="3340100"/>
            <a:ext cx="1244600"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0F172A"/>
                </a:solidFill>
                <a:latin typeface="Plus Jakarta Sans" pitchFamily="34" charset="0"/>
                <a:ea typeface="Plus Jakarta Sans" pitchFamily="34" charset="-122"/>
                <a:cs typeface="Plus Jakarta Sans" pitchFamily="34" charset="-120"/>
              </a:rPr>
              <a:t>DB</a:t>
            </a:r>
            <a:endParaRPr lang="en-US" sz="1600" dirty="0"/>
          </a:p>
        </p:txBody>
      </p:sp>
      <p:sp>
        <p:nvSpPr>
          <p:cNvPr id="20" name="Text 18"/>
          <p:cNvSpPr/>
          <p:nvPr/>
        </p:nvSpPr>
        <p:spPr>
          <a:xfrm>
            <a:off x="9817100" y="3621980"/>
            <a:ext cx="1244600" cy="616843"/>
          </a:xfrm>
          <a:prstGeom prst="rect">
            <a:avLst/>
          </a:prstGeom>
          <a:noFill/>
          <a:ln/>
        </p:spPr>
        <p:txBody>
          <a:bodyPr wrap="square" lIns="0" tIns="0" rIns="0" bIns="0" rtlCol="0" anchor="t">
            <a:normAutofit/>
          </a:bodyPr>
          <a:lstStyle/>
          <a:p>
            <a:pPr algn="l" indent="0" marL="0">
              <a:lnSpc>
                <a:spcPts val="1553"/>
              </a:lnSpc>
              <a:buNone/>
            </a:pPr>
            <a:r>
              <a:rPr lang="en-US" sz="1150" dirty="0">
                <a:solidFill>
                  <a:srgbClr val="475569"/>
                </a:solidFill>
                <a:latin typeface="JetBrains Mono" pitchFamily="49" charset="0"/>
                <a:ea typeface="JetBrains Mono" pitchFamily="49" charset="-122"/>
                <a:cs typeface="JetBrains Mono" pitchFamily="49" charset="-120"/>
              </a:rPr>
              <a:t>pos-mysql</a:t>
            </a:r>
            <a:endParaRPr lang="en-US" sz="1150" dirty="0"/>
          </a:p>
          <a:p>
            <a:pPr algn="l" indent="0" marL="0">
              <a:lnSpc>
                <a:spcPts val="1553"/>
              </a:lnSpc>
              <a:buNone/>
            </a:pPr>
            <a:r>
              <a:rPr lang="en-US" sz="1150" dirty="0">
                <a:solidFill>
                  <a:srgbClr val="475569"/>
                </a:solidFill>
                <a:latin typeface="JetBrains Mono" pitchFamily="49" charset="0"/>
                <a:ea typeface="JetBrains Mono" pitchFamily="49" charset="-122"/>
                <a:cs typeface="JetBrains Mono" pitchFamily="49" charset="-120"/>
              </a:rPr>
              <a:t>172.21.0.30</a:t>
            </a:r>
            <a:endParaRPr lang="en-US" sz="1150" dirty="0"/>
          </a:p>
          <a:p>
            <a:pPr algn="l" indent="0" marL="0">
              <a:lnSpc>
                <a:spcPts val="1553"/>
              </a:lnSpc>
              <a:buNone/>
            </a:pPr>
            <a:r>
              <a:rPr lang="en-US" sz="1150" dirty="0">
                <a:solidFill>
                  <a:srgbClr val="475569"/>
                </a:solidFill>
                <a:latin typeface="JetBrains Mono" pitchFamily="49" charset="0"/>
                <a:ea typeface="JetBrains Mono" pitchFamily="49" charset="-122"/>
                <a:cs typeface="JetBrains Mono" pitchFamily="49" charset="-120"/>
              </a:rPr>
              <a:t>tanpa port</a:t>
            </a:r>
            <a:endParaRPr lang="en-US" sz="1150" dirty="0"/>
          </a:p>
        </p:txBody>
      </p:sp>
      <p:pic>
        <p:nvPicPr>
          <p:cNvPr id="21" name="Image 0" descr="connector">    </p:cNvPr>
          <p:cNvPicPr>
            <a:picLocks noChangeAspect="1"/>
          </p:cNvPicPr>
          <p:nvPr/>
        </p:nvPicPr>
        <p:blipFill>
          <a:blip r:embed="rId1"/>
          <a:srcRect l="0" r="0" t="0" b="0"/>
          <a:stretch/>
        </p:blipFill>
        <p:spPr>
          <a:xfrm>
            <a:off x="2159000" y="3854450"/>
            <a:ext cx="1447800" cy="101600"/>
          </a:xfrm>
          <a:prstGeom prst="rect">
            <a:avLst/>
          </a:prstGeom>
        </p:spPr>
      </p:pic>
      <p:pic>
        <p:nvPicPr>
          <p:cNvPr id="22" name="Image 1" descr="connector">    </p:cNvPr>
          <p:cNvPicPr>
            <a:picLocks noChangeAspect="1"/>
          </p:cNvPicPr>
          <p:nvPr/>
        </p:nvPicPr>
        <p:blipFill>
          <a:blip r:embed="rId2"/>
          <a:srcRect l="0" r="0" t="0" b="0"/>
          <a:stretch/>
        </p:blipFill>
        <p:spPr>
          <a:xfrm>
            <a:off x="1460500" y="4584700"/>
            <a:ext cx="101600" cy="1054100"/>
          </a:xfrm>
          <a:prstGeom prst="rect">
            <a:avLst/>
          </a:prstGeom>
        </p:spPr>
      </p:pic>
      <p:pic>
        <p:nvPicPr>
          <p:cNvPr id="23" name="Image 2" descr="connector">    </p:cNvPr>
          <p:cNvPicPr>
            <a:picLocks noChangeAspect="1"/>
          </p:cNvPicPr>
          <p:nvPr/>
        </p:nvPicPr>
        <p:blipFill>
          <a:blip r:embed="rId3"/>
          <a:srcRect l="0" r="0" t="0" b="0"/>
          <a:stretch/>
        </p:blipFill>
        <p:spPr>
          <a:xfrm>
            <a:off x="1460500" y="5537200"/>
            <a:ext cx="5956300" cy="101600"/>
          </a:xfrm>
          <a:prstGeom prst="rect">
            <a:avLst/>
          </a:prstGeom>
        </p:spPr>
      </p:pic>
      <p:pic>
        <p:nvPicPr>
          <p:cNvPr id="24" name="Image 3" descr="connector">    </p:cNvPr>
          <p:cNvPicPr>
            <a:picLocks noChangeAspect="1"/>
          </p:cNvPicPr>
          <p:nvPr/>
        </p:nvPicPr>
        <p:blipFill>
          <a:blip r:embed="rId4"/>
          <a:srcRect l="0" r="0" t="0" b="0"/>
          <a:stretch/>
        </p:blipFill>
        <p:spPr>
          <a:xfrm>
            <a:off x="7315200" y="4584700"/>
            <a:ext cx="101600" cy="1054100"/>
          </a:xfrm>
          <a:prstGeom prst="rect">
            <a:avLst/>
          </a:prstGeom>
        </p:spPr>
      </p:pic>
      <p:pic>
        <p:nvPicPr>
          <p:cNvPr id="25" name="Image 4" descr="connector">    </p:cNvPr>
          <p:cNvPicPr>
            <a:picLocks noChangeAspect="1"/>
          </p:cNvPicPr>
          <p:nvPr/>
        </p:nvPicPr>
        <p:blipFill>
          <a:blip r:embed="rId5"/>
          <a:srcRect l="0" r="0" t="0" b="0"/>
          <a:stretch/>
        </p:blipFill>
        <p:spPr>
          <a:xfrm>
            <a:off x="8077200" y="3854450"/>
            <a:ext cx="1625600" cy="101600"/>
          </a:xfrm>
          <a:prstGeom prst="rect">
            <a:avLst/>
          </a:prstGeom>
        </p:spPr>
      </p:pic>
      <p:sp>
        <p:nvSpPr>
          <p:cNvPr id="26" name="Text 19"/>
          <p:cNvSpPr/>
          <p:nvPr/>
        </p:nvSpPr>
        <p:spPr>
          <a:xfrm>
            <a:off x="2286000" y="3651250"/>
            <a:ext cx="1257300" cy="220960"/>
          </a:xfrm>
          <a:prstGeom prst="rect">
            <a:avLst/>
          </a:prstGeom>
          <a:noFill/>
          <a:ln/>
        </p:spPr>
        <p:txBody>
          <a:bodyPr wrap="square" lIns="0" tIns="0" rIns="0" bIns="0" rtlCol="0" anchor="t">
            <a:normAutofit/>
          </a:bodyPr>
          <a:lstStyle/>
          <a:p>
            <a:pPr algn="l" indent="0" marL="0">
              <a:lnSpc>
                <a:spcPts val="1540"/>
              </a:lnSpc>
              <a:buNone/>
            </a:pPr>
            <a:r>
              <a:rPr lang="en-US" sz="1100" b="1" dirty="0">
                <a:solidFill>
                  <a:srgbClr val="2563EB"/>
                </a:solidFill>
                <a:latin typeface="Plus Jakarta Sans" pitchFamily="34" charset="0"/>
                <a:ea typeface="Plus Jakarta Sans" pitchFamily="34" charset="-122"/>
                <a:cs typeface="Plus Jakarta Sans" pitchFamily="34" charset="-120"/>
              </a:rPr>
              <a:t>halaman</a:t>
            </a:r>
            <a:endParaRPr lang="en-US" sz="1100" dirty="0"/>
          </a:p>
        </p:txBody>
      </p:sp>
      <p:sp>
        <p:nvSpPr>
          <p:cNvPr id="27" name="Text 20"/>
          <p:cNvSpPr/>
          <p:nvPr/>
        </p:nvSpPr>
        <p:spPr>
          <a:xfrm>
            <a:off x="3556000" y="5676900"/>
            <a:ext cx="3401060" cy="220960"/>
          </a:xfrm>
          <a:prstGeom prst="rect">
            <a:avLst/>
          </a:prstGeom>
          <a:noFill/>
          <a:ln/>
        </p:spPr>
        <p:txBody>
          <a:bodyPr wrap="square" lIns="0" tIns="0" rIns="0" bIns="0" rtlCol="0" anchor="t">
            <a:normAutofit/>
          </a:bodyPr>
          <a:lstStyle/>
          <a:p>
            <a:pPr algn="l" indent="0" marL="0">
              <a:lnSpc>
                <a:spcPts val="1540"/>
              </a:lnSpc>
              <a:buNone/>
            </a:pPr>
            <a:r>
              <a:rPr lang="en-US" sz="1100" b="1" dirty="0">
                <a:solidFill>
                  <a:srgbClr val="2563EB"/>
                </a:solidFill>
                <a:latin typeface="Plus Jakarta Sans" pitchFamily="34" charset="0"/>
                <a:ea typeface="Plus Jakarta Sans" pitchFamily="34" charset="-122"/>
                <a:cs typeface="Plus Jakarta Sans" pitchFamily="34" charset="-120"/>
              </a:rPr>
              <a:t>panggil API ke :8000</a:t>
            </a:r>
            <a:endParaRPr lang="en-US" sz="1100" dirty="0"/>
          </a:p>
        </p:txBody>
      </p:sp>
      <p:sp>
        <p:nvSpPr>
          <p:cNvPr id="28" name="Text 21"/>
          <p:cNvSpPr/>
          <p:nvPr/>
        </p:nvSpPr>
        <p:spPr>
          <a:xfrm>
            <a:off x="8229600" y="3651250"/>
            <a:ext cx="1447800" cy="220960"/>
          </a:xfrm>
          <a:prstGeom prst="rect">
            <a:avLst/>
          </a:prstGeom>
          <a:noFill/>
          <a:ln/>
        </p:spPr>
        <p:txBody>
          <a:bodyPr wrap="square" lIns="0" tIns="0" rIns="0" bIns="0" rtlCol="0" anchor="t">
            <a:normAutofit/>
          </a:bodyPr>
          <a:lstStyle/>
          <a:p>
            <a:pPr algn="l" indent="0" marL="0">
              <a:lnSpc>
                <a:spcPts val="1540"/>
              </a:lnSpc>
              <a:buNone/>
            </a:pPr>
            <a:r>
              <a:rPr lang="en-US" sz="1100" b="1" dirty="0">
                <a:solidFill>
                  <a:srgbClr val="2563EB"/>
                </a:solidFill>
                <a:latin typeface="Plus Jakarta Sans" pitchFamily="34" charset="0"/>
                <a:ea typeface="Plus Jakarta Sans" pitchFamily="34" charset="-122"/>
                <a:cs typeface="Plus Jakarta Sans" pitchFamily="34" charset="-120"/>
              </a:rPr>
              <a:t>query :3306</a:t>
            </a:r>
            <a:endParaRPr lang="en-US" sz="1100" dirty="0"/>
          </a:p>
        </p:txBody>
      </p:sp>
      <p:sp>
        <p:nvSpPr>
          <p:cNvPr id="29" name="Text 22"/>
          <p:cNvSpPr/>
          <p:nvPr/>
        </p:nvSpPr>
        <p:spPr>
          <a:xfrm>
            <a:off x="495808" y="6306840"/>
            <a:ext cx="10883392" cy="220960"/>
          </a:xfrm>
          <a:prstGeom prst="rect">
            <a:avLst/>
          </a:prstGeom>
          <a:noFill/>
          <a:ln/>
        </p:spPr>
        <p:txBody>
          <a:bodyPr wrap="square" lIns="0" tIns="0" rIns="0" bIns="0" rtlCol="0" anchor="t">
            <a:normAutofit/>
          </a:bodyPr>
          <a:lstStyle/>
          <a:p>
            <a:pPr algn="r" indent="0" marL="0">
              <a:lnSpc>
                <a:spcPts val="1540"/>
              </a:lnSpc>
              <a:buNone/>
            </a:pPr>
            <a:r>
              <a:rPr lang="en-US" sz="1100" dirty="0">
                <a:solidFill>
                  <a:srgbClr val="94A3B8"/>
                </a:solidFill>
                <a:latin typeface="Plus Jakarta Sans" pitchFamily="34" charset="0"/>
                <a:ea typeface="Plus Jakarta Sans" pitchFamily="34" charset="-122"/>
                <a:cs typeface="Plus Jakarta Sans" pitchFamily="34" charset="-120"/>
              </a:rPr>
              <a:t>03</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FF6FF"/>
        </a:solidFill>
      </p:bgPr>
    </p:bg>
    <p:spTree>
      <p:nvGrpSpPr>
        <p:cNvPr id="1" name=""/>
        <p:cNvGrpSpPr/>
        <p:nvPr/>
      </p:nvGrpSpPr>
      <p:grpSpPr>
        <a:xfrm>
          <a:off x="0" y="0"/>
          <a:ext cx="0" cy="0"/>
          <a:chOff x="0" y="0"/>
          <a:chExt cx="0" cy="0"/>
        </a:xfrm>
      </p:grpSpPr>
      <p:sp>
        <p:nvSpPr>
          <p:cNvPr id="2" name="Shape 0"/>
          <p:cNvSpPr/>
          <p:nvPr/>
        </p:nvSpPr>
        <p:spPr>
          <a:xfrm>
            <a:off x="812800" y="2540000"/>
            <a:ext cx="76200" cy="1016000"/>
          </a:xfrm>
          <a:prstGeom prst="rect">
            <a:avLst/>
          </a:prstGeom>
          <a:solidFill>
            <a:srgbClr val="2563EB"/>
          </a:solidFill>
          <a:ln/>
        </p:spPr>
      </p:sp>
      <p:sp>
        <p:nvSpPr>
          <p:cNvPr id="3" name="Text 1"/>
          <p:cNvSpPr/>
          <p:nvPr/>
        </p:nvSpPr>
        <p:spPr>
          <a:xfrm>
            <a:off x="1168400" y="1796157"/>
            <a:ext cx="10517124" cy="274241"/>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2563EB"/>
                </a:solidFill>
                <a:latin typeface="Plus Jakarta Sans" pitchFamily="34" charset="0"/>
                <a:ea typeface="Plus Jakarta Sans" pitchFamily="34" charset="-122"/>
                <a:cs typeface="Plus Jakarta Sans" pitchFamily="34" charset="-120"/>
              </a:rPr>
              <a:t>Alur request</a:t>
            </a:r>
            <a:endParaRPr lang="en-US" sz="1400" dirty="0"/>
          </a:p>
        </p:txBody>
      </p:sp>
      <p:sp>
        <p:nvSpPr>
          <p:cNvPr id="4" name="Text 2"/>
          <p:cNvSpPr/>
          <p:nvPr>
            <p:ph type="title"/>
          </p:nvPr>
        </p:nvSpPr>
        <p:spPr>
          <a:xfrm>
            <a:off x="1168400" y="2298998"/>
            <a:ext cx="9810750" cy="1276945"/>
          </a:xfrm>
          <a:prstGeom prst="rect">
            <a:avLst/>
          </a:prstGeom>
          <a:noFill/>
          <a:ln/>
        </p:spPr>
        <p:txBody>
          <a:bodyPr wrap="square" lIns="0" tIns="0" rIns="0" bIns="0" rtlCol="0" anchor="t">
            <a:normAutofit/>
          </a:bodyPr>
          <a:lstStyle/>
          <a:p>
            <a:pPr algn="l" indent="0" marL="0">
              <a:lnSpc>
                <a:spcPts val="4928"/>
              </a:lnSpc>
              <a:buNone/>
            </a:pPr>
            <a:r>
              <a:rPr lang="en-US" sz="4400" b="1" i="0" dirty="0">
                <a:solidFill>
                  <a:srgbClr val="0F172A"/>
                </a:solidFill>
                <a:latin typeface="Plus Jakarta Sans" pitchFamily="34" charset="0"/>
                <a:ea typeface="Plus Jakarta Sans" pitchFamily="34" charset="-122"/>
                <a:cs typeface="Plus Jakarta Sans" pitchFamily="34" charset="-120"/>
              </a:rPr>
              <a:t>Yang memanggil API adalah browser, bukan server FE.</a:t>
            </a:r>
            <a:endParaRPr lang="en-US" sz="4400" dirty="0"/>
          </a:p>
        </p:txBody>
      </p:sp>
      <p:sp>
        <p:nvSpPr>
          <p:cNvPr id="5" name="Text 3"/>
          <p:cNvSpPr/>
          <p:nvPr/>
        </p:nvSpPr>
        <p:spPr>
          <a:xfrm>
            <a:off x="1168400" y="3804543"/>
            <a:ext cx="9483725" cy="1092200"/>
          </a:xfrm>
          <a:prstGeom prst="rect">
            <a:avLst/>
          </a:prstGeom>
          <a:noFill/>
          <a:ln/>
        </p:spPr>
        <p:txBody>
          <a:bodyPr wrap="square" lIns="0" tIns="0" rIns="0" bIns="0" rtlCol="0" anchor="t">
            <a:normAutofit/>
          </a:bodyPr>
          <a:lstStyle/>
          <a:p>
            <a:pPr algn="l" indent="0" marL="0">
              <a:lnSpc>
                <a:spcPts val="2800"/>
              </a:lnSpc>
              <a:buNone/>
            </a:pPr>
            <a:r>
              <a:rPr lang="en-US" sz="2000" dirty="0">
                <a:solidFill>
                  <a:srgbClr val="475569"/>
                </a:solidFill>
                <a:latin typeface="Plus Jakarta Sans" pitchFamily="34" charset="0"/>
                <a:ea typeface="Plus Jakarta Sans" pitchFamily="34" charset="-122"/>
                <a:cs typeface="Plus Jakarta Sans" pitchFamily="34" charset="-120"/>
              </a:rPr>
              <a:t>Server FE hanya mengirim file Vue. Karena itu BE butuh alamat yang bisa dijangkau pengguna dan aturan CORS, sedangkan DB cukup di jaringan privat.</a:t>
            </a:r>
            <a:endParaRPr lang="en-US" sz="2000" dirty="0"/>
          </a:p>
        </p:txBody>
      </p:sp>
      <p:sp>
        <p:nvSpPr>
          <p:cNvPr id="6" name="Text 4"/>
          <p:cNvSpPr/>
          <p:nvPr/>
        </p:nvSpPr>
        <p:spPr>
          <a:xfrm>
            <a:off x="495808" y="6306840"/>
            <a:ext cx="10883392" cy="220960"/>
          </a:xfrm>
          <a:prstGeom prst="rect">
            <a:avLst/>
          </a:prstGeom>
          <a:noFill/>
          <a:ln/>
        </p:spPr>
        <p:txBody>
          <a:bodyPr wrap="square" lIns="0" tIns="0" rIns="0" bIns="0" rtlCol="0" anchor="t">
            <a:normAutofit/>
          </a:bodyPr>
          <a:lstStyle/>
          <a:p>
            <a:pPr algn="r" indent="0" marL="0">
              <a:lnSpc>
                <a:spcPts val="1540"/>
              </a:lnSpc>
              <a:buNone/>
            </a:pPr>
            <a:r>
              <a:rPr lang="en-US" sz="1100" dirty="0">
                <a:solidFill>
                  <a:srgbClr val="94A3B8"/>
                </a:solidFill>
                <a:latin typeface="Plus Jakarta Sans" pitchFamily="34" charset="0"/>
                <a:ea typeface="Plus Jakarta Sans" pitchFamily="34" charset="-122"/>
                <a:cs typeface="Plus Jakarta Sans" pitchFamily="34" charset="-120"/>
              </a:rPr>
              <a:t>04</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12800" y="762000"/>
            <a:ext cx="10883392" cy="25648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2563EB"/>
                </a:solidFill>
                <a:latin typeface="Plus Jakarta Sans" pitchFamily="34" charset="0"/>
                <a:ea typeface="Plus Jakarta Sans" pitchFamily="34" charset="-122"/>
                <a:cs typeface="Plus Jakarta Sans" pitchFamily="34" charset="-120"/>
              </a:rPr>
              <a:t>Konfigurasi server FE</a:t>
            </a:r>
            <a:endParaRPr lang="en-US" sz="1300" dirty="0"/>
          </a:p>
        </p:txBody>
      </p:sp>
      <p:sp>
        <p:nvSpPr>
          <p:cNvPr id="3" name="Text 1"/>
          <p:cNvSpPr/>
          <p:nvPr>
            <p:ph type="title"/>
          </p:nvPr>
        </p:nvSpPr>
        <p:spPr>
          <a:xfrm>
            <a:off x="812800" y="1094680"/>
            <a:ext cx="10883392" cy="463550"/>
          </a:xfrm>
          <a:prstGeom prst="rect">
            <a:avLst/>
          </a:prstGeom>
          <a:noFill/>
          <a:ln/>
        </p:spPr>
        <p:txBody>
          <a:bodyPr wrap="square" lIns="0" tIns="0" rIns="0" bIns="0" rtlCol="0" anchor="t">
            <a:normAutofit/>
          </a:bodyPr>
          <a:lstStyle/>
          <a:p>
            <a:pPr algn="l" indent="0" marL="0">
              <a:lnSpc>
                <a:spcPts val="3450"/>
              </a:lnSpc>
              <a:buNone/>
            </a:pPr>
            <a:r>
              <a:rPr lang="en-US" sz="3000" b="1" i="0" dirty="0">
                <a:solidFill>
                  <a:srgbClr val="0F172A"/>
                </a:solidFill>
                <a:latin typeface="Plus Jakarta Sans" pitchFamily="34" charset="0"/>
                <a:ea typeface="Plus Jakarta Sans" pitchFamily="34" charset="-122"/>
                <a:cs typeface="Plus Jakarta Sans" pitchFamily="34" charset="-120"/>
              </a:rPr>
              <a:t>FE dibangun sekali, lalu disajikan Nginx</a:t>
            </a:r>
            <a:endParaRPr lang="en-US" sz="3000" dirty="0"/>
          </a:p>
        </p:txBody>
      </p:sp>
      <p:sp>
        <p:nvSpPr>
          <p:cNvPr id="4" name="Text 2"/>
          <p:cNvSpPr/>
          <p:nvPr/>
        </p:nvSpPr>
        <p:spPr>
          <a:xfrm>
            <a:off x="812800" y="1786830"/>
            <a:ext cx="5153914"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0F172A"/>
                </a:solidFill>
                <a:latin typeface="Plus Jakarta Sans" pitchFamily="34" charset="0"/>
                <a:ea typeface="Plus Jakarta Sans" pitchFamily="34" charset="-122"/>
                <a:cs typeface="Plus Jakarta Sans" pitchFamily="34" charset="-120"/>
              </a:rPr>
              <a:t>Build dua tahap</a:t>
            </a:r>
            <a:endParaRPr lang="en-US" sz="1400" dirty="0"/>
          </a:p>
        </p:txBody>
      </p:sp>
      <p:sp>
        <p:nvSpPr>
          <p:cNvPr id="5" name="Text 3"/>
          <p:cNvSpPr/>
          <p:nvPr/>
        </p:nvSpPr>
        <p:spPr>
          <a:xfrm>
            <a:off x="812800" y="2038251"/>
            <a:ext cx="5153914" cy="540941"/>
          </a:xfrm>
          <a:prstGeom prst="rect">
            <a:avLst/>
          </a:prstGeom>
          <a:noFill/>
          <a:ln/>
        </p:spPr>
        <p:txBody>
          <a:bodyPr wrap="square" lIns="0" tIns="0" rIns="0" bIns="0" rtlCol="0" anchor="t">
            <a:normAutofit/>
          </a:bodyPr>
          <a:lstStyle/>
          <a:p>
            <a:pPr algn="l" indent="0" marL="0">
              <a:lnSpc>
                <a:spcPts val="2030"/>
              </a:lnSpc>
              <a:buNone/>
            </a:pPr>
            <a:r>
              <a:rPr lang="en-US" sz="1400" dirty="0">
                <a:solidFill>
                  <a:srgbClr val="475569"/>
                </a:solidFill>
                <a:latin typeface="Plus Jakarta Sans" pitchFamily="34" charset="0"/>
                <a:ea typeface="Plus Jakarta Sans" pitchFamily="34" charset="-122"/>
                <a:cs typeface="Plus Jakarta Sans" pitchFamily="34" charset="-120"/>
              </a:rPr>
              <a:t>Node.js hanya dipakai saat build. Image akhir berisi Nginx dan file statis saja.</a:t>
            </a:r>
            <a:endParaRPr lang="en-US" sz="1400" dirty="0"/>
          </a:p>
        </p:txBody>
      </p:sp>
      <p:sp>
        <p:nvSpPr>
          <p:cNvPr id="6" name="Text 4"/>
          <p:cNvSpPr/>
          <p:nvPr/>
        </p:nvSpPr>
        <p:spPr>
          <a:xfrm>
            <a:off x="812800" y="2731591"/>
            <a:ext cx="5153914"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0F172A"/>
                </a:solidFill>
                <a:latin typeface="Plus Jakarta Sans" pitchFamily="34" charset="0"/>
                <a:ea typeface="Plus Jakarta Sans" pitchFamily="34" charset="-122"/>
                <a:cs typeface="Plus Jakarta Sans" pitchFamily="34" charset="-120"/>
              </a:rPr>
              <a:t>Alamat BE ditanam saat build</a:t>
            </a:r>
            <a:endParaRPr lang="en-US" sz="1400" dirty="0"/>
          </a:p>
        </p:txBody>
      </p:sp>
      <p:sp>
        <p:nvSpPr>
          <p:cNvPr id="7" name="Text 5"/>
          <p:cNvSpPr/>
          <p:nvPr/>
        </p:nvSpPr>
        <p:spPr>
          <a:xfrm>
            <a:off x="812800" y="2983012"/>
            <a:ext cx="5153914" cy="540941"/>
          </a:xfrm>
          <a:prstGeom prst="rect">
            <a:avLst/>
          </a:prstGeom>
          <a:noFill/>
          <a:ln/>
        </p:spPr>
        <p:txBody>
          <a:bodyPr wrap="square" lIns="0" tIns="0" rIns="0" bIns="0" rtlCol="0" anchor="t">
            <a:normAutofit/>
          </a:bodyPr>
          <a:lstStyle/>
          <a:p>
            <a:pPr algn="l" indent="0" marL="0">
              <a:lnSpc>
                <a:spcPts val="2030"/>
              </a:lnSpc>
              <a:buNone/>
            </a:pPr>
            <a:r>
              <a:rPr lang="en-US" sz="1400" dirty="0">
                <a:solidFill>
                  <a:srgbClr val="475569"/>
                </a:solidFill>
                <a:latin typeface="Plus Jakarta Sans" pitchFamily="34" charset="0"/>
                <a:ea typeface="Plus Jakarta Sans" pitchFamily="34" charset="-122"/>
                <a:cs typeface="Plus Jakarta Sans" pitchFamily="34" charset="-120"/>
              </a:rPr>
              <a:t>VITE_API_URL dikirim sebagai build arg. Kalau alamat BE berubah, image FE harus di-build ulang.</a:t>
            </a:r>
            <a:endParaRPr lang="en-US" sz="1400" dirty="0"/>
          </a:p>
        </p:txBody>
      </p:sp>
      <p:sp>
        <p:nvSpPr>
          <p:cNvPr id="8" name="Text 6"/>
          <p:cNvSpPr/>
          <p:nvPr/>
        </p:nvSpPr>
        <p:spPr>
          <a:xfrm>
            <a:off x="812800" y="3676352"/>
            <a:ext cx="5153914"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0F172A"/>
                </a:solidFill>
                <a:latin typeface="Plus Jakarta Sans" pitchFamily="34" charset="0"/>
                <a:ea typeface="Plus Jakarta Sans" pitchFamily="34" charset="-122"/>
                <a:cs typeface="Plus Jakarta Sans" pitchFamily="34" charset="-120"/>
              </a:rPr>
              <a:t>Routing SPA</a:t>
            </a:r>
            <a:endParaRPr lang="en-US" sz="1400" dirty="0"/>
          </a:p>
        </p:txBody>
      </p:sp>
      <p:sp>
        <p:nvSpPr>
          <p:cNvPr id="9" name="Text 7"/>
          <p:cNvSpPr/>
          <p:nvPr/>
        </p:nvSpPr>
        <p:spPr>
          <a:xfrm>
            <a:off x="812800" y="3927773"/>
            <a:ext cx="5153914" cy="540941"/>
          </a:xfrm>
          <a:prstGeom prst="rect">
            <a:avLst/>
          </a:prstGeom>
          <a:noFill/>
          <a:ln/>
        </p:spPr>
        <p:txBody>
          <a:bodyPr wrap="square" lIns="0" tIns="0" rIns="0" bIns="0" rtlCol="0" anchor="t">
            <a:normAutofit/>
          </a:bodyPr>
          <a:lstStyle/>
          <a:p>
            <a:pPr algn="l" indent="0" marL="0">
              <a:lnSpc>
                <a:spcPts val="2030"/>
              </a:lnSpc>
              <a:buNone/>
            </a:pPr>
            <a:r>
              <a:rPr lang="en-US" sz="1400" dirty="0">
                <a:solidFill>
                  <a:srgbClr val="475569"/>
                </a:solidFill>
                <a:latin typeface="Plus Jakarta Sans" pitchFamily="34" charset="0"/>
                <a:ea typeface="Plus Jakarta Sans" pitchFamily="34" charset="-122"/>
                <a:cs typeface="Plus Jakarta Sans" pitchFamily="34" charset="-120"/>
              </a:rPr>
              <a:t>try_files mengarahkan semua route ke index.html, jadi halaman tidak 404 saat di-refresh.</a:t>
            </a:r>
            <a:endParaRPr lang="en-US" sz="1400" dirty="0"/>
          </a:p>
        </p:txBody>
      </p:sp>
      <p:sp>
        <p:nvSpPr>
          <p:cNvPr id="10" name="Shape 8"/>
          <p:cNvSpPr/>
          <p:nvPr/>
        </p:nvSpPr>
        <p:spPr>
          <a:xfrm>
            <a:off x="6175375" y="1790005"/>
            <a:ext cx="5200650" cy="4112320"/>
          </a:xfrm>
          <a:prstGeom prst="roundRect">
            <a:avLst>
              <a:gd name="adj" fmla="val 1776"/>
            </a:avLst>
          </a:prstGeom>
          <a:solidFill>
            <a:srgbClr val="F8FAFC"/>
          </a:solidFill>
          <a:ln w="6350">
            <a:solidFill>
              <a:srgbClr val="E2E8F0"/>
            </a:solidFill>
            <a:prstDash val="solid"/>
          </a:ln>
        </p:spPr>
      </p:sp>
      <p:sp>
        <p:nvSpPr>
          <p:cNvPr id="11" name="Text 9"/>
          <p:cNvSpPr/>
          <p:nvPr/>
        </p:nvSpPr>
        <p:spPr>
          <a:xfrm>
            <a:off x="6432550" y="2047180"/>
            <a:ext cx="4826889" cy="2128341"/>
          </a:xfrm>
          <a:prstGeom prst="rect">
            <a:avLst/>
          </a:prstGeom>
          <a:noFill/>
          <a:ln/>
        </p:spPr>
        <p:txBody>
          <a:bodyPr wrap="square" lIns="0" tIns="0" rIns="0" bIns="0" rtlCol="0" anchor="t">
            <a:normAutofit/>
          </a:bodyPr>
          <a:lstStyle/>
          <a:p>
            <a:pPr algn="l" indent="0" marL="0">
              <a:lnSpc>
                <a:spcPts val="1840"/>
              </a:lnSpc>
              <a:buNone/>
            </a:pPr>
            <a:r>
              <a:rPr lang="en-US" sz="1150" dirty="0">
                <a:solidFill>
                  <a:srgbClr val="94A3B8"/>
                </a:solidFill>
                <a:latin typeface="JetBrains Mono" pitchFamily="49" charset="0"/>
                <a:ea typeface="JetBrains Mono" pitchFamily="49" charset="-122"/>
                <a:cs typeface="JetBrains Mono" pitchFamily="49" charset="-120"/>
              </a:rPr>
              <a:t># Tahap 1: build</a:t>
            </a:r>
            <a:endParaRPr lang="en-US" sz="1150" dirty="0"/>
          </a:p>
          <a:p>
            <a:pPr algn="l" indent="0" marL="0">
              <a:lnSpc>
                <a:spcPts val="1840"/>
              </a:lnSpc>
              <a:buNone/>
            </a:pPr>
            <a:r>
              <a:rPr lang="en-US" sz="1150" dirty="0">
                <a:solidFill>
                  <a:srgbClr val="334155"/>
                </a:solidFill>
                <a:latin typeface="JetBrains Mono" pitchFamily="49" charset="0"/>
                <a:ea typeface="JetBrains Mono" pitchFamily="49" charset="-122"/>
                <a:cs typeface="JetBrains Mono" pitchFamily="49" charset="-120"/>
              </a:rPr>
              <a:t>FROM node:22-alpine AS build</a:t>
            </a:r>
            <a:endParaRPr lang="en-US" sz="1150" dirty="0"/>
          </a:p>
          <a:p>
            <a:pPr algn="l" indent="0" marL="0">
              <a:lnSpc>
                <a:spcPts val="1840"/>
              </a:lnSpc>
              <a:buNone/>
            </a:pPr>
            <a:r>
              <a:rPr lang="en-US" sz="1150" dirty="0">
                <a:solidFill>
                  <a:srgbClr val="334155"/>
                </a:solidFill>
                <a:latin typeface="JetBrains Mono" pitchFamily="49" charset="0"/>
                <a:ea typeface="JetBrains Mono" pitchFamily="49" charset="-122"/>
                <a:cs typeface="JetBrains Mono" pitchFamily="49" charset="-120"/>
              </a:rPr>
              <a:t>ARG VITE_API_URL</a:t>
            </a:r>
            <a:endParaRPr lang="en-US" sz="1150" dirty="0"/>
          </a:p>
          <a:p>
            <a:pPr algn="l" indent="0" marL="0">
              <a:lnSpc>
                <a:spcPts val="1840"/>
              </a:lnSpc>
              <a:buNone/>
            </a:pPr>
            <a:r>
              <a:rPr lang="en-US" sz="1150" dirty="0">
                <a:solidFill>
                  <a:srgbClr val="334155"/>
                </a:solidFill>
                <a:latin typeface="JetBrains Mono" pitchFamily="49" charset="0"/>
                <a:ea typeface="JetBrains Mono" pitchFamily="49" charset="-122"/>
                <a:cs typeface="JetBrains Mono" pitchFamily="49" charset="-120"/>
              </a:rPr>
              <a:t>RUN npm ci</a:t>
            </a:r>
            <a:endParaRPr lang="en-US" sz="1150" dirty="0"/>
          </a:p>
          <a:p>
            <a:pPr algn="l" indent="0" marL="0">
              <a:lnSpc>
                <a:spcPts val="1840"/>
              </a:lnSpc>
              <a:buNone/>
            </a:pPr>
            <a:r>
              <a:rPr lang="en-US" sz="1150" dirty="0">
                <a:solidFill>
                  <a:srgbClr val="334155"/>
                </a:solidFill>
                <a:latin typeface="JetBrains Mono" pitchFamily="49" charset="0"/>
                <a:ea typeface="JetBrains Mono" pitchFamily="49" charset="-122"/>
                <a:cs typeface="JetBrains Mono" pitchFamily="49" charset="-120"/>
              </a:rPr>
              <a:t>RUN npm run build</a:t>
            </a:r>
            <a:endParaRPr lang="en-US" sz="1150" dirty="0"/>
          </a:p>
          <a:p>
            <a:pPr algn="l" indent="0" marL="0">
              <a:lnSpc>
                <a:spcPts val="1840"/>
              </a:lnSpc>
              <a:buNone/>
            </a:pPr>
            <a:endParaRPr lang="en-US" sz="1150" dirty="0"/>
          </a:p>
          <a:p>
            <a:pPr algn="l" indent="0" marL="0">
              <a:lnSpc>
                <a:spcPts val="1840"/>
              </a:lnSpc>
              <a:buNone/>
            </a:pPr>
            <a:r>
              <a:rPr lang="en-US" sz="1150" dirty="0">
                <a:solidFill>
                  <a:srgbClr val="94A3B8"/>
                </a:solidFill>
                <a:latin typeface="JetBrains Mono" pitchFamily="49" charset="0"/>
                <a:ea typeface="JetBrains Mono" pitchFamily="49" charset="-122"/>
                <a:cs typeface="JetBrains Mono" pitchFamily="49" charset="-120"/>
              </a:rPr>
              <a:t># Tahap 2: sajikan</a:t>
            </a:r>
            <a:endParaRPr lang="en-US" sz="1150" dirty="0"/>
          </a:p>
          <a:p>
            <a:pPr algn="l" indent="0" marL="0">
              <a:lnSpc>
                <a:spcPts val="1840"/>
              </a:lnSpc>
              <a:buNone/>
            </a:pPr>
            <a:r>
              <a:rPr lang="en-US" sz="1150" dirty="0">
                <a:solidFill>
                  <a:srgbClr val="334155"/>
                </a:solidFill>
                <a:latin typeface="JetBrains Mono" pitchFamily="49" charset="0"/>
                <a:ea typeface="JetBrains Mono" pitchFamily="49" charset="-122"/>
                <a:cs typeface="JetBrains Mono" pitchFamily="49" charset="-120"/>
              </a:rPr>
              <a:t>FROM nginx:1.27-alpine</a:t>
            </a:r>
            <a:endParaRPr lang="en-US" sz="1150" dirty="0"/>
          </a:p>
          <a:p>
            <a:pPr algn="l" indent="0" marL="0">
              <a:lnSpc>
                <a:spcPts val="1840"/>
              </a:lnSpc>
              <a:buNone/>
            </a:pPr>
            <a:r>
              <a:rPr lang="en-US" sz="1150" dirty="0">
                <a:solidFill>
                  <a:srgbClr val="334155"/>
                </a:solidFill>
                <a:latin typeface="JetBrains Mono" pitchFamily="49" charset="0"/>
                <a:ea typeface="JetBrains Mono" pitchFamily="49" charset="-122"/>
                <a:cs typeface="JetBrains Mono" pitchFamily="49" charset="-120"/>
              </a:rPr>
              <a:t>COPY --from=build /app/dist /usr/share/nginx/html</a:t>
            </a:r>
            <a:endParaRPr lang="en-US" sz="1150" dirty="0"/>
          </a:p>
        </p:txBody>
      </p:sp>
      <p:sp>
        <p:nvSpPr>
          <p:cNvPr id="12" name="Text 10"/>
          <p:cNvSpPr/>
          <p:nvPr/>
        </p:nvSpPr>
        <p:spPr>
          <a:xfrm>
            <a:off x="6432550" y="4302522"/>
            <a:ext cx="4826889" cy="960041"/>
          </a:xfrm>
          <a:prstGeom prst="rect">
            <a:avLst/>
          </a:prstGeom>
          <a:noFill/>
          <a:ln/>
        </p:spPr>
        <p:txBody>
          <a:bodyPr wrap="square" lIns="0" tIns="0" rIns="0" bIns="0" rtlCol="0" anchor="t">
            <a:normAutofit/>
          </a:bodyPr>
          <a:lstStyle/>
          <a:p>
            <a:pPr algn="l" indent="0" marL="0">
              <a:lnSpc>
                <a:spcPts val="1840"/>
              </a:lnSpc>
              <a:buNone/>
            </a:pPr>
            <a:r>
              <a:rPr lang="en-US" sz="1150" dirty="0">
                <a:solidFill>
                  <a:srgbClr val="94A3B8"/>
                </a:solidFill>
                <a:latin typeface="JetBrains Mono" pitchFamily="49" charset="0"/>
                <a:ea typeface="JetBrains Mono" pitchFamily="49" charset="-122"/>
                <a:cs typeface="JetBrains Mono" pitchFamily="49" charset="-120"/>
              </a:rPr>
              <a:t># nginx.conf</a:t>
            </a:r>
            <a:endParaRPr lang="en-US" sz="1150" dirty="0"/>
          </a:p>
          <a:p>
            <a:pPr algn="l" indent="0" marL="0">
              <a:lnSpc>
                <a:spcPts val="1840"/>
              </a:lnSpc>
              <a:buNone/>
            </a:pPr>
            <a:r>
              <a:rPr lang="en-US" sz="1150" dirty="0">
                <a:solidFill>
                  <a:srgbClr val="334155"/>
                </a:solidFill>
                <a:latin typeface="JetBrains Mono" pitchFamily="49" charset="0"/>
                <a:ea typeface="JetBrains Mono" pitchFamily="49" charset="-122"/>
                <a:cs typeface="JetBrains Mono" pitchFamily="49" charset="-120"/>
              </a:rPr>
              <a:t>location / {</a:t>
            </a:r>
            <a:endParaRPr lang="en-US" sz="1150" dirty="0"/>
          </a:p>
          <a:p>
            <a:pPr algn="l" indent="0" marL="0">
              <a:lnSpc>
                <a:spcPts val="1840"/>
              </a:lnSpc>
              <a:buNone/>
            </a:pPr>
            <a:r>
              <a:rPr lang="en-US" sz="1150" dirty="0">
                <a:solidFill>
                  <a:srgbClr val="334155"/>
                </a:solidFill>
                <a:latin typeface="JetBrains Mono" pitchFamily="49" charset="0"/>
                <a:ea typeface="JetBrains Mono" pitchFamily="49" charset="-122"/>
                <a:cs typeface="JetBrains Mono" pitchFamily="49" charset="-120"/>
              </a:rPr>
              <a:t>  try_files $uri $uri/ /index.html;</a:t>
            </a:r>
            <a:endParaRPr lang="en-US" sz="1150" dirty="0"/>
          </a:p>
          <a:p>
            <a:pPr algn="l" indent="0" marL="0">
              <a:lnSpc>
                <a:spcPts val="1840"/>
              </a:lnSpc>
              <a:buNone/>
            </a:pPr>
            <a:r>
              <a:rPr lang="en-US" sz="1150" dirty="0">
                <a:solidFill>
                  <a:srgbClr val="334155"/>
                </a:solidFill>
                <a:latin typeface="JetBrains Mono" pitchFamily="49" charset="0"/>
                <a:ea typeface="JetBrains Mono" pitchFamily="49" charset="-122"/>
                <a:cs typeface="JetBrains Mono" pitchFamily="49" charset="-120"/>
              </a:rPr>
              <a:t>}</a:t>
            </a:r>
            <a:endParaRPr lang="en-US" sz="1150" dirty="0"/>
          </a:p>
        </p:txBody>
      </p:sp>
      <p:sp>
        <p:nvSpPr>
          <p:cNvPr id="13" name="Text 11"/>
          <p:cNvSpPr/>
          <p:nvPr/>
        </p:nvSpPr>
        <p:spPr>
          <a:xfrm>
            <a:off x="495808" y="6306840"/>
            <a:ext cx="10883392" cy="220960"/>
          </a:xfrm>
          <a:prstGeom prst="rect">
            <a:avLst/>
          </a:prstGeom>
          <a:noFill/>
          <a:ln/>
        </p:spPr>
        <p:txBody>
          <a:bodyPr wrap="square" lIns="0" tIns="0" rIns="0" bIns="0" rtlCol="0" anchor="t">
            <a:normAutofit/>
          </a:bodyPr>
          <a:lstStyle/>
          <a:p>
            <a:pPr algn="r" indent="0" marL="0">
              <a:lnSpc>
                <a:spcPts val="1540"/>
              </a:lnSpc>
              <a:buNone/>
            </a:pPr>
            <a:r>
              <a:rPr lang="en-US" sz="1100" dirty="0">
                <a:solidFill>
                  <a:srgbClr val="94A3B8"/>
                </a:solidFill>
                <a:latin typeface="Plus Jakarta Sans" pitchFamily="34" charset="0"/>
                <a:ea typeface="Plus Jakarta Sans" pitchFamily="34" charset="-122"/>
                <a:cs typeface="Plus Jakarta Sans" pitchFamily="34" charset="-120"/>
              </a:rPr>
              <a:t>05</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12800" y="762000"/>
            <a:ext cx="10883392" cy="25648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2563EB"/>
                </a:solidFill>
                <a:latin typeface="Plus Jakarta Sans" pitchFamily="34" charset="0"/>
                <a:ea typeface="Plus Jakarta Sans" pitchFamily="34" charset="-122"/>
                <a:cs typeface="Plus Jakarta Sans" pitchFamily="34" charset="-120"/>
              </a:rPr>
              <a:t>Konfigurasi server BE</a:t>
            </a:r>
            <a:endParaRPr lang="en-US" sz="1300" dirty="0"/>
          </a:p>
        </p:txBody>
      </p:sp>
      <p:sp>
        <p:nvSpPr>
          <p:cNvPr id="3" name="Text 1"/>
          <p:cNvSpPr/>
          <p:nvPr>
            <p:ph type="title"/>
          </p:nvPr>
        </p:nvSpPr>
        <p:spPr>
          <a:xfrm>
            <a:off x="812800" y="1094680"/>
            <a:ext cx="10883392" cy="463550"/>
          </a:xfrm>
          <a:prstGeom prst="rect">
            <a:avLst/>
          </a:prstGeom>
          <a:noFill/>
          <a:ln/>
        </p:spPr>
        <p:txBody>
          <a:bodyPr wrap="square" lIns="0" tIns="0" rIns="0" bIns="0" rtlCol="0" anchor="t">
            <a:normAutofit/>
          </a:bodyPr>
          <a:lstStyle/>
          <a:p>
            <a:pPr algn="l" indent="0" marL="0">
              <a:lnSpc>
                <a:spcPts val="3450"/>
              </a:lnSpc>
              <a:buNone/>
            </a:pPr>
            <a:r>
              <a:rPr lang="en-US" sz="3000" b="1" i="0" dirty="0">
                <a:solidFill>
                  <a:srgbClr val="0F172A"/>
                </a:solidFill>
                <a:latin typeface="Plus Jakarta Sans" pitchFamily="34" charset="0"/>
                <a:ea typeface="Plus Jakarta Sans" pitchFamily="34" charset="-122"/>
                <a:cs typeface="Plus Jakarta Sans" pitchFamily="34" charset="-120"/>
              </a:rPr>
              <a:t>BE menjadi satu-satunya jembatan ke DB</a:t>
            </a:r>
            <a:endParaRPr lang="en-US" sz="3000" dirty="0"/>
          </a:p>
        </p:txBody>
      </p:sp>
      <p:sp>
        <p:nvSpPr>
          <p:cNvPr id="4" name="Text 2"/>
          <p:cNvSpPr/>
          <p:nvPr/>
        </p:nvSpPr>
        <p:spPr>
          <a:xfrm>
            <a:off x="812800" y="1786830"/>
            <a:ext cx="5153914"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0F172A"/>
                </a:solidFill>
                <a:latin typeface="Plus Jakarta Sans" pitchFamily="34" charset="0"/>
                <a:ea typeface="Plus Jakarta Sans" pitchFamily="34" charset="-122"/>
                <a:cs typeface="Plus Jakarta Sans" pitchFamily="34" charset="-120"/>
              </a:rPr>
              <a:t>Koneksi ke DB lewat IP privat</a:t>
            </a:r>
            <a:endParaRPr lang="en-US" sz="1400" dirty="0"/>
          </a:p>
        </p:txBody>
      </p:sp>
      <p:sp>
        <p:nvSpPr>
          <p:cNvPr id="5" name="Text 3"/>
          <p:cNvSpPr/>
          <p:nvPr/>
        </p:nvSpPr>
        <p:spPr>
          <a:xfrm>
            <a:off x="812800" y="2038251"/>
            <a:ext cx="5359400" cy="283170"/>
          </a:xfrm>
          <a:prstGeom prst="rect">
            <a:avLst/>
          </a:prstGeom>
          <a:noFill/>
          <a:ln/>
        </p:spPr>
        <p:txBody>
          <a:bodyPr wrap="square" lIns="0" tIns="0" rIns="0" bIns="0" rtlCol="0" anchor="t">
            <a:normAutofit/>
          </a:bodyPr>
          <a:lstStyle/>
          <a:p>
            <a:pPr algn="l" indent="0" marL="0">
              <a:lnSpc>
                <a:spcPts val="2030"/>
              </a:lnSpc>
              <a:buNone/>
            </a:pPr>
            <a:r>
              <a:rPr lang="en-US" sz="1400" dirty="0">
                <a:solidFill>
                  <a:srgbClr val="475569"/>
                </a:solidFill>
                <a:latin typeface="Plus Jakarta Sans" pitchFamily="34" charset="0"/>
                <a:ea typeface="Plus Jakarta Sans" pitchFamily="34" charset="-122"/>
                <a:cs typeface="Plus Jakarta Sans" pitchFamily="34" charset="-120"/>
              </a:rPr>
              <a:t>DB_HOST=172.21.0.30, alamat MySQL di jaringan pos_db.</a:t>
            </a:r>
            <a:endParaRPr lang="en-US" sz="1400" dirty="0"/>
          </a:p>
        </p:txBody>
      </p:sp>
      <p:sp>
        <p:nvSpPr>
          <p:cNvPr id="6" name="Text 4"/>
          <p:cNvSpPr/>
          <p:nvPr/>
        </p:nvSpPr>
        <p:spPr>
          <a:xfrm>
            <a:off x="812800" y="2473821"/>
            <a:ext cx="5153914"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0F172A"/>
                </a:solidFill>
                <a:latin typeface="Plus Jakarta Sans" pitchFamily="34" charset="0"/>
                <a:ea typeface="Plus Jakarta Sans" pitchFamily="34" charset="-122"/>
                <a:cs typeface="Plus Jakarta Sans" pitchFamily="34" charset="-120"/>
              </a:rPr>
              <a:t>CORS hanya untuk origin FE</a:t>
            </a:r>
            <a:endParaRPr lang="en-US" sz="1400" dirty="0"/>
          </a:p>
        </p:txBody>
      </p:sp>
      <p:sp>
        <p:nvSpPr>
          <p:cNvPr id="7" name="Text 5"/>
          <p:cNvSpPr/>
          <p:nvPr/>
        </p:nvSpPr>
        <p:spPr>
          <a:xfrm>
            <a:off x="812800" y="2725241"/>
            <a:ext cx="5153914" cy="283170"/>
          </a:xfrm>
          <a:prstGeom prst="rect">
            <a:avLst/>
          </a:prstGeom>
          <a:noFill/>
          <a:ln/>
        </p:spPr>
        <p:txBody>
          <a:bodyPr wrap="square" lIns="0" tIns="0" rIns="0" bIns="0" rtlCol="0" anchor="t">
            <a:normAutofit/>
          </a:bodyPr>
          <a:lstStyle/>
          <a:p>
            <a:pPr algn="l" indent="0" marL="0">
              <a:lnSpc>
                <a:spcPts val="2030"/>
              </a:lnSpc>
              <a:buNone/>
            </a:pPr>
            <a:r>
              <a:rPr lang="en-US" sz="1400" dirty="0">
                <a:solidFill>
                  <a:srgbClr val="475569"/>
                </a:solidFill>
                <a:latin typeface="Plus Jakarta Sans" pitchFamily="34" charset="0"/>
                <a:ea typeface="Plus Jakarta Sans" pitchFamily="34" charset="-122"/>
                <a:cs typeface="Plus Jakarta Sans" pitchFamily="34" charset="-120"/>
              </a:rPr>
              <a:t>Origin harus cocok persis, termasuk port.</a:t>
            </a:r>
            <a:endParaRPr lang="en-US" sz="1400" dirty="0"/>
          </a:p>
        </p:txBody>
      </p:sp>
      <p:sp>
        <p:nvSpPr>
          <p:cNvPr id="8" name="Text 6"/>
          <p:cNvSpPr/>
          <p:nvPr/>
        </p:nvSpPr>
        <p:spPr>
          <a:xfrm>
            <a:off x="812800" y="3160812"/>
            <a:ext cx="5153914"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0F172A"/>
                </a:solidFill>
                <a:latin typeface="Plus Jakarta Sans" pitchFamily="34" charset="0"/>
                <a:ea typeface="Plus Jakarta Sans" pitchFamily="34" charset="-122"/>
                <a:cs typeface="Plus Jakarta Sans" pitchFamily="34" charset="-120"/>
              </a:rPr>
              <a:t>Nginx dan PHP-FPM</a:t>
            </a:r>
            <a:endParaRPr lang="en-US" sz="1400" dirty="0"/>
          </a:p>
        </p:txBody>
      </p:sp>
      <p:sp>
        <p:nvSpPr>
          <p:cNvPr id="9" name="Text 7"/>
          <p:cNvSpPr/>
          <p:nvPr/>
        </p:nvSpPr>
        <p:spPr>
          <a:xfrm>
            <a:off x="812800" y="3412232"/>
            <a:ext cx="5153914" cy="540941"/>
          </a:xfrm>
          <a:prstGeom prst="rect">
            <a:avLst/>
          </a:prstGeom>
          <a:noFill/>
          <a:ln/>
        </p:spPr>
        <p:txBody>
          <a:bodyPr wrap="square" lIns="0" tIns="0" rIns="0" bIns="0" rtlCol="0" anchor="t">
            <a:normAutofit/>
          </a:bodyPr>
          <a:lstStyle/>
          <a:p>
            <a:pPr algn="l" indent="0" marL="0">
              <a:lnSpc>
                <a:spcPts val="2030"/>
              </a:lnSpc>
              <a:buNone/>
            </a:pPr>
            <a:r>
              <a:rPr lang="en-US" sz="1400" dirty="0">
                <a:solidFill>
                  <a:srgbClr val="475569"/>
                </a:solidFill>
                <a:latin typeface="Plus Jakarta Sans" pitchFamily="34" charset="0"/>
                <a:ea typeface="Plus Jakarta Sans" pitchFamily="34" charset="-122"/>
                <a:cs typeface="Plus Jakarta Sans" pitchFamily="34" charset="-120"/>
              </a:rPr>
              <a:t>Dijalankan bersama oleh Supervisor, menggantikan php artisan serve.</a:t>
            </a:r>
            <a:endParaRPr lang="en-US" sz="1400" dirty="0"/>
          </a:p>
        </p:txBody>
      </p:sp>
      <p:sp>
        <p:nvSpPr>
          <p:cNvPr id="10" name="Text 8"/>
          <p:cNvSpPr/>
          <p:nvPr/>
        </p:nvSpPr>
        <p:spPr>
          <a:xfrm>
            <a:off x="812800" y="4105573"/>
            <a:ext cx="5153914"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0F172A"/>
                </a:solidFill>
                <a:latin typeface="Plus Jakarta Sans" pitchFamily="34" charset="0"/>
                <a:ea typeface="Plus Jakarta Sans" pitchFamily="34" charset="-122"/>
                <a:cs typeface="Plus Jakarta Sans" pitchFamily="34" charset="-120"/>
              </a:rPr>
              <a:t>Siap saat container menyala</a:t>
            </a:r>
            <a:endParaRPr lang="en-US" sz="1400" dirty="0"/>
          </a:p>
        </p:txBody>
      </p:sp>
      <p:sp>
        <p:nvSpPr>
          <p:cNvPr id="11" name="Text 9"/>
          <p:cNvSpPr/>
          <p:nvPr/>
        </p:nvSpPr>
        <p:spPr>
          <a:xfrm>
            <a:off x="812800" y="4356993"/>
            <a:ext cx="5153914" cy="540941"/>
          </a:xfrm>
          <a:prstGeom prst="rect">
            <a:avLst/>
          </a:prstGeom>
          <a:noFill/>
          <a:ln/>
        </p:spPr>
        <p:txBody>
          <a:bodyPr wrap="square" lIns="0" tIns="0" rIns="0" bIns="0" rtlCol="0" anchor="t">
            <a:normAutofit/>
          </a:bodyPr>
          <a:lstStyle/>
          <a:p>
            <a:pPr algn="l" indent="0" marL="0">
              <a:lnSpc>
                <a:spcPts val="2030"/>
              </a:lnSpc>
              <a:buNone/>
            </a:pPr>
            <a:r>
              <a:rPr lang="en-US" sz="1400" dirty="0">
                <a:solidFill>
                  <a:srgbClr val="475569"/>
                </a:solidFill>
                <a:latin typeface="Plus Jakarta Sans" pitchFamily="34" charset="0"/>
                <a:ea typeface="Plus Jakarta Sans" pitchFamily="34" charset="-122"/>
                <a:cs typeface="Plus Jakarta Sans" pitchFamily="34" charset="-120"/>
              </a:rPr>
              <a:t>Entrypoint menjalankan config:cache, route:cache, dan migrate --force.</a:t>
            </a:r>
            <a:endParaRPr lang="en-US" sz="1400" dirty="0"/>
          </a:p>
        </p:txBody>
      </p:sp>
      <p:sp>
        <p:nvSpPr>
          <p:cNvPr id="12" name="Shape 10"/>
          <p:cNvSpPr/>
          <p:nvPr/>
        </p:nvSpPr>
        <p:spPr>
          <a:xfrm>
            <a:off x="6175375" y="1790005"/>
            <a:ext cx="5200650" cy="4112320"/>
          </a:xfrm>
          <a:prstGeom prst="roundRect">
            <a:avLst>
              <a:gd name="adj" fmla="val 1776"/>
            </a:avLst>
          </a:prstGeom>
          <a:solidFill>
            <a:srgbClr val="F8FAFC"/>
          </a:solidFill>
          <a:ln w="6350">
            <a:solidFill>
              <a:srgbClr val="E2E8F0"/>
            </a:solidFill>
            <a:prstDash val="solid"/>
          </a:ln>
        </p:spPr>
      </p:sp>
      <p:sp>
        <p:nvSpPr>
          <p:cNvPr id="13" name="Text 11"/>
          <p:cNvSpPr/>
          <p:nvPr/>
        </p:nvSpPr>
        <p:spPr>
          <a:xfrm>
            <a:off x="6432550" y="2047180"/>
            <a:ext cx="4826889" cy="1661021"/>
          </a:xfrm>
          <a:prstGeom prst="rect">
            <a:avLst/>
          </a:prstGeom>
          <a:noFill/>
          <a:ln/>
        </p:spPr>
        <p:txBody>
          <a:bodyPr wrap="square" lIns="0" tIns="0" rIns="0" bIns="0" rtlCol="0" anchor="t">
            <a:normAutofit/>
          </a:bodyPr>
          <a:lstStyle/>
          <a:p>
            <a:pPr algn="l" indent="0" marL="0">
              <a:lnSpc>
                <a:spcPts val="1840"/>
              </a:lnSpc>
              <a:buNone/>
            </a:pPr>
            <a:r>
              <a:rPr lang="en-US" sz="1150" dirty="0">
                <a:solidFill>
                  <a:srgbClr val="94A3B8"/>
                </a:solidFill>
                <a:latin typeface="JetBrains Mono" pitchFamily="49" charset="0"/>
                <a:ea typeface="JetBrains Mono" pitchFamily="49" charset="-122"/>
                <a:cs typeface="JetBrains Mono" pitchFamily="49" charset="-120"/>
              </a:rPr>
              <a:t># .env.production (ringkas)</a:t>
            </a:r>
            <a:endParaRPr lang="en-US" sz="1150" dirty="0"/>
          </a:p>
          <a:p>
            <a:pPr algn="l" indent="0" marL="0">
              <a:lnSpc>
                <a:spcPts val="1840"/>
              </a:lnSpc>
              <a:buNone/>
            </a:pPr>
            <a:r>
              <a:rPr lang="en-US" sz="1150" dirty="0">
                <a:solidFill>
                  <a:srgbClr val="334155"/>
                </a:solidFill>
                <a:latin typeface="JetBrains Mono" pitchFamily="49" charset="0"/>
                <a:ea typeface="JetBrains Mono" pitchFamily="49" charset="-122"/>
                <a:cs typeface="JetBrains Mono" pitchFamily="49" charset="-120"/>
              </a:rPr>
              <a:t>APP_ENV=production</a:t>
            </a:r>
            <a:endParaRPr lang="en-US" sz="1150" dirty="0"/>
          </a:p>
          <a:p>
            <a:pPr algn="l" indent="0" marL="0">
              <a:lnSpc>
                <a:spcPts val="1840"/>
              </a:lnSpc>
              <a:buNone/>
            </a:pPr>
            <a:r>
              <a:rPr lang="en-US" sz="1150" dirty="0">
                <a:solidFill>
                  <a:srgbClr val="334155"/>
                </a:solidFill>
                <a:latin typeface="JetBrains Mono" pitchFamily="49" charset="0"/>
                <a:ea typeface="JetBrains Mono" pitchFamily="49" charset="-122"/>
                <a:cs typeface="JetBrains Mono" pitchFamily="49" charset="-120"/>
              </a:rPr>
              <a:t>APP_DEBUG=false</a:t>
            </a:r>
            <a:endParaRPr lang="en-US" sz="1150" dirty="0"/>
          </a:p>
          <a:p>
            <a:pPr algn="l" indent="0" marL="0">
              <a:lnSpc>
                <a:spcPts val="1840"/>
              </a:lnSpc>
              <a:buNone/>
            </a:pPr>
            <a:r>
              <a:rPr lang="en-US" sz="1150" dirty="0">
                <a:solidFill>
                  <a:srgbClr val="334155"/>
                </a:solidFill>
                <a:latin typeface="JetBrains Mono" pitchFamily="49" charset="0"/>
                <a:ea typeface="JetBrains Mono" pitchFamily="49" charset="-122"/>
                <a:cs typeface="JetBrains Mono" pitchFamily="49" charset="-120"/>
              </a:rPr>
              <a:t>DB_HOST=</a:t>
            </a:r>
            <a:r>
              <a:rPr lang="en-US" sz="1150" b="1" dirty="0">
                <a:solidFill>
                  <a:srgbClr val="2563EB"/>
                </a:solidFill>
                <a:latin typeface="JetBrains Mono" pitchFamily="49" charset="0"/>
                <a:ea typeface="JetBrains Mono" pitchFamily="49" charset="-122"/>
                <a:cs typeface="JetBrains Mono" pitchFamily="49" charset="-120"/>
              </a:rPr>
              <a:t>172.21.0.30</a:t>
            </a:r>
            <a:endParaRPr lang="en-US" sz="1150" dirty="0"/>
          </a:p>
          <a:p>
            <a:pPr algn="l" indent="0" marL="0">
              <a:lnSpc>
                <a:spcPts val="1840"/>
              </a:lnSpc>
              <a:buNone/>
            </a:pPr>
            <a:r>
              <a:rPr lang="en-US" sz="1150" dirty="0">
                <a:solidFill>
                  <a:srgbClr val="334155"/>
                </a:solidFill>
                <a:latin typeface="JetBrains Mono" pitchFamily="49" charset="0"/>
                <a:ea typeface="JetBrains Mono" pitchFamily="49" charset="-122"/>
                <a:cs typeface="JetBrains Mono" pitchFamily="49" charset="-120"/>
              </a:rPr>
              <a:t>DB_DATABASE=pos</a:t>
            </a:r>
            <a:endParaRPr lang="en-US" sz="1150" dirty="0"/>
          </a:p>
          <a:p>
            <a:pPr algn="l" indent="0" marL="0">
              <a:lnSpc>
                <a:spcPts val="1840"/>
              </a:lnSpc>
              <a:buNone/>
            </a:pPr>
            <a:r>
              <a:rPr lang="en-US" sz="1150" dirty="0">
                <a:solidFill>
                  <a:srgbClr val="334155"/>
                </a:solidFill>
                <a:latin typeface="JetBrains Mono" pitchFamily="49" charset="0"/>
                <a:ea typeface="JetBrains Mono" pitchFamily="49" charset="-122"/>
                <a:cs typeface="JetBrains Mono" pitchFamily="49" charset="-120"/>
              </a:rPr>
              <a:t>DB_USERNAME=pos</a:t>
            </a:r>
            <a:endParaRPr lang="en-US" sz="1150" dirty="0"/>
          </a:p>
          <a:p>
            <a:pPr algn="l" indent="0" marL="0">
              <a:lnSpc>
                <a:spcPts val="1840"/>
              </a:lnSpc>
              <a:buNone/>
            </a:pPr>
            <a:r>
              <a:rPr lang="en-US" sz="1150" dirty="0">
                <a:solidFill>
                  <a:srgbClr val="334155"/>
                </a:solidFill>
                <a:latin typeface="JetBrains Mono" pitchFamily="49" charset="0"/>
                <a:ea typeface="JetBrains Mono" pitchFamily="49" charset="-122"/>
                <a:cs typeface="JetBrains Mono" pitchFamily="49" charset="-120"/>
              </a:rPr>
              <a:t>CORS_ALLOWED_ORIGINS=</a:t>
            </a:r>
            <a:r>
              <a:rPr lang="en-US" sz="1150" b="1" dirty="0">
                <a:solidFill>
                  <a:srgbClr val="2563EB"/>
                </a:solidFill>
                <a:latin typeface="JetBrains Mono" pitchFamily="49" charset="0"/>
                <a:ea typeface="JetBrains Mono" pitchFamily="49" charset="-122"/>
                <a:cs typeface="JetBrains Mono" pitchFamily="49" charset="-120"/>
              </a:rPr>
              <a:t>http://localhost:8080</a:t>
            </a:r>
            <a:endParaRPr lang="en-US" sz="1150" dirty="0"/>
          </a:p>
        </p:txBody>
      </p:sp>
      <p:sp>
        <p:nvSpPr>
          <p:cNvPr id="14" name="Text 12"/>
          <p:cNvSpPr/>
          <p:nvPr/>
        </p:nvSpPr>
        <p:spPr>
          <a:xfrm>
            <a:off x="6432550" y="3835202"/>
            <a:ext cx="4826889" cy="960041"/>
          </a:xfrm>
          <a:prstGeom prst="rect">
            <a:avLst/>
          </a:prstGeom>
          <a:noFill/>
          <a:ln/>
        </p:spPr>
        <p:txBody>
          <a:bodyPr wrap="square" lIns="0" tIns="0" rIns="0" bIns="0" rtlCol="0" anchor="t">
            <a:normAutofit/>
          </a:bodyPr>
          <a:lstStyle/>
          <a:p>
            <a:pPr algn="l" indent="0" marL="0">
              <a:lnSpc>
                <a:spcPts val="1840"/>
              </a:lnSpc>
              <a:buNone/>
            </a:pPr>
            <a:r>
              <a:rPr lang="en-US" sz="1150" dirty="0">
                <a:solidFill>
                  <a:srgbClr val="94A3B8"/>
                </a:solidFill>
                <a:latin typeface="JetBrains Mono" pitchFamily="49" charset="0"/>
                <a:ea typeface="JetBrains Mono" pitchFamily="49" charset="-122"/>
                <a:cs typeface="JetBrains Mono" pitchFamily="49" charset="-120"/>
              </a:rPr>
              <a:t># config/cors.php</a:t>
            </a:r>
            <a:endParaRPr lang="en-US" sz="1150" dirty="0"/>
          </a:p>
          <a:p>
            <a:pPr algn="l" indent="0" marL="0">
              <a:lnSpc>
                <a:spcPts val="1840"/>
              </a:lnSpc>
              <a:buNone/>
            </a:pPr>
            <a:r>
              <a:rPr lang="en-US" sz="1150" dirty="0">
                <a:solidFill>
                  <a:srgbClr val="334155"/>
                </a:solidFill>
                <a:latin typeface="JetBrains Mono" pitchFamily="49" charset="0"/>
                <a:ea typeface="JetBrains Mono" pitchFamily="49" charset="-122"/>
                <a:cs typeface="JetBrains Mono" pitchFamily="49" charset="-120"/>
              </a:rPr>
              <a:t>'allowed_origins' =&gt; array_filter(</a:t>
            </a:r>
            <a:endParaRPr lang="en-US" sz="1150" dirty="0"/>
          </a:p>
          <a:p>
            <a:pPr algn="l" indent="0" marL="0">
              <a:lnSpc>
                <a:spcPts val="1840"/>
              </a:lnSpc>
              <a:buNone/>
            </a:pPr>
            <a:r>
              <a:rPr lang="en-US" sz="1150" dirty="0">
                <a:solidFill>
                  <a:srgbClr val="334155"/>
                </a:solidFill>
                <a:latin typeface="JetBrains Mono" pitchFamily="49" charset="0"/>
                <a:ea typeface="JetBrains Mono" pitchFamily="49" charset="-122"/>
                <a:cs typeface="JetBrains Mono" pitchFamily="49" charset="-120"/>
              </a:rPr>
              <a:t>  explode(',', env('CORS_ALLOWED_ORIGINS'))),</a:t>
            </a:r>
            <a:endParaRPr lang="en-US" sz="1150" dirty="0"/>
          </a:p>
          <a:p>
            <a:pPr algn="l" indent="0" marL="0">
              <a:lnSpc>
                <a:spcPts val="1840"/>
              </a:lnSpc>
              <a:buNone/>
            </a:pPr>
            <a:r>
              <a:rPr lang="en-US" sz="1150" dirty="0">
                <a:solidFill>
                  <a:srgbClr val="334155"/>
                </a:solidFill>
                <a:latin typeface="JetBrains Mono" pitchFamily="49" charset="0"/>
                <a:ea typeface="JetBrains Mono" pitchFamily="49" charset="-122"/>
                <a:cs typeface="JetBrains Mono" pitchFamily="49" charset="-120"/>
              </a:rPr>
              <a:t>'supports_credentials' =&gt; false,</a:t>
            </a:r>
            <a:endParaRPr lang="en-US" sz="1150" dirty="0"/>
          </a:p>
        </p:txBody>
      </p:sp>
      <p:sp>
        <p:nvSpPr>
          <p:cNvPr id="15" name="Text 13"/>
          <p:cNvSpPr/>
          <p:nvPr/>
        </p:nvSpPr>
        <p:spPr>
          <a:xfrm>
            <a:off x="495808" y="6306840"/>
            <a:ext cx="10883392" cy="220960"/>
          </a:xfrm>
          <a:prstGeom prst="rect">
            <a:avLst/>
          </a:prstGeom>
          <a:noFill/>
          <a:ln/>
        </p:spPr>
        <p:txBody>
          <a:bodyPr wrap="square" lIns="0" tIns="0" rIns="0" bIns="0" rtlCol="0" anchor="t">
            <a:normAutofit/>
          </a:bodyPr>
          <a:lstStyle/>
          <a:p>
            <a:pPr algn="r" indent="0" marL="0">
              <a:lnSpc>
                <a:spcPts val="1540"/>
              </a:lnSpc>
              <a:buNone/>
            </a:pPr>
            <a:r>
              <a:rPr lang="en-US" sz="1100" dirty="0">
                <a:solidFill>
                  <a:srgbClr val="94A3B8"/>
                </a:solidFill>
                <a:latin typeface="Plus Jakarta Sans" pitchFamily="34" charset="0"/>
                <a:ea typeface="Plus Jakarta Sans" pitchFamily="34" charset="-122"/>
                <a:cs typeface="Plus Jakarta Sans" pitchFamily="34" charset="-120"/>
              </a:rPr>
              <a:t>06</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12800" y="762000"/>
            <a:ext cx="10883392" cy="25648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2563EB"/>
                </a:solidFill>
                <a:latin typeface="Plus Jakarta Sans" pitchFamily="34" charset="0"/>
                <a:ea typeface="Plus Jakarta Sans" pitchFamily="34" charset="-122"/>
                <a:cs typeface="Plus Jakarta Sans" pitchFamily="34" charset="-120"/>
              </a:rPr>
              <a:t>Konfigurasi server DB</a:t>
            </a:r>
            <a:endParaRPr lang="en-US" sz="1300" dirty="0"/>
          </a:p>
        </p:txBody>
      </p:sp>
      <p:sp>
        <p:nvSpPr>
          <p:cNvPr id="3" name="Text 1"/>
          <p:cNvSpPr/>
          <p:nvPr>
            <p:ph type="title"/>
          </p:nvPr>
        </p:nvSpPr>
        <p:spPr>
          <a:xfrm>
            <a:off x="812800" y="1094680"/>
            <a:ext cx="10883392" cy="463550"/>
          </a:xfrm>
          <a:prstGeom prst="rect">
            <a:avLst/>
          </a:prstGeom>
          <a:noFill/>
          <a:ln/>
        </p:spPr>
        <p:txBody>
          <a:bodyPr wrap="square" lIns="0" tIns="0" rIns="0" bIns="0" rtlCol="0" anchor="t">
            <a:normAutofit/>
          </a:bodyPr>
          <a:lstStyle/>
          <a:p>
            <a:pPr algn="l" indent="0" marL="0">
              <a:lnSpc>
                <a:spcPts val="3450"/>
              </a:lnSpc>
              <a:buNone/>
            </a:pPr>
            <a:r>
              <a:rPr lang="en-US" sz="3000" b="1" i="0" dirty="0">
                <a:solidFill>
                  <a:srgbClr val="0F172A"/>
                </a:solidFill>
                <a:latin typeface="Plus Jakarta Sans" pitchFamily="34" charset="0"/>
                <a:ea typeface="Plus Jakarta Sans" pitchFamily="34" charset="-122"/>
                <a:cs typeface="Plus Jakarta Sans" pitchFamily="34" charset="-120"/>
              </a:rPr>
              <a:t>DB hanya menerima koneksi dari BE</a:t>
            </a:r>
            <a:endParaRPr lang="en-US" sz="3000" dirty="0"/>
          </a:p>
        </p:txBody>
      </p:sp>
      <p:sp>
        <p:nvSpPr>
          <p:cNvPr id="4" name="Text 2"/>
          <p:cNvSpPr/>
          <p:nvPr/>
        </p:nvSpPr>
        <p:spPr>
          <a:xfrm>
            <a:off x="812800" y="1786830"/>
            <a:ext cx="5153914"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0F172A"/>
                </a:solidFill>
                <a:latin typeface="Plus Jakarta Sans" pitchFamily="34" charset="0"/>
                <a:ea typeface="Plus Jakarta Sans" pitchFamily="34" charset="-122"/>
                <a:cs typeface="Plus Jakarta Sans" pitchFamily="34" charset="-120"/>
              </a:rPr>
              <a:t>Tidak ada port ke luar</a:t>
            </a:r>
            <a:endParaRPr lang="en-US" sz="1400" dirty="0"/>
          </a:p>
        </p:txBody>
      </p:sp>
      <p:sp>
        <p:nvSpPr>
          <p:cNvPr id="5" name="Text 3"/>
          <p:cNvSpPr/>
          <p:nvPr/>
        </p:nvSpPr>
        <p:spPr>
          <a:xfrm>
            <a:off x="812800" y="2038251"/>
            <a:ext cx="5153914" cy="540941"/>
          </a:xfrm>
          <a:prstGeom prst="rect">
            <a:avLst/>
          </a:prstGeom>
          <a:noFill/>
          <a:ln/>
        </p:spPr>
        <p:txBody>
          <a:bodyPr wrap="square" lIns="0" tIns="0" rIns="0" bIns="0" rtlCol="0" anchor="t">
            <a:normAutofit/>
          </a:bodyPr>
          <a:lstStyle/>
          <a:p>
            <a:pPr algn="l" indent="0" marL="0">
              <a:lnSpc>
                <a:spcPts val="2030"/>
              </a:lnSpc>
              <a:buNone/>
            </a:pPr>
            <a:r>
              <a:rPr lang="en-US" sz="1400" dirty="0">
                <a:solidFill>
                  <a:srgbClr val="475569"/>
                </a:solidFill>
                <a:latin typeface="Plus Jakarta Sans" pitchFamily="34" charset="0"/>
                <a:ea typeface="Plus Jakarta Sans" pitchFamily="34" charset="-122"/>
                <a:cs typeface="Plus Jakarta Sans" pitchFamily="34" charset="-120"/>
              </a:rPr>
              <a:t>Container MySQL tanpa ports, jadi tidak terjangkau dari laptop maupun jaringan lain.</a:t>
            </a:r>
            <a:endParaRPr lang="en-US" sz="1400" dirty="0"/>
          </a:p>
        </p:txBody>
      </p:sp>
      <p:sp>
        <p:nvSpPr>
          <p:cNvPr id="6" name="Text 4"/>
          <p:cNvSpPr/>
          <p:nvPr/>
        </p:nvSpPr>
        <p:spPr>
          <a:xfrm>
            <a:off x="812800" y="2731591"/>
            <a:ext cx="5153914"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0F172A"/>
                </a:solidFill>
                <a:latin typeface="Plus Jakarta Sans" pitchFamily="34" charset="0"/>
                <a:ea typeface="Plus Jakarta Sans" pitchFamily="34" charset="-122"/>
                <a:cs typeface="Plus Jakarta Sans" pitchFamily="34" charset="-120"/>
              </a:rPr>
              <a:t>Jaringan internal</a:t>
            </a:r>
            <a:endParaRPr lang="en-US" sz="1400" dirty="0"/>
          </a:p>
        </p:txBody>
      </p:sp>
      <p:sp>
        <p:nvSpPr>
          <p:cNvPr id="7" name="Text 5"/>
          <p:cNvSpPr/>
          <p:nvPr/>
        </p:nvSpPr>
        <p:spPr>
          <a:xfrm>
            <a:off x="812800" y="2983012"/>
            <a:ext cx="5153914" cy="283170"/>
          </a:xfrm>
          <a:prstGeom prst="rect">
            <a:avLst/>
          </a:prstGeom>
          <a:noFill/>
          <a:ln/>
        </p:spPr>
        <p:txBody>
          <a:bodyPr wrap="square" lIns="0" tIns="0" rIns="0" bIns="0" rtlCol="0" anchor="t">
            <a:normAutofit/>
          </a:bodyPr>
          <a:lstStyle/>
          <a:p>
            <a:pPr algn="l" indent="0" marL="0">
              <a:lnSpc>
                <a:spcPts val="2030"/>
              </a:lnSpc>
              <a:buNone/>
            </a:pPr>
            <a:r>
              <a:rPr lang="en-US" sz="1400" dirty="0">
                <a:solidFill>
                  <a:srgbClr val="475569"/>
                </a:solidFill>
                <a:latin typeface="Plus Jakarta Sans" pitchFamily="34" charset="0"/>
                <a:ea typeface="Plus Jakarta Sans" pitchFamily="34" charset="-122"/>
                <a:cs typeface="Plus Jakarta Sans" pitchFamily="34" charset="-120"/>
              </a:rPr>
              <a:t>pos_db tanpa akses keluar dan hanya berisi BE dan DB.</a:t>
            </a:r>
            <a:endParaRPr lang="en-US" sz="1400" dirty="0"/>
          </a:p>
        </p:txBody>
      </p:sp>
      <p:sp>
        <p:nvSpPr>
          <p:cNvPr id="8" name="Text 6"/>
          <p:cNvSpPr/>
          <p:nvPr/>
        </p:nvSpPr>
        <p:spPr>
          <a:xfrm>
            <a:off x="812800" y="3418582"/>
            <a:ext cx="5153914"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0F172A"/>
                </a:solidFill>
                <a:latin typeface="Plus Jakarta Sans" pitchFamily="34" charset="0"/>
                <a:ea typeface="Plus Jakarta Sans" pitchFamily="34" charset="-122"/>
                <a:cs typeface="Plus Jakarta Sans" pitchFamily="34" charset="-120"/>
              </a:rPr>
              <a:t>User dikunci per IP</a:t>
            </a:r>
            <a:endParaRPr lang="en-US" sz="1400" dirty="0"/>
          </a:p>
        </p:txBody>
      </p:sp>
      <p:sp>
        <p:nvSpPr>
          <p:cNvPr id="9" name="Text 7"/>
          <p:cNvSpPr/>
          <p:nvPr/>
        </p:nvSpPr>
        <p:spPr>
          <a:xfrm>
            <a:off x="812800" y="3670002"/>
            <a:ext cx="5153914" cy="540941"/>
          </a:xfrm>
          <a:prstGeom prst="rect">
            <a:avLst/>
          </a:prstGeom>
          <a:noFill/>
          <a:ln/>
        </p:spPr>
        <p:txBody>
          <a:bodyPr wrap="square" lIns="0" tIns="0" rIns="0" bIns="0" rtlCol="0" anchor="t">
            <a:normAutofit/>
          </a:bodyPr>
          <a:lstStyle/>
          <a:p>
            <a:pPr algn="l" indent="0" marL="0">
              <a:lnSpc>
                <a:spcPts val="2030"/>
              </a:lnSpc>
              <a:buNone/>
            </a:pPr>
            <a:r>
              <a:rPr lang="en-US" sz="1400" dirty="0">
                <a:solidFill>
                  <a:srgbClr val="475569"/>
                </a:solidFill>
                <a:latin typeface="Plus Jakarta Sans" pitchFamily="34" charset="0"/>
                <a:ea typeface="Plus Jakarta Sans" pitchFamily="34" charset="-122"/>
                <a:cs typeface="Plus Jakarta Sans" pitchFamily="34" charset="-120"/>
              </a:rPr>
              <a:t>User pos hanya boleh login dari 172.21.0.20. Root hanya dari localhost.</a:t>
            </a:r>
            <a:endParaRPr lang="en-US" sz="1400" dirty="0"/>
          </a:p>
        </p:txBody>
      </p:sp>
      <p:sp>
        <p:nvSpPr>
          <p:cNvPr id="10" name="Text 8"/>
          <p:cNvSpPr/>
          <p:nvPr/>
        </p:nvSpPr>
        <p:spPr>
          <a:xfrm>
            <a:off x="812800" y="4363343"/>
            <a:ext cx="5153914"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0F172A"/>
                </a:solidFill>
                <a:latin typeface="Plus Jakarta Sans" pitchFamily="34" charset="0"/>
                <a:ea typeface="Plus Jakarta Sans" pitchFamily="34" charset="-122"/>
                <a:cs typeface="Plus Jakarta Sans" pitchFamily="34" charset="-120"/>
              </a:rPr>
              <a:t>Data di volume</a:t>
            </a:r>
            <a:endParaRPr lang="en-US" sz="1400" dirty="0"/>
          </a:p>
        </p:txBody>
      </p:sp>
      <p:sp>
        <p:nvSpPr>
          <p:cNvPr id="11" name="Text 9"/>
          <p:cNvSpPr/>
          <p:nvPr/>
        </p:nvSpPr>
        <p:spPr>
          <a:xfrm>
            <a:off x="812800" y="4614763"/>
            <a:ext cx="5153914" cy="540941"/>
          </a:xfrm>
          <a:prstGeom prst="rect">
            <a:avLst/>
          </a:prstGeom>
          <a:noFill/>
          <a:ln/>
        </p:spPr>
        <p:txBody>
          <a:bodyPr wrap="square" lIns="0" tIns="0" rIns="0" bIns="0" rtlCol="0" anchor="t">
            <a:normAutofit/>
          </a:bodyPr>
          <a:lstStyle/>
          <a:p>
            <a:pPr algn="l" indent="0" marL="0">
              <a:lnSpc>
                <a:spcPts val="2030"/>
              </a:lnSpc>
              <a:buNone/>
            </a:pPr>
            <a:r>
              <a:rPr lang="en-US" sz="1400" dirty="0">
                <a:solidFill>
                  <a:srgbClr val="475569"/>
                </a:solidFill>
                <a:latin typeface="Plus Jakarta Sans" pitchFamily="34" charset="0"/>
                <a:ea typeface="Plus Jakarta Sans" pitchFamily="34" charset="-122"/>
                <a:cs typeface="Plus Jakarta Sans" pitchFamily="34" charset="-120"/>
              </a:rPr>
              <a:t>Data tetap ada walau container dihapus. Healthcheck membuat BE menunggu DB siap.</a:t>
            </a:r>
            <a:endParaRPr lang="en-US" sz="1400" dirty="0"/>
          </a:p>
        </p:txBody>
      </p:sp>
      <p:sp>
        <p:nvSpPr>
          <p:cNvPr id="12" name="Shape 10"/>
          <p:cNvSpPr/>
          <p:nvPr/>
        </p:nvSpPr>
        <p:spPr>
          <a:xfrm>
            <a:off x="6175375" y="1790005"/>
            <a:ext cx="5200650" cy="4112320"/>
          </a:xfrm>
          <a:prstGeom prst="roundRect">
            <a:avLst>
              <a:gd name="adj" fmla="val 1776"/>
            </a:avLst>
          </a:prstGeom>
          <a:solidFill>
            <a:srgbClr val="F8FAFC"/>
          </a:solidFill>
          <a:ln w="6350">
            <a:solidFill>
              <a:srgbClr val="E2E8F0"/>
            </a:solidFill>
            <a:prstDash val="solid"/>
          </a:ln>
        </p:spPr>
      </p:sp>
      <p:sp>
        <p:nvSpPr>
          <p:cNvPr id="13" name="Text 11"/>
          <p:cNvSpPr/>
          <p:nvPr/>
        </p:nvSpPr>
        <p:spPr>
          <a:xfrm>
            <a:off x="6432550" y="2047180"/>
            <a:ext cx="4826889" cy="2595662"/>
          </a:xfrm>
          <a:prstGeom prst="rect">
            <a:avLst/>
          </a:prstGeom>
          <a:noFill/>
          <a:ln/>
        </p:spPr>
        <p:txBody>
          <a:bodyPr wrap="square" lIns="0" tIns="0" rIns="0" bIns="0" rtlCol="0" anchor="t">
            <a:normAutofit/>
          </a:bodyPr>
          <a:lstStyle/>
          <a:p>
            <a:pPr algn="l" indent="0" marL="0">
              <a:lnSpc>
                <a:spcPts val="1840"/>
              </a:lnSpc>
              <a:buNone/>
            </a:pPr>
            <a:r>
              <a:rPr lang="en-US" sz="1150" dirty="0">
                <a:solidFill>
                  <a:srgbClr val="94A3B8"/>
                </a:solidFill>
                <a:latin typeface="JetBrains Mono" pitchFamily="49" charset="0"/>
                <a:ea typeface="JetBrains Mono" pitchFamily="49" charset="-122"/>
                <a:cs typeface="JetBrains Mono" pitchFamily="49" charset="-120"/>
              </a:rPr>
              <a:t># docker-compose.yml (ringkas)</a:t>
            </a:r>
            <a:endParaRPr lang="en-US" sz="1150" dirty="0"/>
          </a:p>
          <a:p>
            <a:pPr algn="l" indent="0" marL="0">
              <a:lnSpc>
                <a:spcPts val="1840"/>
              </a:lnSpc>
              <a:buNone/>
            </a:pPr>
            <a:r>
              <a:rPr lang="en-US" sz="1150" dirty="0">
                <a:solidFill>
                  <a:srgbClr val="334155"/>
                </a:solidFill>
                <a:latin typeface="JetBrains Mono" pitchFamily="49" charset="0"/>
                <a:ea typeface="JetBrains Mono" pitchFamily="49" charset="-122"/>
                <a:cs typeface="JetBrains Mono" pitchFamily="49" charset="-120"/>
              </a:rPr>
              <a:t>pos-mysql:</a:t>
            </a:r>
            <a:endParaRPr lang="en-US" sz="1150" dirty="0"/>
          </a:p>
          <a:p>
            <a:pPr algn="l" indent="0" marL="0">
              <a:lnSpc>
                <a:spcPts val="1840"/>
              </a:lnSpc>
              <a:buNone/>
            </a:pPr>
            <a:r>
              <a:rPr lang="en-US" sz="1150" dirty="0">
                <a:solidFill>
                  <a:srgbClr val="334155"/>
                </a:solidFill>
                <a:latin typeface="JetBrains Mono" pitchFamily="49" charset="0"/>
                <a:ea typeface="JetBrains Mono" pitchFamily="49" charset="-122"/>
                <a:cs typeface="JetBrains Mono" pitchFamily="49" charset="-120"/>
              </a:rPr>
              <a:t>  image: mysql:8.4</a:t>
            </a:r>
            <a:endParaRPr lang="en-US" sz="1150" dirty="0"/>
          </a:p>
          <a:p>
            <a:pPr algn="l" indent="0" marL="0">
              <a:lnSpc>
                <a:spcPts val="1840"/>
              </a:lnSpc>
              <a:buNone/>
            </a:pPr>
            <a:r>
              <a:rPr lang="en-US" sz="1150" dirty="0">
                <a:solidFill>
                  <a:srgbClr val="334155"/>
                </a:solidFill>
                <a:latin typeface="JetBrains Mono" pitchFamily="49" charset="0"/>
                <a:ea typeface="JetBrains Mono" pitchFamily="49" charset="-122"/>
                <a:cs typeface="JetBrains Mono" pitchFamily="49" charset="-120"/>
              </a:rPr>
              <a:t>  command: ["--skip-name-resolve"]</a:t>
            </a:r>
            <a:endParaRPr lang="en-US" sz="1150" dirty="0"/>
          </a:p>
          <a:p>
            <a:pPr algn="l" indent="0" marL="0">
              <a:lnSpc>
                <a:spcPts val="1840"/>
              </a:lnSpc>
              <a:buNone/>
            </a:pPr>
            <a:r>
              <a:rPr lang="en-US" sz="1150" dirty="0">
                <a:solidFill>
                  <a:srgbClr val="334155"/>
                </a:solidFill>
                <a:latin typeface="JetBrains Mono" pitchFamily="49" charset="0"/>
                <a:ea typeface="JetBrains Mono" pitchFamily="49" charset="-122"/>
                <a:cs typeface="JetBrains Mono" pitchFamily="49" charset="-120"/>
              </a:rPr>
              <a:t>  networks:</a:t>
            </a:r>
            <a:endParaRPr lang="en-US" sz="1150" dirty="0"/>
          </a:p>
          <a:p>
            <a:pPr algn="l" indent="0" marL="0">
              <a:lnSpc>
                <a:spcPts val="1840"/>
              </a:lnSpc>
              <a:buNone/>
            </a:pPr>
            <a:r>
              <a:rPr lang="en-US" sz="1150" dirty="0">
                <a:solidFill>
                  <a:srgbClr val="334155"/>
                </a:solidFill>
                <a:latin typeface="JetBrains Mono" pitchFamily="49" charset="0"/>
                <a:ea typeface="JetBrains Mono" pitchFamily="49" charset="-122"/>
                <a:cs typeface="JetBrains Mono" pitchFamily="49" charset="-120"/>
              </a:rPr>
              <a:t>    pos_db:</a:t>
            </a:r>
            <a:endParaRPr lang="en-US" sz="1150" dirty="0"/>
          </a:p>
          <a:p>
            <a:pPr algn="l" indent="0" marL="0">
              <a:lnSpc>
                <a:spcPts val="1840"/>
              </a:lnSpc>
              <a:buNone/>
            </a:pPr>
            <a:r>
              <a:rPr lang="en-US" sz="1150" dirty="0">
                <a:solidFill>
                  <a:srgbClr val="334155"/>
                </a:solidFill>
                <a:latin typeface="JetBrains Mono" pitchFamily="49" charset="0"/>
                <a:ea typeface="JetBrains Mono" pitchFamily="49" charset="-122"/>
                <a:cs typeface="JetBrains Mono" pitchFamily="49" charset="-120"/>
              </a:rPr>
              <a:t>      ipv4_address: </a:t>
            </a:r>
            <a:r>
              <a:rPr lang="en-US" sz="1150" b="1" dirty="0">
                <a:solidFill>
                  <a:srgbClr val="2563EB"/>
                </a:solidFill>
                <a:latin typeface="JetBrains Mono" pitchFamily="49" charset="0"/>
                <a:ea typeface="JetBrains Mono" pitchFamily="49" charset="-122"/>
                <a:cs typeface="JetBrains Mono" pitchFamily="49" charset="-120"/>
              </a:rPr>
              <a:t>172.21.0.30</a:t>
            </a:r>
            <a:endParaRPr lang="en-US" sz="1150" dirty="0"/>
          </a:p>
          <a:p>
            <a:pPr algn="l" indent="0" marL="0">
              <a:lnSpc>
                <a:spcPts val="1840"/>
              </a:lnSpc>
              <a:buNone/>
            </a:pPr>
            <a:r>
              <a:rPr lang="en-US" sz="1150" dirty="0">
                <a:solidFill>
                  <a:srgbClr val="334155"/>
                </a:solidFill>
                <a:latin typeface="JetBrains Mono" pitchFamily="49" charset="0"/>
                <a:ea typeface="JetBrains Mono" pitchFamily="49" charset="-122"/>
                <a:cs typeface="JetBrains Mono" pitchFamily="49" charset="-120"/>
              </a:rPr>
              <a:t>  </a:t>
            </a:r>
            <a:r>
              <a:rPr lang="en-US" sz="1150" dirty="0">
                <a:solidFill>
                  <a:srgbClr val="94A3B8"/>
                </a:solidFill>
                <a:latin typeface="JetBrains Mono" pitchFamily="49" charset="0"/>
                <a:ea typeface="JetBrains Mono" pitchFamily="49" charset="-122"/>
                <a:cs typeface="JetBrains Mono" pitchFamily="49" charset="-120"/>
              </a:rPr>
              <a:t># tanpa ports</a:t>
            </a:r>
            <a:endParaRPr lang="en-US" sz="1150" dirty="0"/>
          </a:p>
          <a:p>
            <a:pPr algn="l" indent="0" marL="0">
              <a:lnSpc>
                <a:spcPts val="1840"/>
              </a:lnSpc>
              <a:buNone/>
            </a:pPr>
            <a:r>
              <a:rPr lang="en-US" sz="1150" dirty="0">
                <a:solidFill>
                  <a:srgbClr val="334155"/>
                </a:solidFill>
                <a:latin typeface="JetBrains Mono" pitchFamily="49" charset="0"/>
                <a:ea typeface="JetBrains Mono" pitchFamily="49" charset="-122"/>
                <a:cs typeface="JetBrains Mono" pitchFamily="49" charset="-120"/>
              </a:rPr>
              <a:t>networks:</a:t>
            </a:r>
            <a:endParaRPr lang="en-US" sz="1150" dirty="0"/>
          </a:p>
          <a:p>
            <a:pPr algn="l" indent="0" marL="0">
              <a:lnSpc>
                <a:spcPts val="1840"/>
              </a:lnSpc>
              <a:buNone/>
            </a:pPr>
            <a:r>
              <a:rPr lang="en-US" sz="1150" dirty="0">
                <a:solidFill>
                  <a:srgbClr val="334155"/>
                </a:solidFill>
                <a:latin typeface="JetBrains Mono" pitchFamily="49" charset="0"/>
                <a:ea typeface="JetBrains Mono" pitchFamily="49" charset="-122"/>
                <a:cs typeface="JetBrains Mono" pitchFamily="49" charset="-120"/>
              </a:rPr>
              <a:t>  pos_db:</a:t>
            </a:r>
            <a:endParaRPr lang="en-US" sz="1150" dirty="0"/>
          </a:p>
          <a:p>
            <a:pPr algn="l" indent="0" marL="0">
              <a:lnSpc>
                <a:spcPts val="1840"/>
              </a:lnSpc>
              <a:buNone/>
            </a:pPr>
            <a:r>
              <a:rPr lang="en-US" sz="1150" dirty="0">
                <a:solidFill>
                  <a:srgbClr val="334155"/>
                </a:solidFill>
                <a:latin typeface="JetBrains Mono" pitchFamily="49" charset="0"/>
                <a:ea typeface="JetBrains Mono" pitchFamily="49" charset="-122"/>
                <a:cs typeface="JetBrains Mono" pitchFamily="49" charset="-120"/>
              </a:rPr>
              <a:t>    internal: </a:t>
            </a:r>
            <a:r>
              <a:rPr lang="en-US" sz="1150" b="1" dirty="0">
                <a:solidFill>
                  <a:srgbClr val="2563EB"/>
                </a:solidFill>
                <a:latin typeface="JetBrains Mono" pitchFamily="49" charset="0"/>
                <a:ea typeface="JetBrains Mono" pitchFamily="49" charset="-122"/>
                <a:cs typeface="JetBrains Mono" pitchFamily="49" charset="-120"/>
              </a:rPr>
              <a:t>true</a:t>
            </a:r>
            <a:endParaRPr lang="en-US" sz="1150" dirty="0"/>
          </a:p>
        </p:txBody>
      </p:sp>
      <p:sp>
        <p:nvSpPr>
          <p:cNvPr id="14" name="Text 12"/>
          <p:cNvSpPr/>
          <p:nvPr/>
        </p:nvSpPr>
        <p:spPr>
          <a:xfrm>
            <a:off x="6432550" y="4769842"/>
            <a:ext cx="4826889" cy="492720"/>
          </a:xfrm>
          <a:prstGeom prst="rect">
            <a:avLst/>
          </a:prstGeom>
          <a:noFill/>
          <a:ln/>
        </p:spPr>
        <p:txBody>
          <a:bodyPr wrap="square" lIns="0" tIns="0" rIns="0" bIns="0" rtlCol="0" anchor="t">
            <a:normAutofit/>
          </a:bodyPr>
          <a:lstStyle/>
          <a:p>
            <a:pPr algn="l" indent="0" marL="0">
              <a:lnSpc>
                <a:spcPts val="1840"/>
              </a:lnSpc>
              <a:buNone/>
            </a:pPr>
            <a:r>
              <a:rPr lang="en-US" sz="1150" dirty="0">
                <a:solidFill>
                  <a:srgbClr val="94A3B8"/>
                </a:solidFill>
                <a:latin typeface="JetBrains Mono" pitchFamily="49" charset="0"/>
                <a:ea typeface="JetBrains Mono" pitchFamily="49" charset="-122"/>
                <a:cs typeface="JetBrains Mono" pitchFamily="49" charset="-120"/>
              </a:rPr>
              <a:t>-- user aplikasi (init.sh)</a:t>
            </a:r>
            <a:endParaRPr lang="en-US" sz="1150" dirty="0"/>
          </a:p>
          <a:p>
            <a:pPr algn="l" indent="0" marL="0">
              <a:lnSpc>
                <a:spcPts val="1840"/>
              </a:lnSpc>
              <a:buNone/>
            </a:pPr>
            <a:r>
              <a:rPr lang="en-US" sz="1150" dirty="0">
                <a:solidFill>
                  <a:srgbClr val="334155"/>
                </a:solidFill>
                <a:latin typeface="JetBrains Mono" pitchFamily="49" charset="0"/>
                <a:ea typeface="JetBrains Mono" pitchFamily="49" charset="-122"/>
                <a:cs typeface="JetBrains Mono" pitchFamily="49" charset="-120"/>
              </a:rPr>
              <a:t>CREATE USER 'pos'@'</a:t>
            </a:r>
            <a:r>
              <a:rPr lang="en-US" sz="1150" b="1" dirty="0">
                <a:solidFill>
                  <a:srgbClr val="2563EB"/>
                </a:solidFill>
                <a:latin typeface="JetBrains Mono" pitchFamily="49" charset="0"/>
                <a:ea typeface="JetBrains Mono" pitchFamily="49" charset="-122"/>
                <a:cs typeface="JetBrains Mono" pitchFamily="49" charset="-120"/>
              </a:rPr>
              <a:t>172.21.0.20</a:t>
            </a:r>
            <a:r>
              <a:rPr lang="en-US" sz="1150" dirty="0">
                <a:solidFill>
                  <a:srgbClr val="334155"/>
                </a:solidFill>
                <a:latin typeface="JetBrains Mono" pitchFamily="49" charset="0"/>
                <a:ea typeface="JetBrains Mono" pitchFamily="49" charset="-122"/>
                <a:cs typeface="JetBrains Mono" pitchFamily="49" charset="-120"/>
              </a:rPr>
              <a:t>'</a:t>
            </a:r>
            <a:endParaRPr lang="en-US" sz="1150" dirty="0"/>
          </a:p>
        </p:txBody>
      </p:sp>
      <p:sp>
        <p:nvSpPr>
          <p:cNvPr id="15" name="Text 13"/>
          <p:cNvSpPr/>
          <p:nvPr/>
        </p:nvSpPr>
        <p:spPr>
          <a:xfrm>
            <a:off x="495808" y="6306840"/>
            <a:ext cx="10883392" cy="220960"/>
          </a:xfrm>
          <a:prstGeom prst="rect">
            <a:avLst/>
          </a:prstGeom>
          <a:noFill/>
          <a:ln/>
        </p:spPr>
        <p:txBody>
          <a:bodyPr wrap="square" lIns="0" tIns="0" rIns="0" bIns="0" rtlCol="0" anchor="t">
            <a:normAutofit/>
          </a:bodyPr>
          <a:lstStyle/>
          <a:p>
            <a:pPr algn="r" indent="0" marL="0">
              <a:lnSpc>
                <a:spcPts val="1540"/>
              </a:lnSpc>
              <a:buNone/>
            </a:pPr>
            <a:r>
              <a:rPr lang="en-US" sz="1100" dirty="0">
                <a:solidFill>
                  <a:srgbClr val="94A3B8"/>
                </a:solidFill>
                <a:latin typeface="Plus Jakarta Sans" pitchFamily="34" charset="0"/>
                <a:ea typeface="Plus Jakarta Sans" pitchFamily="34" charset="-122"/>
                <a:cs typeface="Plus Jakarta Sans" pitchFamily="34" charset="-120"/>
              </a:rPr>
              <a:t>07</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12800" y="762000"/>
            <a:ext cx="10883392" cy="25648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2563EB"/>
                </a:solidFill>
                <a:latin typeface="Plus Jakarta Sans" pitchFamily="34" charset="0"/>
                <a:ea typeface="Plus Jakarta Sans" pitchFamily="34" charset="-122"/>
                <a:cs typeface="Plus Jakarta Sans" pitchFamily="34" charset="-120"/>
              </a:rPr>
              <a:t>Ringkasan konfigurasi</a:t>
            </a:r>
            <a:endParaRPr lang="en-US" sz="1300" dirty="0"/>
          </a:p>
        </p:txBody>
      </p:sp>
      <p:sp>
        <p:nvSpPr>
          <p:cNvPr id="3" name="Text 1"/>
          <p:cNvSpPr/>
          <p:nvPr>
            <p:ph type="title"/>
          </p:nvPr>
        </p:nvSpPr>
        <p:spPr>
          <a:xfrm>
            <a:off x="812800" y="1094680"/>
            <a:ext cx="10883392" cy="463550"/>
          </a:xfrm>
          <a:prstGeom prst="rect">
            <a:avLst/>
          </a:prstGeom>
          <a:noFill/>
          <a:ln/>
        </p:spPr>
        <p:txBody>
          <a:bodyPr wrap="square" lIns="0" tIns="0" rIns="0" bIns="0" rtlCol="0" anchor="t">
            <a:normAutofit/>
          </a:bodyPr>
          <a:lstStyle/>
          <a:p>
            <a:pPr algn="l" indent="0" marL="0">
              <a:lnSpc>
                <a:spcPts val="3450"/>
              </a:lnSpc>
              <a:buNone/>
            </a:pPr>
            <a:r>
              <a:rPr lang="en-US" sz="3000" b="1" i="0" dirty="0">
                <a:solidFill>
                  <a:srgbClr val="0F172A"/>
                </a:solidFill>
                <a:latin typeface="Plus Jakarta Sans" pitchFamily="34" charset="0"/>
                <a:ea typeface="Plus Jakarta Sans" pitchFamily="34" charset="-122"/>
                <a:cs typeface="Plus Jakarta Sans" pitchFamily="34" charset="-120"/>
              </a:rPr>
              <a:t>Empat titik yang menghubungkan tiga server</a:t>
            </a:r>
            <a:endParaRPr lang="en-US" sz="3000" dirty="0"/>
          </a:p>
        </p:txBody>
      </p:sp>
      <p:sp>
        <p:nvSpPr>
          <p:cNvPr id="4" name="Shape 2"/>
          <p:cNvSpPr/>
          <p:nvPr/>
        </p:nvSpPr>
        <p:spPr>
          <a:xfrm>
            <a:off x="812800" y="1786830"/>
            <a:ext cx="10566400" cy="2197695"/>
          </a:xfrm>
          <a:prstGeom prst="rect">
            <a:avLst/>
          </a:prstGeom>
          <a:solidFill>
            <a:srgbClr val="FFFFFF"/>
          </a:solidFill>
          <a:ln/>
        </p:spPr>
      </p:sp>
      <p:sp>
        <p:nvSpPr>
          <p:cNvPr id="5" name="Shape 3"/>
          <p:cNvSpPr/>
          <p:nvPr/>
        </p:nvSpPr>
        <p:spPr>
          <a:xfrm>
            <a:off x="11376025" y="1786830"/>
            <a:ext cx="0" cy="2197695"/>
          </a:xfrm>
          <a:prstGeom prst="line">
            <a:avLst/>
          </a:prstGeom>
          <a:noFill/>
          <a:ln w="6350">
            <a:solidFill>
              <a:srgbClr val="E2E8F0"/>
            </a:solidFill>
            <a:prstDash val="solid"/>
          </a:ln>
        </p:spPr>
      </p:sp>
      <p:sp>
        <p:nvSpPr>
          <p:cNvPr id="6" name="Shape 4"/>
          <p:cNvSpPr/>
          <p:nvPr/>
        </p:nvSpPr>
        <p:spPr>
          <a:xfrm>
            <a:off x="812800" y="3981351"/>
            <a:ext cx="10566400" cy="0"/>
          </a:xfrm>
          <a:prstGeom prst="line">
            <a:avLst/>
          </a:prstGeom>
          <a:noFill/>
          <a:ln w="6350">
            <a:solidFill>
              <a:srgbClr val="E2E8F0"/>
            </a:solidFill>
            <a:prstDash val="solid"/>
          </a:ln>
        </p:spPr>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825500" y="1799530"/>
          <a:ext cx="10547350" cy="2178645"/>
        </p:xfrm>
        <a:graphic>
          <a:graphicData uri="http://schemas.openxmlformats.org/drawingml/2006/table">
            <a:tbl>
              <a:tblPr/>
              <a:tblGrid>
                <a:gridCol w="3164205"/>
                <a:gridCol w="2320417"/>
                <a:gridCol w="5062728"/>
              </a:tblGrid>
              <a:tr h="385961">
                <a:tc>
                  <a:txBody>
                    <a:bodyPr/>
                    <a:lstStyle/>
                    <a:p>
                      <a:pPr indent="0" marL="0">
                        <a:lnSpc>
                          <a:spcPts val="1960"/>
                        </a:lnSpc>
                        <a:buNone/>
                      </a:pPr>
                      <a:r>
                        <a:rPr lang="en-US" sz="1400" b="1" dirty="0">
                          <a:solidFill>
                            <a:srgbClr val="0F172A"/>
                          </a:solidFill>
                          <a:latin typeface="Plus Jakarta Sans" pitchFamily="34" charset="0"/>
                          <a:ea typeface="Plus Jakarta Sans" pitchFamily="34" charset="-122"/>
                          <a:cs typeface="Plus Jakarta Sans" pitchFamily="34" charset="-120"/>
                        </a:rPr>
                        <a:t>Hubungan</a:t>
                      </a:r>
                      <a:endParaRPr lang="en-US" sz="1400" dirty="0">
                        <a:latin typeface="Plus Jakarta Sans" charset="0"/>
                        <a:ea typeface="Plus Jakarta Sans" charset="0"/>
                        <a:cs typeface="Plus Jakarta Sans"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0C4C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0C4C6"/>
                      </a:solidFill>
                      <a:prstDash val="solid"/>
                      <a:round/>
                      <a:headEnd type="none" w="med" len="med"/>
                      <a:tailEnd type="none" w="med" len="med"/>
                    </a:lnB>
                    <a:solidFill>
                      <a:srgbClr val="F1F5F9"/>
                    </a:solidFill>
                  </a:tcPr>
                </a:tc>
                <a:tc>
                  <a:txBody>
                    <a:bodyPr/>
                    <a:lstStyle/>
                    <a:p>
                      <a:pPr indent="0" marL="0">
                        <a:lnSpc>
                          <a:spcPts val="1960"/>
                        </a:lnSpc>
                        <a:buNone/>
                      </a:pPr>
                      <a:r>
                        <a:rPr lang="en-US" sz="1400" b="1" dirty="0">
                          <a:solidFill>
                            <a:srgbClr val="0F172A"/>
                          </a:solidFill>
                          <a:latin typeface="Plus Jakarta Sans" pitchFamily="34" charset="0"/>
                          <a:ea typeface="Plus Jakarta Sans" pitchFamily="34" charset="-122"/>
                          <a:cs typeface="Plus Jakarta Sans" pitchFamily="34" charset="-120"/>
                        </a:rPr>
                        <a:t>Diatur di</a:t>
                      </a:r>
                      <a:endParaRPr lang="en-US" sz="1400" dirty="0">
                        <a:latin typeface="Plus Jakarta Sans" charset="0"/>
                        <a:ea typeface="Plus Jakarta Sans" charset="0"/>
                        <a:cs typeface="Plus Jakarta Sans" charset="0"/>
                      </a:endParaRPr>
                    </a:p>
                  </a:txBody>
                  <a:tcPr marL="62230" marR="62230" marT="62230" marB="62230" anchor="t">
                    <a:lnL w="12700" cap="flat" cmpd="sng" algn="ctr">
                      <a:solidFill>
                        <a:srgbClr val="C0C4C6"/>
                      </a:solidFill>
                      <a:prstDash val="solid"/>
                      <a:round/>
                      <a:headEnd type="none" w="med" len="med"/>
                      <a:tailEnd type="none" w="med" len="med"/>
                    </a:lnL>
                    <a:lnR w="12700" cap="flat" cmpd="sng" algn="ctr">
                      <a:solidFill>
                        <a:srgbClr val="C0C4C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0C4C6"/>
                      </a:solidFill>
                      <a:prstDash val="solid"/>
                      <a:round/>
                      <a:headEnd type="none" w="med" len="med"/>
                      <a:tailEnd type="none" w="med" len="med"/>
                    </a:lnB>
                    <a:solidFill>
                      <a:srgbClr val="F1F5F9"/>
                    </a:solidFill>
                  </a:tcPr>
                </a:tc>
                <a:tc>
                  <a:txBody>
                    <a:bodyPr/>
                    <a:lstStyle/>
                    <a:p>
                      <a:pPr indent="0" marL="0">
                        <a:lnSpc>
                          <a:spcPts val="1960"/>
                        </a:lnSpc>
                        <a:buNone/>
                      </a:pPr>
                      <a:r>
                        <a:rPr lang="en-US" sz="1400" b="1" dirty="0">
                          <a:solidFill>
                            <a:srgbClr val="0F172A"/>
                          </a:solidFill>
                          <a:latin typeface="Plus Jakarta Sans" pitchFamily="34" charset="0"/>
                          <a:ea typeface="Plus Jakarta Sans" pitchFamily="34" charset="-122"/>
                          <a:cs typeface="Plus Jakarta Sans" pitchFamily="34" charset="-120"/>
                        </a:rPr>
                        <a:t>Konfigurasi</a:t>
                      </a:r>
                      <a:endParaRPr lang="en-US" sz="1400" dirty="0">
                        <a:latin typeface="Plus Jakarta Sans" charset="0"/>
                        <a:ea typeface="Plus Jakarta Sans" charset="0"/>
                        <a:cs typeface="Plus Jakarta Sans" charset="0"/>
                      </a:endParaRPr>
                    </a:p>
                  </a:txBody>
                  <a:tcPr marL="62230" marR="62230" marT="62230" marB="62230" anchor="t">
                    <a:lnL w="12700" cap="flat" cmpd="sng" algn="ctr">
                      <a:solidFill>
                        <a:srgbClr val="C0C4C6"/>
                      </a:solidFill>
                      <a:prstDash val="solid"/>
                      <a:round/>
                      <a:headEnd type="none" w="med" len="med"/>
                      <a:tailEnd type="none" w="med" len="med"/>
                    </a:lnL>
                    <a:lnR w="12700" cap="flat" cmpd="sng" algn="ctr">
                      <a:solidFill>
                        <a:srgbClr val="C0C4C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0C4C6"/>
                      </a:solidFill>
                      <a:prstDash val="solid"/>
                      <a:round/>
                      <a:headEnd type="none" w="med" len="med"/>
                      <a:tailEnd type="none" w="med" len="med"/>
                    </a:lnB>
                    <a:solidFill>
                      <a:srgbClr val="F1F5F9"/>
                    </a:solidFill>
                  </a:tcPr>
                </a:tc>
              </a:tr>
              <a:tr h="385961">
                <a:tc>
                  <a:txBody>
                    <a:bodyPr/>
                    <a:lstStyle/>
                    <a:p>
                      <a:pPr indent="0" marL="0">
                        <a:lnSpc>
                          <a:spcPts val="1960"/>
                        </a:lnSpc>
                        <a:buNone/>
                      </a:pPr>
                      <a:r>
                        <a:rPr lang="en-US" sz="1400" dirty="0">
                          <a:solidFill>
                            <a:srgbClr val="475569"/>
                          </a:solidFill>
                          <a:latin typeface="Plus Jakarta Sans" pitchFamily="34" charset="0"/>
                          <a:ea typeface="Plus Jakarta Sans" pitchFamily="34" charset="-122"/>
                          <a:cs typeface="Plus Jakarta Sans" pitchFamily="34" charset="-120"/>
                        </a:rPr>
                        <a:t>FE tahu alamat BE</a:t>
                      </a:r>
                      <a:endParaRPr lang="en-US" sz="1400" dirty="0">
                        <a:latin typeface="Plus Jakarta Sans" charset="0"/>
                        <a:ea typeface="Plus Jakarta Sans" charset="0"/>
                        <a:cs typeface="Plus Jakarta Sans"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0C4C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960"/>
                        </a:lnSpc>
                        <a:buNone/>
                      </a:pPr>
                      <a:r>
                        <a:rPr lang="en-US" sz="1400" dirty="0">
                          <a:solidFill>
                            <a:srgbClr val="475569"/>
                          </a:solidFill>
                          <a:latin typeface="Plus Jakarta Sans" pitchFamily="34" charset="0"/>
                          <a:ea typeface="Plus Jakarta Sans" pitchFamily="34" charset="-122"/>
                          <a:cs typeface="Plus Jakarta Sans" pitchFamily="34" charset="-120"/>
                        </a:rPr>
                        <a:t>FE, saat build</a:t>
                      </a:r>
                      <a:endParaRPr lang="en-US" sz="1400" dirty="0">
                        <a:latin typeface="Plus Jakarta Sans" charset="0"/>
                        <a:ea typeface="Plus Jakarta Sans" charset="0"/>
                        <a:cs typeface="Plus Jakarta Sans"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0C4C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960"/>
                        </a:lnSpc>
                        <a:buNone/>
                      </a:pPr>
                      <a:r>
                        <a:rPr lang="en-US" sz="1400" dirty="0">
                          <a:solidFill>
                            <a:srgbClr val="475569"/>
                          </a:solidFill>
                          <a:latin typeface="Plus Jakarta Sans" pitchFamily="34" charset="0"/>
                          <a:ea typeface="Plus Jakarta Sans" pitchFamily="34" charset="-122"/>
                          <a:cs typeface="Plus Jakarta Sans" pitchFamily="34" charset="-120"/>
                        </a:rPr>
                        <a:t>VITE_API_URL=http://localhost:8000/api/v1</a:t>
                      </a:r>
                      <a:endParaRPr lang="en-US" sz="1400" dirty="0">
                        <a:latin typeface="Plus Jakarta Sans" charset="0"/>
                        <a:ea typeface="Plus Jakarta Sans" charset="0"/>
                        <a:cs typeface="Plus Jakarta Sans"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0C4C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85961">
                <a:tc>
                  <a:txBody>
                    <a:bodyPr/>
                    <a:lstStyle/>
                    <a:p>
                      <a:pPr indent="0" marL="0">
                        <a:lnSpc>
                          <a:spcPts val="1960"/>
                        </a:lnSpc>
                        <a:buNone/>
                      </a:pPr>
                      <a:r>
                        <a:rPr lang="en-US" sz="1400" dirty="0">
                          <a:solidFill>
                            <a:srgbClr val="475569"/>
                          </a:solidFill>
                          <a:latin typeface="Plus Jakarta Sans" pitchFamily="34" charset="0"/>
                          <a:ea typeface="Plus Jakarta Sans" pitchFamily="34" charset="-122"/>
                          <a:cs typeface="Plus Jakarta Sans" pitchFamily="34" charset="-120"/>
                        </a:rPr>
                        <a:t>BE mengizinkan FE</a:t>
                      </a:r>
                      <a:endParaRPr lang="en-US" sz="1400" dirty="0">
                        <a:latin typeface="Plus Jakarta Sans" charset="0"/>
                        <a:ea typeface="Plus Jakarta Sans" charset="0"/>
                        <a:cs typeface="Plus Jakarta Sans"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960"/>
                        </a:lnSpc>
                        <a:buNone/>
                      </a:pPr>
                      <a:r>
                        <a:rPr lang="en-US" sz="1400" dirty="0">
                          <a:solidFill>
                            <a:srgbClr val="475569"/>
                          </a:solidFill>
                          <a:latin typeface="Plus Jakarta Sans" pitchFamily="34" charset="0"/>
                          <a:ea typeface="Plus Jakarta Sans" pitchFamily="34" charset="-122"/>
                          <a:cs typeface="Plus Jakarta Sans" pitchFamily="34" charset="-120"/>
                        </a:rPr>
                        <a:t>BE</a:t>
                      </a:r>
                      <a:endParaRPr lang="en-US" sz="1400" dirty="0">
                        <a:latin typeface="Plus Jakarta Sans" charset="0"/>
                        <a:ea typeface="Plus Jakarta Sans" charset="0"/>
                        <a:cs typeface="Plus Jakarta Sans"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960"/>
                        </a:lnSpc>
                        <a:buNone/>
                      </a:pPr>
                      <a:r>
                        <a:rPr lang="en-US" sz="1400" dirty="0">
                          <a:solidFill>
                            <a:srgbClr val="475569"/>
                          </a:solidFill>
                          <a:latin typeface="Plus Jakarta Sans" pitchFamily="34" charset="0"/>
                          <a:ea typeface="Plus Jakarta Sans" pitchFamily="34" charset="-122"/>
                          <a:cs typeface="Plus Jakarta Sans" pitchFamily="34" charset="-120"/>
                        </a:rPr>
                        <a:t>CORS_ALLOWED_ORIGINS=http://localhost:8080</a:t>
                      </a:r>
                      <a:endParaRPr lang="en-US" sz="1400" dirty="0">
                        <a:latin typeface="Plus Jakarta Sans" charset="0"/>
                        <a:ea typeface="Plus Jakarta Sans" charset="0"/>
                        <a:cs typeface="Plus Jakarta Sans"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85961">
                <a:tc>
                  <a:txBody>
                    <a:bodyPr/>
                    <a:lstStyle/>
                    <a:p>
                      <a:pPr indent="0" marL="0">
                        <a:lnSpc>
                          <a:spcPts val="1960"/>
                        </a:lnSpc>
                        <a:buNone/>
                      </a:pPr>
                      <a:r>
                        <a:rPr lang="en-US" sz="1400" dirty="0">
                          <a:solidFill>
                            <a:srgbClr val="475569"/>
                          </a:solidFill>
                          <a:latin typeface="Plus Jakarta Sans" pitchFamily="34" charset="0"/>
                          <a:ea typeface="Plus Jakarta Sans" pitchFamily="34" charset="-122"/>
                          <a:cs typeface="Plus Jakarta Sans" pitchFamily="34" charset="-120"/>
                        </a:rPr>
                        <a:t>BE tahu alamat DB</a:t>
                      </a:r>
                      <a:endParaRPr lang="en-US" sz="1400" dirty="0">
                        <a:latin typeface="Plus Jakarta Sans" charset="0"/>
                        <a:ea typeface="Plus Jakarta Sans" charset="0"/>
                        <a:cs typeface="Plus Jakarta Sans"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960"/>
                        </a:lnSpc>
                        <a:buNone/>
                      </a:pPr>
                      <a:r>
                        <a:rPr lang="en-US" sz="1400" dirty="0">
                          <a:solidFill>
                            <a:srgbClr val="475569"/>
                          </a:solidFill>
                          <a:latin typeface="Plus Jakarta Sans" pitchFamily="34" charset="0"/>
                          <a:ea typeface="Plus Jakarta Sans" pitchFamily="34" charset="-122"/>
                          <a:cs typeface="Plus Jakarta Sans" pitchFamily="34" charset="-120"/>
                        </a:rPr>
                        <a:t>BE</a:t>
                      </a:r>
                      <a:endParaRPr lang="en-US" sz="1400" dirty="0">
                        <a:latin typeface="Plus Jakarta Sans" charset="0"/>
                        <a:ea typeface="Plus Jakarta Sans" charset="0"/>
                        <a:cs typeface="Plus Jakarta Sans"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960"/>
                        </a:lnSpc>
                        <a:buNone/>
                      </a:pPr>
                      <a:r>
                        <a:rPr lang="en-US" sz="1400" dirty="0">
                          <a:solidFill>
                            <a:srgbClr val="475569"/>
                          </a:solidFill>
                          <a:latin typeface="Plus Jakarta Sans" pitchFamily="34" charset="0"/>
                          <a:ea typeface="Plus Jakarta Sans" pitchFamily="34" charset="-122"/>
                          <a:cs typeface="Plus Jakarta Sans" pitchFamily="34" charset="-120"/>
                        </a:rPr>
                        <a:t>DB_HOST=172.21.0.30</a:t>
                      </a:r>
                      <a:endParaRPr lang="en-US" sz="1400" dirty="0">
                        <a:latin typeface="Plus Jakarta Sans" charset="0"/>
                        <a:ea typeface="Plus Jakarta Sans" charset="0"/>
                        <a:cs typeface="Plus Jakarta Sans"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634802">
                <a:tc>
                  <a:txBody>
                    <a:bodyPr/>
                    <a:lstStyle/>
                    <a:p>
                      <a:pPr indent="0" marL="0">
                        <a:lnSpc>
                          <a:spcPts val="1960"/>
                        </a:lnSpc>
                        <a:buNone/>
                      </a:pPr>
                      <a:r>
                        <a:rPr lang="en-US" sz="1400" dirty="0">
                          <a:solidFill>
                            <a:srgbClr val="475569"/>
                          </a:solidFill>
                          <a:latin typeface="Plus Jakarta Sans" pitchFamily="34" charset="0"/>
                          <a:ea typeface="Plus Jakarta Sans" pitchFamily="34" charset="-122"/>
                          <a:cs typeface="Plus Jakarta Sans" pitchFamily="34" charset="-120"/>
                        </a:rPr>
                        <a:t>DB hanya menerima BE</a:t>
                      </a:r>
                      <a:endParaRPr lang="en-US" sz="1400" dirty="0">
                        <a:latin typeface="Plus Jakarta Sans" charset="0"/>
                        <a:ea typeface="Plus Jakarta Sans" charset="0"/>
                        <a:cs typeface="Plus Jakarta Sans"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960"/>
                        </a:lnSpc>
                        <a:buNone/>
                      </a:pPr>
                      <a:r>
                        <a:rPr lang="en-US" sz="1400" dirty="0">
                          <a:solidFill>
                            <a:srgbClr val="475569"/>
                          </a:solidFill>
                          <a:latin typeface="Plus Jakarta Sans" pitchFamily="34" charset="0"/>
                          <a:ea typeface="Plus Jakarta Sans" pitchFamily="34" charset="-122"/>
                          <a:cs typeface="Plus Jakarta Sans" pitchFamily="34" charset="-120"/>
                        </a:rPr>
                        <a:t>DB dan jaringan</a:t>
                      </a:r>
                      <a:endParaRPr lang="en-US" sz="1400" dirty="0">
                        <a:latin typeface="Plus Jakarta Sans" charset="0"/>
                        <a:ea typeface="Plus Jakarta Sans" charset="0"/>
                        <a:cs typeface="Plus Jakarta Sans"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960"/>
                        </a:lnSpc>
                        <a:buNone/>
                      </a:pPr>
                      <a:r>
                        <a:rPr lang="en-US" sz="1400" dirty="0">
                          <a:solidFill>
                            <a:srgbClr val="475569"/>
                          </a:solidFill>
                          <a:latin typeface="Plus Jakarta Sans" pitchFamily="34" charset="0"/>
                          <a:ea typeface="Plus Jakarta Sans" pitchFamily="34" charset="-122"/>
                          <a:cs typeface="Plus Jakarta Sans" pitchFamily="34" charset="-120"/>
                        </a:rPr>
                        <a:t>User pos@172.21.0.20, jaringan pos_db internal, tanpa ports</a:t>
                      </a:r>
                      <a:endParaRPr lang="en-US" sz="1400" dirty="0">
                        <a:latin typeface="Plus Jakarta Sans" charset="0"/>
                        <a:ea typeface="Plus Jakarta Sans" charset="0"/>
                        <a:cs typeface="Plus Jakarta Sans"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bl>
          </a:graphicData>
        </a:graphic>
      </p:graphicFrame>
      <p:sp>
        <p:nvSpPr>
          <p:cNvPr id="8" name="Text 5"/>
          <p:cNvSpPr/>
          <p:nvPr/>
        </p:nvSpPr>
        <p:spPr>
          <a:xfrm>
            <a:off x="812800" y="4238526"/>
            <a:ext cx="10883392" cy="27424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0F172A"/>
                </a:solidFill>
                <a:latin typeface="Plus Jakarta Sans" pitchFamily="34" charset="0"/>
                <a:ea typeface="Plus Jakarta Sans" pitchFamily="34" charset="-122"/>
                <a:cs typeface="Plus Jakarta Sans" pitchFamily="34" charset="-120"/>
              </a:rPr>
              <a:t>Kalau salah satu titik keliru, gejalanya berbeda, dan itu memudahkan troubleshooting.</a:t>
            </a:r>
            <a:endParaRPr lang="en-US" sz="1400" dirty="0"/>
          </a:p>
        </p:txBody>
      </p:sp>
      <p:sp>
        <p:nvSpPr>
          <p:cNvPr id="9" name="Text 6"/>
          <p:cNvSpPr/>
          <p:nvPr/>
        </p:nvSpPr>
        <p:spPr>
          <a:xfrm>
            <a:off x="495808" y="6306840"/>
            <a:ext cx="10883392" cy="220960"/>
          </a:xfrm>
          <a:prstGeom prst="rect">
            <a:avLst/>
          </a:prstGeom>
          <a:noFill/>
          <a:ln/>
        </p:spPr>
        <p:txBody>
          <a:bodyPr wrap="square" lIns="0" tIns="0" rIns="0" bIns="0" rtlCol="0" anchor="t">
            <a:normAutofit/>
          </a:bodyPr>
          <a:lstStyle/>
          <a:p>
            <a:pPr algn="r" indent="0" marL="0">
              <a:lnSpc>
                <a:spcPts val="1540"/>
              </a:lnSpc>
              <a:buNone/>
            </a:pPr>
            <a:r>
              <a:rPr lang="en-US" sz="1100" dirty="0">
                <a:solidFill>
                  <a:srgbClr val="94A3B8"/>
                </a:solidFill>
                <a:latin typeface="Plus Jakarta Sans" pitchFamily="34" charset="0"/>
                <a:ea typeface="Plus Jakarta Sans" pitchFamily="34" charset="-122"/>
                <a:cs typeface="Plus Jakarta Sans" pitchFamily="34" charset="-120"/>
              </a:rPr>
              <a:t>08</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12800" y="762000"/>
            <a:ext cx="10883392" cy="25648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2563EB"/>
                </a:solidFill>
                <a:latin typeface="Plus Jakarta Sans" pitchFamily="34" charset="0"/>
                <a:ea typeface="Plus Jakarta Sans" pitchFamily="34" charset="-122"/>
                <a:cs typeface="Plus Jakarta Sans" pitchFamily="34" charset="-120"/>
              </a:rPr>
              <a:t>Development dan produksi</a:t>
            </a:r>
            <a:endParaRPr lang="en-US" sz="1300" dirty="0"/>
          </a:p>
        </p:txBody>
      </p:sp>
      <p:sp>
        <p:nvSpPr>
          <p:cNvPr id="3" name="Text 1"/>
          <p:cNvSpPr/>
          <p:nvPr>
            <p:ph type="title"/>
          </p:nvPr>
        </p:nvSpPr>
        <p:spPr>
          <a:xfrm>
            <a:off x="812800" y="1094680"/>
            <a:ext cx="10883392" cy="463550"/>
          </a:xfrm>
          <a:prstGeom prst="rect">
            <a:avLst/>
          </a:prstGeom>
          <a:noFill/>
          <a:ln/>
        </p:spPr>
        <p:txBody>
          <a:bodyPr wrap="square" lIns="0" tIns="0" rIns="0" bIns="0" rtlCol="0" anchor="t">
            <a:normAutofit/>
          </a:bodyPr>
          <a:lstStyle/>
          <a:p>
            <a:pPr algn="l" indent="0" marL="0">
              <a:lnSpc>
                <a:spcPts val="3450"/>
              </a:lnSpc>
              <a:buNone/>
            </a:pPr>
            <a:r>
              <a:rPr lang="en-US" sz="3000" b="1" i="0" dirty="0">
                <a:solidFill>
                  <a:srgbClr val="0F172A"/>
                </a:solidFill>
                <a:latin typeface="Plus Jakarta Sans" pitchFamily="34" charset="0"/>
                <a:ea typeface="Plus Jakarta Sans" pitchFamily="34" charset="-122"/>
                <a:cs typeface="Plus Jakarta Sans" pitchFamily="34" charset="-120"/>
              </a:rPr>
              <a:t>Satu compose dasar, ditimpa untuk produksi</a:t>
            </a:r>
            <a:endParaRPr lang="en-US" sz="3000" dirty="0"/>
          </a:p>
        </p:txBody>
      </p:sp>
      <p:sp>
        <p:nvSpPr>
          <p:cNvPr id="4" name="Shape 2"/>
          <p:cNvSpPr/>
          <p:nvPr/>
        </p:nvSpPr>
        <p:spPr>
          <a:xfrm>
            <a:off x="812800" y="1786830"/>
            <a:ext cx="10566400" cy="2334816"/>
          </a:xfrm>
          <a:prstGeom prst="rect">
            <a:avLst/>
          </a:prstGeom>
          <a:solidFill>
            <a:srgbClr val="FFFFFF"/>
          </a:solidFill>
          <a:ln/>
        </p:spPr>
      </p:sp>
      <p:sp>
        <p:nvSpPr>
          <p:cNvPr id="5" name="Shape 3"/>
          <p:cNvSpPr/>
          <p:nvPr/>
        </p:nvSpPr>
        <p:spPr>
          <a:xfrm>
            <a:off x="11376025" y="1786830"/>
            <a:ext cx="0" cy="2334816"/>
          </a:xfrm>
          <a:prstGeom prst="line">
            <a:avLst/>
          </a:prstGeom>
          <a:noFill/>
          <a:ln w="6350">
            <a:solidFill>
              <a:srgbClr val="E2E8F0"/>
            </a:solidFill>
            <a:prstDash val="solid"/>
          </a:ln>
        </p:spPr>
      </p:sp>
      <p:sp>
        <p:nvSpPr>
          <p:cNvPr id="6" name="Shape 4"/>
          <p:cNvSpPr/>
          <p:nvPr/>
        </p:nvSpPr>
        <p:spPr>
          <a:xfrm>
            <a:off x="812800" y="4118471"/>
            <a:ext cx="10566400" cy="0"/>
          </a:xfrm>
          <a:prstGeom prst="line">
            <a:avLst/>
          </a:prstGeom>
          <a:noFill/>
          <a:ln w="6350">
            <a:solidFill>
              <a:srgbClr val="E2E8F0"/>
            </a:solidFill>
            <a:prstDash val="solid"/>
          </a:ln>
        </p:spPr>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825500" y="1799530"/>
          <a:ext cx="10547350" cy="2315766"/>
        </p:xfrm>
        <a:graphic>
          <a:graphicData uri="http://schemas.openxmlformats.org/drawingml/2006/table">
            <a:tbl>
              <a:tblPr/>
              <a:tblGrid>
                <a:gridCol w="2320417"/>
                <a:gridCol w="4113466"/>
                <a:gridCol w="4113466"/>
              </a:tblGrid>
              <a:tr h="385961">
                <a:tc>
                  <a:txBody>
                    <a:bodyPr/>
                    <a:lstStyle/>
                    <a:p>
                      <a:pPr indent="0" marL="0">
                        <a:lnSpc>
                          <a:spcPts val="1960"/>
                        </a:lnSpc>
                        <a:buNone/>
                      </a:pPr>
                      <a:r>
                        <a:rPr lang="en-US" sz="1400" b="1" dirty="0">
                          <a:solidFill>
                            <a:srgbClr val="0F172A"/>
                          </a:solidFill>
                          <a:latin typeface="Plus Jakarta Sans" pitchFamily="34" charset="0"/>
                          <a:ea typeface="Plus Jakarta Sans" pitchFamily="34" charset="-122"/>
                          <a:cs typeface="Plus Jakarta Sans" pitchFamily="34" charset="-120"/>
                        </a:rPr>
                        <a:t>Aspek</a:t>
                      </a:r>
                      <a:endParaRPr lang="en-US" sz="1400" dirty="0">
                        <a:latin typeface="Plus Jakarta Sans" charset="0"/>
                        <a:ea typeface="Plus Jakarta Sans" charset="0"/>
                        <a:cs typeface="Plus Jakarta Sans"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0C4C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0C4C6"/>
                      </a:solidFill>
                      <a:prstDash val="solid"/>
                      <a:round/>
                      <a:headEnd type="none" w="med" len="med"/>
                      <a:tailEnd type="none" w="med" len="med"/>
                    </a:lnB>
                    <a:solidFill>
                      <a:srgbClr val="F1F5F9"/>
                    </a:solidFill>
                  </a:tcPr>
                </a:tc>
                <a:tc>
                  <a:txBody>
                    <a:bodyPr/>
                    <a:lstStyle/>
                    <a:p>
                      <a:pPr indent="0" marL="0">
                        <a:lnSpc>
                          <a:spcPts val="1960"/>
                        </a:lnSpc>
                        <a:buNone/>
                      </a:pPr>
                      <a:r>
                        <a:rPr lang="en-US" sz="1400" b="1" dirty="0">
                          <a:solidFill>
                            <a:srgbClr val="0F172A"/>
                          </a:solidFill>
                          <a:latin typeface="Plus Jakarta Sans" pitchFamily="34" charset="0"/>
                          <a:ea typeface="Plus Jakarta Sans" pitchFamily="34" charset="-122"/>
                          <a:cs typeface="Plus Jakarta Sans" pitchFamily="34" charset="-120"/>
                        </a:rPr>
                        <a:t>Development</a:t>
                      </a:r>
                      <a:endParaRPr lang="en-US" sz="1400" dirty="0">
                        <a:latin typeface="Plus Jakarta Sans" charset="0"/>
                        <a:ea typeface="Plus Jakarta Sans" charset="0"/>
                        <a:cs typeface="Plus Jakarta Sans" charset="0"/>
                      </a:endParaRPr>
                    </a:p>
                  </a:txBody>
                  <a:tcPr marL="62230" marR="62230" marT="62230" marB="62230" anchor="t">
                    <a:lnL w="12700" cap="flat" cmpd="sng" algn="ctr">
                      <a:solidFill>
                        <a:srgbClr val="C0C4C6"/>
                      </a:solidFill>
                      <a:prstDash val="solid"/>
                      <a:round/>
                      <a:headEnd type="none" w="med" len="med"/>
                      <a:tailEnd type="none" w="med" len="med"/>
                    </a:lnL>
                    <a:lnR w="12700" cap="flat" cmpd="sng" algn="ctr">
                      <a:solidFill>
                        <a:srgbClr val="C0C4C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0C4C6"/>
                      </a:solidFill>
                      <a:prstDash val="solid"/>
                      <a:round/>
                      <a:headEnd type="none" w="med" len="med"/>
                      <a:tailEnd type="none" w="med" len="med"/>
                    </a:lnB>
                    <a:solidFill>
                      <a:srgbClr val="F1F5F9"/>
                    </a:solidFill>
                  </a:tcPr>
                </a:tc>
                <a:tc>
                  <a:txBody>
                    <a:bodyPr/>
                    <a:lstStyle/>
                    <a:p>
                      <a:pPr indent="0" marL="0">
                        <a:lnSpc>
                          <a:spcPts val="1960"/>
                        </a:lnSpc>
                        <a:buNone/>
                      </a:pPr>
                      <a:r>
                        <a:rPr lang="en-US" sz="1400" b="1" dirty="0">
                          <a:solidFill>
                            <a:srgbClr val="0F172A"/>
                          </a:solidFill>
                          <a:latin typeface="Plus Jakarta Sans" pitchFamily="34" charset="0"/>
                          <a:ea typeface="Plus Jakarta Sans" pitchFamily="34" charset="-122"/>
                          <a:cs typeface="Plus Jakarta Sans" pitchFamily="34" charset="-120"/>
                        </a:rPr>
                        <a:t>Produksi</a:t>
                      </a:r>
                      <a:endParaRPr lang="en-US" sz="1400" dirty="0">
                        <a:latin typeface="Plus Jakarta Sans" charset="0"/>
                        <a:ea typeface="Plus Jakarta Sans" charset="0"/>
                        <a:cs typeface="Plus Jakarta Sans" charset="0"/>
                      </a:endParaRPr>
                    </a:p>
                  </a:txBody>
                  <a:tcPr marL="62230" marR="62230" marT="62230" marB="62230" anchor="t">
                    <a:lnL w="12700" cap="flat" cmpd="sng" algn="ctr">
                      <a:solidFill>
                        <a:srgbClr val="C0C4C6"/>
                      </a:solidFill>
                      <a:prstDash val="solid"/>
                      <a:round/>
                      <a:headEnd type="none" w="med" len="med"/>
                      <a:tailEnd type="none" w="med" len="med"/>
                    </a:lnL>
                    <a:lnR w="12700" cap="flat" cmpd="sng" algn="ctr">
                      <a:solidFill>
                        <a:srgbClr val="C0C4C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0C4C6"/>
                      </a:solidFill>
                      <a:prstDash val="solid"/>
                      <a:round/>
                      <a:headEnd type="none" w="med" len="med"/>
                      <a:tailEnd type="none" w="med" len="med"/>
                    </a:lnB>
                    <a:solidFill>
                      <a:srgbClr val="F1F5F9"/>
                    </a:solidFill>
                  </a:tcPr>
                </a:tc>
              </a:tr>
              <a:tr h="385961">
                <a:tc>
                  <a:txBody>
                    <a:bodyPr/>
                    <a:lstStyle/>
                    <a:p>
                      <a:pPr indent="0" marL="0">
                        <a:lnSpc>
                          <a:spcPts val="1960"/>
                        </a:lnSpc>
                        <a:buNone/>
                      </a:pPr>
                      <a:r>
                        <a:rPr lang="en-US" sz="1400" dirty="0">
                          <a:solidFill>
                            <a:srgbClr val="475569"/>
                          </a:solidFill>
                          <a:latin typeface="Plus Jakarta Sans" pitchFamily="34" charset="0"/>
                          <a:ea typeface="Plus Jakarta Sans" pitchFamily="34" charset="-122"/>
                          <a:cs typeface="Plus Jakarta Sans" pitchFamily="34" charset="-120"/>
                        </a:rPr>
                        <a:t>Server FE</a:t>
                      </a:r>
                      <a:endParaRPr lang="en-US" sz="1400" dirty="0">
                        <a:latin typeface="Plus Jakarta Sans" charset="0"/>
                        <a:ea typeface="Plus Jakarta Sans" charset="0"/>
                        <a:cs typeface="Plus Jakarta Sans"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0C4C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960"/>
                        </a:lnSpc>
                        <a:buNone/>
                      </a:pPr>
                      <a:r>
                        <a:rPr lang="en-US" sz="1400" dirty="0">
                          <a:solidFill>
                            <a:srgbClr val="475569"/>
                          </a:solidFill>
                          <a:latin typeface="Plus Jakarta Sans" pitchFamily="34" charset="0"/>
                          <a:ea typeface="Plus Jakarta Sans" pitchFamily="34" charset="-122"/>
                          <a:cs typeface="Plus Jakarta Sans" pitchFamily="34" charset="-120"/>
                        </a:rPr>
                        <a:t>Vite dev server :5173, HMR</a:t>
                      </a:r>
                      <a:endParaRPr lang="en-US" sz="1400" dirty="0">
                        <a:latin typeface="Plus Jakarta Sans" charset="0"/>
                        <a:ea typeface="Plus Jakarta Sans" charset="0"/>
                        <a:cs typeface="Plus Jakarta Sans"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0C4C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960"/>
                        </a:lnSpc>
                        <a:buNone/>
                      </a:pPr>
                      <a:r>
                        <a:rPr lang="en-US" sz="1400" dirty="0">
                          <a:solidFill>
                            <a:srgbClr val="475569"/>
                          </a:solidFill>
                          <a:latin typeface="Plus Jakarta Sans" pitchFamily="34" charset="0"/>
                          <a:ea typeface="Plus Jakarta Sans" pitchFamily="34" charset="-122"/>
                          <a:cs typeface="Plus Jakarta Sans" pitchFamily="34" charset="-120"/>
                        </a:rPr>
                        <a:t>Nginx, file statis :8080</a:t>
                      </a:r>
                      <a:endParaRPr lang="en-US" sz="1400" dirty="0">
                        <a:latin typeface="Plus Jakarta Sans" charset="0"/>
                        <a:ea typeface="Plus Jakarta Sans" charset="0"/>
                        <a:cs typeface="Plus Jakarta Sans"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0C4C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85961">
                <a:tc>
                  <a:txBody>
                    <a:bodyPr/>
                    <a:lstStyle/>
                    <a:p>
                      <a:pPr indent="0" marL="0">
                        <a:lnSpc>
                          <a:spcPts val="1960"/>
                        </a:lnSpc>
                        <a:buNone/>
                      </a:pPr>
                      <a:r>
                        <a:rPr lang="en-US" sz="1400" dirty="0">
                          <a:solidFill>
                            <a:srgbClr val="475569"/>
                          </a:solidFill>
                          <a:latin typeface="Plus Jakarta Sans" pitchFamily="34" charset="0"/>
                          <a:ea typeface="Plus Jakarta Sans" pitchFamily="34" charset="-122"/>
                          <a:cs typeface="Plus Jakarta Sans" pitchFamily="34" charset="-120"/>
                        </a:rPr>
                        <a:t>Server BE</a:t>
                      </a:r>
                      <a:endParaRPr lang="en-US" sz="1400" dirty="0">
                        <a:latin typeface="Plus Jakarta Sans" charset="0"/>
                        <a:ea typeface="Plus Jakarta Sans" charset="0"/>
                        <a:cs typeface="Plus Jakarta Sans"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960"/>
                        </a:lnSpc>
                        <a:buNone/>
                      </a:pPr>
                      <a:r>
                        <a:rPr lang="en-US" sz="1400" dirty="0">
                          <a:solidFill>
                            <a:srgbClr val="475569"/>
                          </a:solidFill>
                          <a:latin typeface="Plus Jakarta Sans" pitchFamily="34" charset="0"/>
                          <a:ea typeface="Plus Jakarta Sans" pitchFamily="34" charset="-122"/>
                          <a:cs typeface="Plus Jakarta Sans" pitchFamily="34" charset="-120"/>
                        </a:rPr>
                        <a:t>php artisan serve :8000</a:t>
                      </a:r>
                      <a:endParaRPr lang="en-US" sz="1400" dirty="0">
                        <a:latin typeface="Plus Jakarta Sans" charset="0"/>
                        <a:ea typeface="Plus Jakarta Sans" charset="0"/>
                        <a:cs typeface="Plus Jakarta Sans"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960"/>
                        </a:lnSpc>
                        <a:buNone/>
                      </a:pPr>
                      <a:r>
                        <a:rPr lang="en-US" sz="1400" dirty="0">
                          <a:solidFill>
                            <a:srgbClr val="475569"/>
                          </a:solidFill>
                          <a:latin typeface="Plus Jakarta Sans" pitchFamily="34" charset="0"/>
                          <a:ea typeface="Plus Jakarta Sans" pitchFamily="34" charset="-122"/>
                          <a:cs typeface="Plus Jakarta Sans" pitchFamily="34" charset="-120"/>
                        </a:rPr>
                        <a:t>Nginx dan PHP-FPM :8000</a:t>
                      </a:r>
                      <a:endParaRPr lang="en-US" sz="1400" dirty="0">
                        <a:latin typeface="Plus Jakarta Sans" charset="0"/>
                        <a:ea typeface="Plus Jakarta Sans" charset="0"/>
                        <a:cs typeface="Plus Jakarta Sans"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85961">
                <a:tc>
                  <a:txBody>
                    <a:bodyPr/>
                    <a:lstStyle/>
                    <a:p>
                      <a:pPr indent="0" marL="0">
                        <a:lnSpc>
                          <a:spcPts val="1960"/>
                        </a:lnSpc>
                        <a:buNone/>
                      </a:pPr>
                      <a:r>
                        <a:rPr lang="en-US" sz="1400" dirty="0">
                          <a:solidFill>
                            <a:srgbClr val="475569"/>
                          </a:solidFill>
                          <a:latin typeface="Plus Jakarta Sans" pitchFamily="34" charset="0"/>
                          <a:ea typeface="Plus Jakarta Sans" pitchFamily="34" charset="-122"/>
                          <a:cs typeface="Plus Jakarta Sans" pitchFamily="34" charset="-120"/>
                        </a:rPr>
                        <a:t>Kode</a:t>
                      </a:r>
                      <a:endParaRPr lang="en-US" sz="1400" dirty="0">
                        <a:latin typeface="Plus Jakarta Sans" charset="0"/>
                        <a:ea typeface="Plus Jakarta Sans" charset="0"/>
                        <a:cs typeface="Plus Jakarta Sans"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960"/>
                        </a:lnSpc>
                        <a:buNone/>
                      </a:pPr>
                      <a:r>
                        <a:rPr lang="en-US" sz="1400" dirty="0">
                          <a:solidFill>
                            <a:srgbClr val="475569"/>
                          </a:solidFill>
                          <a:latin typeface="Plus Jakarta Sans" pitchFamily="34" charset="0"/>
                          <a:ea typeface="Plus Jakarta Sans" pitchFamily="34" charset="-122"/>
                          <a:cs typeface="Plus Jakarta Sans" pitchFamily="34" charset="-120"/>
                        </a:rPr>
                        <a:t>Di-mount dari laptop</a:t>
                      </a:r>
                      <a:endParaRPr lang="en-US" sz="1400" dirty="0">
                        <a:latin typeface="Plus Jakarta Sans" charset="0"/>
                        <a:ea typeface="Plus Jakarta Sans" charset="0"/>
                        <a:cs typeface="Plus Jakarta Sans"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960"/>
                        </a:lnSpc>
                        <a:buNone/>
                      </a:pPr>
                      <a:r>
                        <a:rPr lang="en-US" sz="1400" dirty="0">
                          <a:solidFill>
                            <a:srgbClr val="475569"/>
                          </a:solidFill>
                          <a:latin typeface="Plus Jakarta Sans" pitchFamily="34" charset="0"/>
                          <a:ea typeface="Plus Jakarta Sans" pitchFamily="34" charset="-122"/>
                          <a:cs typeface="Plus Jakarta Sans" pitchFamily="34" charset="-120"/>
                        </a:rPr>
                        <a:t>Disalin ke dalam image</a:t>
                      </a:r>
                      <a:endParaRPr lang="en-US" sz="1400" dirty="0">
                        <a:latin typeface="Plus Jakarta Sans" charset="0"/>
                        <a:ea typeface="Plus Jakarta Sans" charset="0"/>
                        <a:cs typeface="Plus Jakarta Sans"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85961">
                <a:tc>
                  <a:txBody>
                    <a:bodyPr/>
                    <a:lstStyle/>
                    <a:p>
                      <a:pPr indent="0" marL="0">
                        <a:lnSpc>
                          <a:spcPts val="1960"/>
                        </a:lnSpc>
                        <a:buNone/>
                      </a:pPr>
                      <a:r>
                        <a:rPr lang="en-US" sz="1400" dirty="0">
                          <a:solidFill>
                            <a:srgbClr val="475569"/>
                          </a:solidFill>
                          <a:latin typeface="Plus Jakarta Sans" pitchFamily="34" charset="0"/>
                          <a:ea typeface="Plus Jakarta Sans" pitchFamily="34" charset="-122"/>
                          <a:cs typeface="Plus Jakarta Sans" pitchFamily="34" charset="-120"/>
                        </a:rPr>
                        <a:t>Error</a:t>
                      </a:r>
                      <a:endParaRPr lang="en-US" sz="1400" dirty="0">
                        <a:latin typeface="Plus Jakarta Sans" charset="0"/>
                        <a:ea typeface="Plus Jakarta Sans" charset="0"/>
                        <a:cs typeface="Plus Jakarta Sans"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960"/>
                        </a:lnSpc>
                        <a:buNone/>
                      </a:pPr>
                      <a:r>
                        <a:rPr lang="en-US" sz="1400" dirty="0">
                          <a:solidFill>
                            <a:srgbClr val="475569"/>
                          </a:solidFill>
                          <a:latin typeface="Plus Jakarta Sans" pitchFamily="34" charset="0"/>
                          <a:ea typeface="Plus Jakarta Sans" pitchFamily="34" charset="-122"/>
                          <a:cs typeface="Plus Jakarta Sans" pitchFamily="34" charset="-120"/>
                        </a:rPr>
                        <a:t>APP_DEBUG=true, detail lengkap</a:t>
                      </a:r>
                      <a:endParaRPr lang="en-US" sz="1400" dirty="0">
                        <a:latin typeface="Plus Jakarta Sans" charset="0"/>
                        <a:ea typeface="Plus Jakarta Sans" charset="0"/>
                        <a:cs typeface="Plus Jakarta Sans"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960"/>
                        </a:lnSpc>
                        <a:buNone/>
                      </a:pPr>
                      <a:r>
                        <a:rPr lang="en-US" sz="1400" dirty="0">
                          <a:solidFill>
                            <a:srgbClr val="475569"/>
                          </a:solidFill>
                          <a:latin typeface="Plus Jakarta Sans" pitchFamily="34" charset="0"/>
                          <a:ea typeface="Plus Jakarta Sans" pitchFamily="34" charset="-122"/>
                          <a:cs typeface="Plus Jakarta Sans" pitchFamily="34" charset="-120"/>
                        </a:rPr>
                        <a:t>APP_DEBUG=false, pesan singkat</a:t>
                      </a:r>
                      <a:endParaRPr lang="en-US" sz="1400" dirty="0">
                        <a:latin typeface="Plus Jakarta Sans" charset="0"/>
                        <a:ea typeface="Plus Jakarta Sans" charset="0"/>
                        <a:cs typeface="Plus Jakarta Sans"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85961">
                <a:tc>
                  <a:txBody>
                    <a:bodyPr/>
                    <a:lstStyle/>
                    <a:p>
                      <a:pPr indent="0" marL="0">
                        <a:lnSpc>
                          <a:spcPts val="1960"/>
                        </a:lnSpc>
                        <a:buNone/>
                      </a:pPr>
                      <a:r>
                        <a:rPr lang="en-US" sz="1400" dirty="0">
                          <a:solidFill>
                            <a:srgbClr val="475569"/>
                          </a:solidFill>
                          <a:latin typeface="Plus Jakarta Sans" pitchFamily="34" charset="0"/>
                          <a:ea typeface="Plus Jakarta Sans" pitchFamily="34" charset="-122"/>
                          <a:cs typeface="Plus Jakarta Sans" pitchFamily="34" charset="-120"/>
                        </a:rPr>
                        <a:t>Perintah</a:t>
                      </a:r>
                      <a:endParaRPr lang="en-US" sz="1400" dirty="0">
                        <a:latin typeface="Plus Jakarta Sans" charset="0"/>
                        <a:ea typeface="Plus Jakarta Sans" charset="0"/>
                        <a:cs typeface="Plus Jakarta Sans"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960"/>
                        </a:lnSpc>
                        <a:buNone/>
                      </a:pPr>
                      <a:r>
                        <a:rPr lang="en-US" sz="1400" dirty="0">
                          <a:solidFill>
                            <a:srgbClr val="475569"/>
                          </a:solidFill>
                          <a:latin typeface="Plus Jakarta Sans" pitchFamily="34" charset="0"/>
                          <a:ea typeface="Plus Jakarta Sans" pitchFamily="34" charset="-122"/>
                          <a:cs typeface="Plus Jakarta Sans" pitchFamily="34" charset="-120"/>
                        </a:rPr>
                        <a:t>docker compose up -d</a:t>
                      </a:r>
                      <a:endParaRPr lang="en-US" sz="1400" dirty="0">
                        <a:latin typeface="Plus Jakarta Sans" charset="0"/>
                        <a:ea typeface="Plus Jakarta Sans" charset="0"/>
                        <a:cs typeface="Plus Jakarta Sans"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960"/>
                        </a:lnSpc>
                        <a:buNone/>
                      </a:pPr>
                      <a:r>
                        <a:rPr lang="en-US" sz="1400" dirty="0">
                          <a:solidFill>
                            <a:srgbClr val="475569"/>
                          </a:solidFill>
                          <a:latin typeface="Plus Jakarta Sans" pitchFamily="34" charset="0"/>
                          <a:ea typeface="Plus Jakarta Sans" pitchFamily="34" charset="-122"/>
                          <a:cs typeface="Plus Jakarta Sans" pitchFamily="34" charset="-120"/>
                        </a:rPr>
                        <a:t>Tambah file docker-compose.prod.yml</a:t>
                      </a:r>
                      <a:endParaRPr lang="en-US" sz="1400" dirty="0">
                        <a:latin typeface="Plus Jakarta Sans" charset="0"/>
                        <a:ea typeface="Plus Jakarta Sans" charset="0"/>
                        <a:cs typeface="Plus Jakarta Sans"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bl>
          </a:graphicData>
        </a:graphic>
      </p:graphicFrame>
      <p:sp>
        <p:nvSpPr>
          <p:cNvPr id="8" name="Text 5"/>
          <p:cNvSpPr/>
          <p:nvPr/>
        </p:nvSpPr>
        <p:spPr>
          <a:xfrm>
            <a:off x="812800" y="4375646"/>
            <a:ext cx="10883392" cy="27424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0F172A"/>
                </a:solidFill>
                <a:latin typeface="Plus Jakarta Sans" pitchFamily="34" charset="0"/>
                <a:ea typeface="Plus Jakarta Sans" pitchFamily="34" charset="-122"/>
                <a:cs typeface="Plus Jakarta Sans" pitchFamily="34" charset="-120"/>
              </a:rPr>
              <a:t>Database dan jaringan sama persis di kedua mode. Yang berubah hanya cara FE dan BE dijalankan.</a:t>
            </a:r>
            <a:endParaRPr lang="en-US" sz="1400" dirty="0"/>
          </a:p>
        </p:txBody>
      </p:sp>
      <p:sp>
        <p:nvSpPr>
          <p:cNvPr id="9" name="Text 6"/>
          <p:cNvSpPr/>
          <p:nvPr/>
        </p:nvSpPr>
        <p:spPr>
          <a:xfrm>
            <a:off x="495808" y="6306840"/>
            <a:ext cx="10883392" cy="220960"/>
          </a:xfrm>
          <a:prstGeom prst="rect">
            <a:avLst/>
          </a:prstGeom>
          <a:noFill/>
          <a:ln/>
        </p:spPr>
        <p:txBody>
          <a:bodyPr wrap="square" lIns="0" tIns="0" rIns="0" bIns="0" rtlCol="0" anchor="t">
            <a:normAutofit/>
          </a:bodyPr>
          <a:lstStyle/>
          <a:p>
            <a:pPr algn="r" indent="0" marL="0">
              <a:lnSpc>
                <a:spcPts val="1540"/>
              </a:lnSpc>
              <a:buNone/>
            </a:pPr>
            <a:r>
              <a:rPr lang="en-US" sz="1100" dirty="0">
                <a:solidFill>
                  <a:srgbClr val="94A3B8"/>
                </a:solidFill>
                <a:latin typeface="Plus Jakarta Sans" pitchFamily="34" charset="0"/>
                <a:ea typeface="Plus Jakarta Sans" pitchFamily="34" charset="-122"/>
                <a:cs typeface="Plus Jakarta Sans" pitchFamily="34" charset="-120"/>
              </a:rPr>
              <a:t>09</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12800" y="762000"/>
            <a:ext cx="10883392" cy="25648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2563EB"/>
                </a:solidFill>
                <a:latin typeface="Plus Jakarta Sans" pitchFamily="34" charset="0"/>
                <a:ea typeface="Plus Jakarta Sans" pitchFamily="34" charset="-122"/>
                <a:cs typeface="Plus Jakarta Sans" pitchFamily="34" charset="-120"/>
              </a:rPr>
              <a:t>Keamanan</a:t>
            </a:r>
            <a:endParaRPr lang="en-US" sz="1300" dirty="0"/>
          </a:p>
        </p:txBody>
      </p:sp>
      <p:sp>
        <p:nvSpPr>
          <p:cNvPr id="3" name="Text 1"/>
          <p:cNvSpPr/>
          <p:nvPr>
            <p:ph type="title"/>
          </p:nvPr>
        </p:nvSpPr>
        <p:spPr>
          <a:xfrm>
            <a:off x="812800" y="1094680"/>
            <a:ext cx="10883392" cy="463550"/>
          </a:xfrm>
          <a:prstGeom prst="rect">
            <a:avLst/>
          </a:prstGeom>
          <a:noFill/>
          <a:ln/>
        </p:spPr>
        <p:txBody>
          <a:bodyPr wrap="square" lIns="0" tIns="0" rIns="0" bIns="0" rtlCol="0" anchor="t">
            <a:normAutofit/>
          </a:bodyPr>
          <a:lstStyle/>
          <a:p>
            <a:pPr algn="l" indent="0" marL="0">
              <a:lnSpc>
                <a:spcPts val="3450"/>
              </a:lnSpc>
              <a:buNone/>
            </a:pPr>
            <a:r>
              <a:rPr lang="en-US" sz="3000" b="1" i="0" dirty="0">
                <a:solidFill>
                  <a:srgbClr val="0F172A"/>
                </a:solidFill>
                <a:latin typeface="Plus Jakarta Sans" pitchFamily="34" charset="0"/>
                <a:ea typeface="Plus Jakarta Sans" pitchFamily="34" charset="-122"/>
                <a:cs typeface="Plus Jakarta Sans" pitchFamily="34" charset="-120"/>
              </a:rPr>
              <a:t>Akses dibatasi di setiap lapis</a:t>
            </a:r>
            <a:endParaRPr lang="en-US" sz="3000" dirty="0"/>
          </a:p>
        </p:txBody>
      </p:sp>
      <p:sp>
        <p:nvSpPr>
          <p:cNvPr id="4" name="Shape 2"/>
          <p:cNvSpPr/>
          <p:nvPr/>
        </p:nvSpPr>
        <p:spPr>
          <a:xfrm>
            <a:off x="815975" y="1790005"/>
            <a:ext cx="3380284" cy="1836241"/>
          </a:xfrm>
          <a:prstGeom prst="roundRect">
            <a:avLst>
              <a:gd name="adj" fmla="val 3977"/>
            </a:avLst>
          </a:prstGeom>
          <a:solidFill>
            <a:srgbClr val="FFFFFF"/>
          </a:solidFill>
          <a:ln w="6350">
            <a:solidFill>
              <a:srgbClr val="E2E8F0"/>
            </a:solidFill>
            <a:prstDash val="solid"/>
          </a:ln>
        </p:spPr>
      </p:sp>
      <p:sp>
        <p:nvSpPr>
          <p:cNvPr id="5" name="Text 3"/>
          <p:cNvSpPr/>
          <p:nvPr/>
        </p:nvSpPr>
        <p:spPr>
          <a:xfrm>
            <a:off x="1047750" y="2021780"/>
            <a:ext cx="3004236"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0F172A"/>
                </a:solidFill>
                <a:latin typeface="Plus Jakarta Sans" pitchFamily="34" charset="0"/>
                <a:ea typeface="Plus Jakarta Sans" pitchFamily="34" charset="-122"/>
                <a:cs typeface="Plus Jakarta Sans" pitchFamily="34" charset="-120"/>
              </a:rPr>
              <a:t>DB tidak publik</a:t>
            </a:r>
            <a:endParaRPr lang="en-US" sz="1500" dirty="0"/>
          </a:p>
        </p:txBody>
      </p:sp>
      <p:sp>
        <p:nvSpPr>
          <p:cNvPr id="6" name="Text 4"/>
          <p:cNvSpPr/>
          <p:nvPr/>
        </p:nvSpPr>
        <p:spPr>
          <a:xfrm>
            <a:off x="1047750" y="2326580"/>
            <a:ext cx="3004236" cy="485775"/>
          </a:xfrm>
          <a:prstGeom prst="rect">
            <a:avLst/>
          </a:prstGeom>
          <a:noFill/>
          <a:ln/>
        </p:spPr>
        <p:txBody>
          <a:bodyPr wrap="square" lIns="0" tIns="0" rIns="0" bIns="0" rtlCol="0" anchor="t">
            <a:normAutofit/>
          </a:bodyPr>
          <a:lstStyle/>
          <a:p>
            <a:pPr algn="l" indent="0" marL="0">
              <a:lnSpc>
                <a:spcPts val="1813"/>
              </a:lnSpc>
              <a:buNone/>
            </a:pPr>
            <a:r>
              <a:rPr lang="en-US" sz="1250" dirty="0">
                <a:solidFill>
                  <a:srgbClr val="475569"/>
                </a:solidFill>
                <a:latin typeface="Plus Jakarta Sans" pitchFamily="34" charset="0"/>
                <a:ea typeface="Plus Jakarta Sans" pitchFamily="34" charset="-122"/>
                <a:cs typeface="Plus Jakarta Sans" pitchFamily="34" charset="-120"/>
              </a:rPr>
              <a:t>Tanpa ports dan berada di jaringan internal.</a:t>
            </a:r>
            <a:endParaRPr lang="en-US" sz="1250" dirty="0"/>
          </a:p>
        </p:txBody>
      </p:sp>
      <p:sp>
        <p:nvSpPr>
          <p:cNvPr id="7" name="Shape 5"/>
          <p:cNvSpPr/>
          <p:nvPr/>
        </p:nvSpPr>
        <p:spPr>
          <a:xfrm>
            <a:off x="4405809" y="1790005"/>
            <a:ext cx="3380284" cy="1836241"/>
          </a:xfrm>
          <a:prstGeom prst="roundRect">
            <a:avLst>
              <a:gd name="adj" fmla="val 3977"/>
            </a:avLst>
          </a:prstGeom>
          <a:solidFill>
            <a:srgbClr val="FFFFFF"/>
          </a:solidFill>
          <a:ln w="6350">
            <a:solidFill>
              <a:srgbClr val="E2E8F0"/>
            </a:solidFill>
            <a:prstDash val="solid"/>
          </a:ln>
        </p:spPr>
      </p:sp>
      <p:sp>
        <p:nvSpPr>
          <p:cNvPr id="8" name="Text 6"/>
          <p:cNvSpPr/>
          <p:nvPr/>
        </p:nvSpPr>
        <p:spPr>
          <a:xfrm>
            <a:off x="4637584" y="2021780"/>
            <a:ext cx="3004236"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0F172A"/>
                </a:solidFill>
                <a:latin typeface="Plus Jakarta Sans" pitchFamily="34" charset="0"/>
                <a:ea typeface="Plus Jakarta Sans" pitchFamily="34" charset="-122"/>
                <a:cs typeface="Plus Jakarta Sans" pitchFamily="34" charset="-120"/>
              </a:rPr>
              <a:t>Akses DB per IP</a:t>
            </a:r>
            <a:endParaRPr lang="en-US" sz="1500" dirty="0"/>
          </a:p>
        </p:txBody>
      </p:sp>
      <p:sp>
        <p:nvSpPr>
          <p:cNvPr id="9" name="Text 7"/>
          <p:cNvSpPr/>
          <p:nvPr/>
        </p:nvSpPr>
        <p:spPr>
          <a:xfrm>
            <a:off x="4637584" y="2326580"/>
            <a:ext cx="3004236" cy="485775"/>
          </a:xfrm>
          <a:prstGeom prst="rect">
            <a:avLst/>
          </a:prstGeom>
          <a:noFill/>
          <a:ln/>
        </p:spPr>
        <p:txBody>
          <a:bodyPr wrap="square" lIns="0" tIns="0" rIns="0" bIns="0" rtlCol="0" anchor="t">
            <a:normAutofit/>
          </a:bodyPr>
          <a:lstStyle/>
          <a:p>
            <a:pPr algn="l" indent="0" marL="0">
              <a:lnSpc>
                <a:spcPts val="1813"/>
              </a:lnSpc>
              <a:buNone/>
            </a:pPr>
            <a:r>
              <a:rPr lang="en-US" sz="1250" dirty="0">
                <a:solidFill>
                  <a:srgbClr val="475569"/>
                </a:solidFill>
                <a:latin typeface="Plus Jakarta Sans" pitchFamily="34" charset="0"/>
                <a:ea typeface="Plus Jakarta Sans" pitchFamily="34" charset="-122"/>
                <a:cs typeface="Plus Jakarta Sans" pitchFamily="34" charset="-120"/>
              </a:rPr>
              <a:t>User pos hanya dari IP BE, root hanya dari localhost.</a:t>
            </a:r>
            <a:endParaRPr lang="en-US" sz="1250" dirty="0"/>
          </a:p>
        </p:txBody>
      </p:sp>
      <p:sp>
        <p:nvSpPr>
          <p:cNvPr id="10" name="Shape 8"/>
          <p:cNvSpPr/>
          <p:nvPr/>
        </p:nvSpPr>
        <p:spPr>
          <a:xfrm>
            <a:off x="7995642" y="1790005"/>
            <a:ext cx="3380284" cy="1836241"/>
          </a:xfrm>
          <a:prstGeom prst="roundRect">
            <a:avLst>
              <a:gd name="adj" fmla="val 3977"/>
            </a:avLst>
          </a:prstGeom>
          <a:solidFill>
            <a:srgbClr val="FFFFFF"/>
          </a:solidFill>
          <a:ln w="6350">
            <a:solidFill>
              <a:srgbClr val="E2E8F0"/>
            </a:solidFill>
            <a:prstDash val="solid"/>
          </a:ln>
        </p:spPr>
      </p:sp>
      <p:sp>
        <p:nvSpPr>
          <p:cNvPr id="11" name="Text 9"/>
          <p:cNvSpPr/>
          <p:nvPr/>
        </p:nvSpPr>
        <p:spPr>
          <a:xfrm>
            <a:off x="8227417" y="2021780"/>
            <a:ext cx="3004236"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0F172A"/>
                </a:solidFill>
                <a:latin typeface="Plus Jakarta Sans" pitchFamily="34" charset="0"/>
                <a:ea typeface="Plus Jakarta Sans" pitchFamily="34" charset="-122"/>
                <a:cs typeface="Plus Jakarta Sans" pitchFamily="34" charset="-120"/>
              </a:rPr>
              <a:t>CORS ketat</a:t>
            </a:r>
            <a:endParaRPr lang="en-US" sz="1500" dirty="0"/>
          </a:p>
        </p:txBody>
      </p:sp>
      <p:sp>
        <p:nvSpPr>
          <p:cNvPr id="12" name="Text 10"/>
          <p:cNvSpPr/>
          <p:nvPr/>
        </p:nvSpPr>
        <p:spPr>
          <a:xfrm>
            <a:off x="8227417" y="2326580"/>
            <a:ext cx="3004236" cy="485775"/>
          </a:xfrm>
          <a:prstGeom prst="rect">
            <a:avLst/>
          </a:prstGeom>
          <a:noFill/>
          <a:ln/>
        </p:spPr>
        <p:txBody>
          <a:bodyPr wrap="square" lIns="0" tIns="0" rIns="0" bIns="0" rtlCol="0" anchor="t">
            <a:normAutofit/>
          </a:bodyPr>
          <a:lstStyle/>
          <a:p>
            <a:pPr algn="l" indent="0" marL="0">
              <a:lnSpc>
                <a:spcPts val="1813"/>
              </a:lnSpc>
              <a:buNone/>
            </a:pPr>
            <a:r>
              <a:rPr lang="en-US" sz="1250" dirty="0">
                <a:solidFill>
                  <a:srgbClr val="475569"/>
                </a:solidFill>
                <a:latin typeface="Plus Jakarta Sans" pitchFamily="34" charset="0"/>
                <a:ea typeface="Plus Jakarta Sans" pitchFamily="34" charset="-122"/>
                <a:cs typeface="Plus Jakarta Sans" pitchFamily="34" charset="-120"/>
              </a:rPr>
              <a:t>Hanya origin FE yang diizinkan, termasuk port-nya.</a:t>
            </a:r>
            <a:endParaRPr lang="en-US" sz="1250" dirty="0"/>
          </a:p>
        </p:txBody>
      </p:sp>
      <p:sp>
        <p:nvSpPr>
          <p:cNvPr id="13" name="Shape 11"/>
          <p:cNvSpPr/>
          <p:nvPr/>
        </p:nvSpPr>
        <p:spPr>
          <a:xfrm>
            <a:off x="815975" y="3835797"/>
            <a:ext cx="3380284" cy="2066528"/>
          </a:xfrm>
          <a:prstGeom prst="roundRect">
            <a:avLst>
              <a:gd name="adj" fmla="val 3534"/>
            </a:avLst>
          </a:prstGeom>
          <a:solidFill>
            <a:srgbClr val="FFFFFF"/>
          </a:solidFill>
          <a:ln w="6350">
            <a:solidFill>
              <a:srgbClr val="E2E8F0"/>
            </a:solidFill>
            <a:prstDash val="solid"/>
          </a:ln>
        </p:spPr>
      </p:sp>
      <p:sp>
        <p:nvSpPr>
          <p:cNvPr id="14" name="Text 12"/>
          <p:cNvSpPr/>
          <p:nvPr/>
        </p:nvSpPr>
        <p:spPr>
          <a:xfrm>
            <a:off x="1047750" y="4067572"/>
            <a:ext cx="3004236"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0F172A"/>
                </a:solidFill>
                <a:latin typeface="Plus Jakarta Sans" pitchFamily="34" charset="0"/>
                <a:ea typeface="Plus Jakarta Sans" pitchFamily="34" charset="-122"/>
                <a:cs typeface="Plus Jakarta Sans" pitchFamily="34" charset="-120"/>
              </a:rPr>
              <a:t>Rahasia di luar image</a:t>
            </a:r>
            <a:endParaRPr lang="en-US" sz="1500" dirty="0"/>
          </a:p>
        </p:txBody>
      </p:sp>
      <p:sp>
        <p:nvSpPr>
          <p:cNvPr id="15" name="Text 13"/>
          <p:cNvSpPr/>
          <p:nvPr/>
        </p:nvSpPr>
        <p:spPr>
          <a:xfrm>
            <a:off x="1047750" y="4372372"/>
            <a:ext cx="3004236" cy="485775"/>
          </a:xfrm>
          <a:prstGeom prst="rect">
            <a:avLst/>
          </a:prstGeom>
          <a:noFill/>
          <a:ln/>
        </p:spPr>
        <p:txBody>
          <a:bodyPr wrap="square" lIns="0" tIns="0" rIns="0" bIns="0" rtlCol="0" anchor="t">
            <a:normAutofit/>
          </a:bodyPr>
          <a:lstStyle/>
          <a:p>
            <a:pPr algn="l" indent="0" marL="0">
              <a:lnSpc>
                <a:spcPts val="1813"/>
              </a:lnSpc>
              <a:buNone/>
            </a:pPr>
            <a:r>
              <a:rPr lang="en-US" sz="1250" dirty="0">
                <a:solidFill>
                  <a:srgbClr val="475569"/>
                </a:solidFill>
                <a:latin typeface="Plus Jakarta Sans" pitchFamily="34" charset="0"/>
                <a:ea typeface="Plus Jakarta Sans" pitchFamily="34" charset="-122"/>
                <a:cs typeface="Plus Jakarta Sans" pitchFamily="34" charset="-120"/>
              </a:rPr>
              <a:t>File .env diabaikan .dockerignore dan dikirim lewat env_file.</a:t>
            </a:r>
            <a:endParaRPr lang="en-US" sz="1250" dirty="0"/>
          </a:p>
        </p:txBody>
      </p:sp>
      <p:sp>
        <p:nvSpPr>
          <p:cNvPr id="16" name="Shape 14"/>
          <p:cNvSpPr/>
          <p:nvPr/>
        </p:nvSpPr>
        <p:spPr>
          <a:xfrm>
            <a:off x="4405809" y="3835797"/>
            <a:ext cx="3380284" cy="2066528"/>
          </a:xfrm>
          <a:prstGeom prst="roundRect">
            <a:avLst>
              <a:gd name="adj" fmla="val 3534"/>
            </a:avLst>
          </a:prstGeom>
          <a:solidFill>
            <a:srgbClr val="FFFFFF"/>
          </a:solidFill>
          <a:ln w="6350">
            <a:solidFill>
              <a:srgbClr val="E2E8F0"/>
            </a:solidFill>
            <a:prstDash val="solid"/>
          </a:ln>
        </p:spPr>
      </p:sp>
      <p:sp>
        <p:nvSpPr>
          <p:cNvPr id="17" name="Text 15"/>
          <p:cNvSpPr/>
          <p:nvPr/>
        </p:nvSpPr>
        <p:spPr>
          <a:xfrm>
            <a:off x="4637584" y="4067572"/>
            <a:ext cx="3004236"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0F172A"/>
                </a:solidFill>
                <a:latin typeface="Plus Jakarta Sans" pitchFamily="34" charset="0"/>
                <a:ea typeface="Plus Jakarta Sans" pitchFamily="34" charset="-122"/>
                <a:cs typeface="Plus Jakarta Sans" pitchFamily="34" charset="-120"/>
              </a:rPr>
              <a:t>Error tidak bocor</a:t>
            </a:r>
            <a:endParaRPr lang="en-US" sz="1500" dirty="0"/>
          </a:p>
        </p:txBody>
      </p:sp>
      <p:sp>
        <p:nvSpPr>
          <p:cNvPr id="18" name="Text 16"/>
          <p:cNvSpPr/>
          <p:nvPr/>
        </p:nvSpPr>
        <p:spPr>
          <a:xfrm>
            <a:off x="4637584" y="4372372"/>
            <a:ext cx="3004236" cy="485775"/>
          </a:xfrm>
          <a:prstGeom prst="rect">
            <a:avLst/>
          </a:prstGeom>
          <a:noFill/>
          <a:ln/>
        </p:spPr>
        <p:txBody>
          <a:bodyPr wrap="square" lIns="0" tIns="0" rIns="0" bIns="0" rtlCol="0" anchor="t">
            <a:normAutofit/>
          </a:bodyPr>
          <a:lstStyle/>
          <a:p>
            <a:pPr algn="l" indent="0" marL="0">
              <a:lnSpc>
                <a:spcPts val="1813"/>
              </a:lnSpc>
              <a:buNone/>
            </a:pPr>
            <a:r>
              <a:rPr lang="en-US" sz="1250" dirty="0">
                <a:solidFill>
                  <a:srgbClr val="475569"/>
                </a:solidFill>
                <a:latin typeface="Plus Jakarta Sans" pitchFamily="34" charset="0"/>
                <a:ea typeface="Plus Jakarta Sans" pitchFamily="34" charset="-122"/>
                <a:cs typeface="Plus Jakarta Sans" pitchFamily="34" charset="-120"/>
              </a:rPr>
              <a:t>APP_DEBUG=false, dan /.env dibalas 403 oleh Nginx.</a:t>
            </a:r>
            <a:endParaRPr lang="en-US" sz="1250" dirty="0"/>
          </a:p>
        </p:txBody>
      </p:sp>
      <p:sp>
        <p:nvSpPr>
          <p:cNvPr id="19" name="Shape 17"/>
          <p:cNvSpPr/>
          <p:nvPr/>
        </p:nvSpPr>
        <p:spPr>
          <a:xfrm>
            <a:off x="7995642" y="3835797"/>
            <a:ext cx="3380284" cy="2066528"/>
          </a:xfrm>
          <a:prstGeom prst="roundRect">
            <a:avLst>
              <a:gd name="adj" fmla="val 3534"/>
            </a:avLst>
          </a:prstGeom>
          <a:solidFill>
            <a:srgbClr val="EFF6FF"/>
          </a:solidFill>
          <a:ln w="6350">
            <a:solidFill>
              <a:srgbClr val="BFDBFE"/>
            </a:solidFill>
            <a:prstDash val="solid"/>
          </a:ln>
        </p:spPr>
      </p:sp>
      <p:sp>
        <p:nvSpPr>
          <p:cNvPr id="20" name="Text 18"/>
          <p:cNvSpPr/>
          <p:nvPr/>
        </p:nvSpPr>
        <p:spPr>
          <a:xfrm>
            <a:off x="8227417" y="4067572"/>
            <a:ext cx="3004236"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2563EB"/>
                </a:solidFill>
                <a:latin typeface="Plus Jakarta Sans" pitchFamily="34" charset="0"/>
                <a:ea typeface="Plus Jakarta Sans" pitchFamily="34" charset="-122"/>
                <a:cs typeface="Plus Jakarta Sans" pitchFamily="34" charset="-120"/>
              </a:rPr>
              <a:t>Berikutnya</a:t>
            </a:r>
            <a:endParaRPr lang="en-US" sz="1500" dirty="0"/>
          </a:p>
        </p:txBody>
      </p:sp>
      <p:sp>
        <p:nvSpPr>
          <p:cNvPr id="21" name="Text 19"/>
          <p:cNvSpPr/>
          <p:nvPr/>
        </p:nvSpPr>
        <p:spPr>
          <a:xfrm>
            <a:off x="8227417" y="4372372"/>
            <a:ext cx="3004236" cy="715963"/>
          </a:xfrm>
          <a:prstGeom prst="rect">
            <a:avLst/>
          </a:prstGeom>
          <a:noFill/>
          <a:ln/>
        </p:spPr>
        <p:txBody>
          <a:bodyPr wrap="square" lIns="0" tIns="0" rIns="0" bIns="0" rtlCol="0" anchor="t">
            <a:normAutofit/>
          </a:bodyPr>
          <a:lstStyle/>
          <a:p>
            <a:pPr algn="l" indent="0" marL="0">
              <a:lnSpc>
                <a:spcPts val="1813"/>
              </a:lnSpc>
              <a:buNone/>
            </a:pPr>
            <a:r>
              <a:rPr lang="en-US" sz="1250" dirty="0">
                <a:solidFill>
                  <a:srgbClr val="475569"/>
                </a:solidFill>
                <a:latin typeface="Plus Jakarta Sans" pitchFamily="34" charset="0"/>
                <a:ea typeface="Plus Jakarta Sans" pitchFamily="34" charset="-122"/>
                <a:cs typeface="Plus Jakarta Sans" pitchFamily="34" charset="-120"/>
              </a:rPr>
              <a:t>Least privilege: di produksi, user pos tidak perlu akses ke database pos_testing.</a:t>
            </a:r>
            <a:endParaRPr lang="en-US" sz="1250" dirty="0"/>
          </a:p>
        </p:txBody>
      </p:sp>
      <p:sp>
        <p:nvSpPr>
          <p:cNvPr id="22" name="Text 20"/>
          <p:cNvSpPr/>
          <p:nvPr/>
        </p:nvSpPr>
        <p:spPr>
          <a:xfrm>
            <a:off x="495808" y="6306840"/>
            <a:ext cx="10883392" cy="220960"/>
          </a:xfrm>
          <a:prstGeom prst="rect">
            <a:avLst/>
          </a:prstGeom>
          <a:noFill/>
          <a:ln/>
        </p:spPr>
        <p:txBody>
          <a:bodyPr wrap="square" lIns="0" tIns="0" rIns="0" bIns="0" rtlCol="0" anchor="t">
            <a:normAutofit/>
          </a:bodyPr>
          <a:lstStyle/>
          <a:p>
            <a:pPr algn="r" indent="0" marL="0">
              <a:lnSpc>
                <a:spcPts val="1540"/>
              </a:lnSpc>
              <a:buNone/>
            </a:pPr>
            <a:r>
              <a:rPr lang="en-US" sz="1100" dirty="0">
                <a:solidFill>
                  <a:srgbClr val="94A3B8"/>
                </a:solidFill>
                <a:latin typeface="Plus Jakarta Sans" pitchFamily="34" charset="0"/>
                <a:ea typeface="Plus Jakarta Sans" pitchFamily="34" charset="-122"/>
                <a:cs typeface="Plus Jakarta Sans" pitchFamily="34" charset="-120"/>
              </a:rPr>
              <a:t>10</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12800" y="762000"/>
            <a:ext cx="10883392" cy="25648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2563EB"/>
                </a:solidFill>
                <a:latin typeface="Plus Jakarta Sans" pitchFamily="34" charset="0"/>
                <a:ea typeface="Plus Jakarta Sans" pitchFamily="34" charset="-122"/>
                <a:cs typeface="Plus Jakarta Sans" pitchFamily="34" charset="-120"/>
              </a:rPr>
              <a:t>Pengujian 1 dari 2</a:t>
            </a:r>
            <a:endParaRPr lang="en-US" sz="1300" dirty="0"/>
          </a:p>
        </p:txBody>
      </p:sp>
      <p:sp>
        <p:nvSpPr>
          <p:cNvPr id="3" name="Text 1"/>
          <p:cNvSpPr/>
          <p:nvPr>
            <p:ph type="title"/>
          </p:nvPr>
        </p:nvSpPr>
        <p:spPr>
          <a:xfrm>
            <a:off x="812800" y="1094680"/>
            <a:ext cx="10883392" cy="463550"/>
          </a:xfrm>
          <a:prstGeom prst="rect">
            <a:avLst/>
          </a:prstGeom>
          <a:noFill/>
          <a:ln/>
        </p:spPr>
        <p:txBody>
          <a:bodyPr wrap="square" lIns="0" tIns="0" rIns="0" bIns="0" rtlCol="0" anchor="t">
            <a:normAutofit/>
          </a:bodyPr>
          <a:lstStyle/>
          <a:p>
            <a:pPr algn="l" indent="0" marL="0">
              <a:lnSpc>
                <a:spcPts val="3450"/>
              </a:lnSpc>
              <a:buNone/>
            </a:pPr>
            <a:r>
              <a:rPr lang="en-US" sz="3000" b="1" i="0" dirty="0">
                <a:solidFill>
                  <a:srgbClr val="0F172A"/>
                </a:solidFill>
                <a:latin typeface="Plus Jakarta Sans" pitchFamily="34" charset="0"/>
                <a:ea typeface="Plus Jakarta Sans" pitchFamily="34" charset="-122"/>
                <a:cs typeface="Plus Jakarta Sans" pitchFamily="34" charset="-120"/>
              </a:rPr>
              <a:t>Jaringan dan database: 8 dari 8 lolos</a:t>
            </a:r>
            <a:endParaRPr lang="en-US" sz="3000" dirty="0"/>
          </a:p>
        </p:txBody>
      </p:sp>
      <p:sp>
        <p:nvSpPr>
          <p:cNvPr id="4" name="Shape 2"/>
          <p:cNvSpPr/>
          <p:nvPr/>
        </p:nvSpPr>
        <p:spPr>
          <a:xfrm>
            <a:off x="812800" y="1786830"/>
            <a:ext cx="10566400" cy="3012281"/>
          </a:xfrm>
          <a:prstGeom prst="rect">
            <a:avLst/>
          </a:prstGeom>
          <a:solidFill>
            <a:srgbClr val="FFFFFF"/>
          </a:solidFill>
          <a:ln/>
        </p:spPr>
      </p:sp>
      <p:sp>
        <p:nvSpPr>
          <p:cNvPr id="5" name="Shape 3"/>
          <p:cNvSpPr/>
          <p:nvPr/>
        </p:nvSpPr>
        <p:spPr>
          <a:xfrm>
            <a:off x="11376025" y="1786830"/>
            <a:ext cx="0" cy="3012281"/>
          </a:xfrm>
          <a:prstGeom prst="line">
            <a:avLst/>
          </a:prstGeom>
          <a:noFill/>
          <a:ln w="6350">
            <a:solidFill>
              <a:srgbClr val="E2E8F0"/>
            </a:solidFill>
            <a:prstDash val="solid"/>
          </a:ln>
        </p:spPr>
      </p:sp>
      <p:sp>
        <p:nvSpPr>
          <p:cNvPr id="6" name="Shape 4"/>
          <p:cNvSpPr/>
          <p:nvPr/>
        </p:nvSpPr>
        <p:spPr>
          <a:xfrm>
            <a:off x="812800" y="4795937"/>
            <a:ext cx="10566400" cy="0"/>
          </a:xfrm>
          <a:prstGeom prst="line">
            <a:avLst/>
          </a:prstGeom>
          <a:noFill/>
          <a:ln w="6350">
            <a:solidFill>
              <a:srgbClr val="E2E8F0"/>
            </a:solidFill>
            <a:prstDash val="solid"/>
          </a:ln>
        </p:spPr>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825500" y="1799530"/>
          <a:ext cx="10547350" cy="2993231"/>
        </p:xfrm>
        <a:graphic>
          <a:graphicData uri="http://schemas.openxmlformats.org/drawingml/2006/table">
            <a:tbl>
              <a:tblPr/>
              <a:tblGrid>
                <a:gridCol w="632841"/>
                <a:gridCol w="4007993"/>
                <a:gridCol w="4640834"/>
                <a:gridCol w="1265682"/>
              </a:tblGrid>
              <a:tr h="332581">
                <a:tc>
                  <a:txBody>
                    <a:bodyPr/>
                    <a:lstStyle/>
                    <a:p>
                      <a:pPr indent="0" marL="0">
                        <a:lnSpc>
                          <a:spcPts val="1680"/>
                        </a:lnSpc>
                        <a:buNone/>
                      </a:pPr>
                      <a:r>
                        <a:rPr lang="en-US" sz="1200" b="1" dirty="0">
                          <a:solidFill>
                            <a:srgbClr val="0F172A"/>
                          </a:solidFill>
                          <a:latin typeface="Plus Jakarta Sans" pitchFamily="34" charset="0"/>
                          <a:ea typeface="Plus Jakarta Sans" pitchFamily="34" charset="-122"/>
                          <a:cs typeface="Plus Jakarta Sans" pitchFamily="34" charset="-120"/>
                        </a:rPr>
                        <a:t>#</a:t>
                      </a:r>
                      <a:endParaRPr lang="en-US" sz="1200" dirty="0">
                        <a:latin typeface="Plus Jakarta Sans" charset="0"/>
                        <a:ea typeface="Plus Jakarta Sans" charset="0"/>
                        <a:cs typeface="Plus Jakarta Sans"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0C4C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0C4C6"/>
                      </a:solidFill>
                      <a:prstDash val="solid"/>
                      <a:round/>
                      <a:headEnd type="none" w="med" len="med"/>
                      <a:tailEnd type="none" w="med" len="med"/>
                    </a:lnB>
                    <a:solidFill>
                      <a:srgbClr val="F1F5F9"/>
                    </a:solidFill>
                  </a:tcPr>
                </a:tc>
                <a:tc>
                  <a:txBody>
                    <a:bodyPr/>
                    <a:lstStyle/>
                    <a:p>
                      <a:pPr indent="0" marL="0">
                        <a:lnSpc>
                          <a:spcPts val="1680"/>
                        </a:lnSpc>
                        <a:buNone/>
                      </a:pPr>
                      <a:r>
                        <a:rPr lang="en-US" sz="1200" b="1" dirty="0">
                          <a:solidFill>
                            <a:srgbClr val="0F172A"/>
                          </a:solidFill>
                          <a:latin typeface="Plus Jakarta Sans" pitchFamily="34" charset="0"/>
                          <a:ea typeface="Plus Jakarta Sans" pitchFamily="34" charset="-122"/>
                          <a:cs typeface="Plus Jakarta Sans" pitchFamily="34" charset="-120"/>
                        </a:rPr>
                        <a:t>Uji</a:t>
                      </a:r>
                      <a:endParaRPr lang="en-US" sz="1200" dirty="0">
                        <a:latin typeface="Plus Jakarta Sans" charset="0"/>
                        <a:ea typeface="Plus Jakarta Sans" charset="0"/>
                        <a:cs typeface="Plus Jakarta Sans" charset="0"/>
                      </a:endParaRPr>
                    </a:p>
                  </a:txBody>
                  <a:tcPr marL="53340" marR="53340" marT="53340" marB="53340" anchor="t">
                    <a:lnL w="12700" cap="flat" cmpd="sng" algn="ctr">
                      <a:solidFill>
                        <a:srgbClr val="C0C4C6"/>
                      </a:solidFill>
                      <a:prstDash val="solid"/>
                      <a:round/>
                      <a:headEnd type="none" w="med" len="med"/>
                      <a:tailEnd type="none" w="med" len="med"/>
                    </a:lnL>
                    <a:lnR w="12700" cap="flat" cmpd="sng" algn="ctr">
                      <a:solidFill>
                        <a:srgbClr val="C0C4C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0C4C6"/>
                      </a:solidFill>
                      <a:prstDash val="solid"/>
                      <a:round/>
                      <a:headEnd type="none" w="med" len="med"/>
                      <a:tailEnd type="none" w="med" len="med"/>
                    </a:lnB>
                    <a:solidFill>
                      <a:srgbClr val="F1F5F9"/>
                    </a:solidFill>
                  </a:tcPr>
                </a:tc>
                <a:tc>
                  <a:txBody>
                    <a:bodyPr/>
                    <a:lstStyle/>
                    <a:p>
                      <a:pPr indent="0" marL="0">
                        <a:lnSpc>
                          <a:spcPts val="1680"/>
                        </a:lnSpc>
                        <a:buNone/>
                      </a:pPr>
                      <a:r>
                        <a:rPr lang="en-US" sz="1200" b="1" dirty="0">
                          <a:solidFill>
                            <a:srgbClr val="0F172A"/>
                          </a:solidFill>
                          <a:latin typeface="Plus Jakarta Sans" pitchFamily="34" charset="0"/>
                          <a:ea typeface="Plus Jakarta Sans" pitchFamily="34" charset="-122"/>
                          <a:cs typeface="Plus Jakarta Sans" pitchFamily="34" charset="-120"/>
                        </a:rPr>
                        <a:t>Bukti</a:t>
                      </a:r>
                      <a:endParaRPr lang="en-US" sz="1200" dirty="0">
                        <a:latin typeface="Plus Jakarta Sans" charset="0"/>
                        <a:ea typeface="Plus Jakarta Sans" charset="0"/>
                        <a:cs typeface="Plus Jakarta Sans" charset="0"/>
                      </a:endParaRPr>
                    </a:p>
                  </a:txBody>
                  <a:tcPr marL="53340" marR="53340" marT="53340" marB="53340" anchor="t">
                    <a:lnL w="12700" cap="flat" cmpd="sng" algn="ctr">
                      <a:solidFill>
                        <a:srgbClr val="C0C4C6"/>
                      </a:solidFill>
                      <a:prstDash val="solid"/>
                      <a:round/>
                      <a:headEnd type="none" w="med" len="med"/>
                      <a:tailEnd type="none" w="med" len="med"/>
                    </a:lnL>
                    <a:lnR w="12700" cap="flat" cmpd="sng" algn="ctr">
                      <a:solidFill>
                        <a:srgbClr val="C0C4C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0C4C6"/>
                      </a:solidFill>
                      <a:prstDash val="solid"/>
                      <a:round/>
                      <a:headEnd type="none" w="med" len="med"/>
                      <a:tailEnd type="none" w="med" len="med"/>
                    </a:lnB>
                    <a:solidFill>
                      <a:srgbClr val="F1F5F9"/>
                    </a:solidFill>
                  </a:tcPr>
                </a:tc>
                <a:tc>
                  <a:txBody>
                    <a:bodyPr/>
                    <a:lstStyle/>
                    <a:p>
                      <a:pPr indent="0" marL="0">
                        <a:lnSpc>
                          <a:spcPts val="1680"/>
                        </a:lnSpc>
                        <a:buNone/>
                      </a:pPr>
                      <a:r>
                        <a:rPr lang="en-US" sz="1200" b="1" dirty="0">
                          <a:solidFill>
                            <a:srgbClr val="0F172A"/>
                          </a:solidFill>
                          <a:latin typeface="Plus Jakarta Sans" pitchFamily="34" charset="0"/>
                          <a:ea typeface="Plus Jakarta Sans" pitchFamily="34" charset="-122"/>
                          <a:cs typeface="Plus Jakarta Sans" pitchFamily="34" charset="-120"/>
                        </a:rPr>
                        <a:t>Hasil</a:t>
                      </a:r>
                      <a:endParaRPr lang="en-US" sz="1200" dirty="0">
                        <a:latin typeface="Plus Jakarta Sans" charset="0"/>
                        <a:ea typeface="Plus Jakarta Sans" charset="0"/>
                        <a:cs typeface="Plus Jakarta Sans" charset="0"/>
                      </a:endParaRPr>
                    </a:p>
                  </a:txBody>
                  <a:tcPr marL="53340" marR="53340" marT="53340" marB="53340" anchor="t">
                    <a:lnL w="12700" cap="flat" cmpd="sng" algn="ctr">
                      <a:solidFill>
                        <a:srgbClr val="C0C4C6"/>
                      </a:solidFill>
                      <a:prstDash val="solid"/>
                      <a:round/>
                      <a:headEnd type="none" w="med" len="med"/>
                      <a:tailEnd type="none" w="med" len="med"/>
                    </a:lnL>
                    <a:lnR w="12700" cap="flat" cmpd="sng" algn="ctr">
                      <a:solidFill>
                        <a:srgbClr val="C0C4C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0C4C6"/>
                      </a:solidFill>
                      <a:prstDash val="solid"/>
                      <a:round/>
                      <a:headEnd type="none" w="med" len="med"/>
                      <a:tailEnd type="none" w="med" len="med"/>
                    </a:lnB>
                    <a:solidFill>
                      <a:srgbClr val="F1F5F9"/>
                    </a:solidFill>
                  </a:tcPr>
                </a:tc>
              </a:tr>
              <a:tr h="332581">
                <a:tc>
                  <a:txBody>
                    <a:bodyPr/>
                    <a:lstStyle/>
                    <a:p>
                      <a:pPr indent="0" marL="0">
                        <a:lnSpc>
                          <a:spcPts val="1680"/>
                        </a:lnSpc>
                        <a:buNone/>
                      </a:pPr>
                      <a:r>
                        <a:rPr lang="en-US" sz="1200" dirty="0">
                          <a:solidFill>
                            <a:srgbClr val="475569"/>
                          </a:solidFill>
                          <a:latin typeface="Plus Jakarta Sans" pitchFamily="34" charset="0"/>
                          <a:ea typeface="Plus Jakarta Sans" pitchFamily="34" charset="-122"/>
                          <a:cs typeface="Plus Jakarta Sans" pitchFamily="34" charset="-120"/>
                        </a:rPr>
                        <a:t>1</a:t>
                      </a:r>
                      <a:endParaRPr lang="en-US" sz="1200" dirty="0">
                        <a:latin typeface="Plus Jakarta Sans" charset="0"/>
                        <a:ea typeface="Plus Jakarta Sans" charset="0"/>
                        <a:cs typeface="Plus Jakarta Sans"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0C4C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475569"/>
                          </a:solidFill>
                          <a:latin typeface="Plus Jakarta Sans" pitchFamily="34" charset="0"/>
                          <a:ea typeface="Plus Jakarta Sans" pitchFamily="34" charset="-122"/>
                          <a:cs typeface="Plus Jakarta Sans" pitchFamily="34" charset="-120"/>
                        </a:rPr>
                        <a:t>Port DB tidak dibuka ke laptop</a:t>
                      </a:r>
                      <a:endParaRPr lang="en-US" sz="1200" dirty="0">
                        <a:latin typeface="Plus Jakarta Sans" charset="0"/>
                        <a:ea typeface="Plus Jakarta Sans" charset="0"/>
                        <a:cs typeface="Plus Jakarta Sans"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0C4C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475569"/>
                          </a:solidFill>
                          <a:latin typeface="Plus Jakarta Sans" pitchFamily="34" charset="0"/>
                          <a:ea typeface="Plus Jakarta Sans" pitchFamily="34" charset="-122"/>
                          <a:cs typeface="Plus Jakarta Sans" pitchFamily="34" charset="-120"/>
                        </a:rPr>
                        <a:t>docker port pos-mysql kosong</a:t>
                      </a:r>
                      <a:endParaRPr lang="en-US" sz="1200" dirty="0">
                        <a:latin typeface="Plus Jakarta Sans" charset="0"/>
                        <a:ea typeface="Plus Jakarta Sans" charset="0"/>
                        <a:cs typeface="Plus Jakarta Sans"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0C4C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6A34A"/>
                          </a:solidFill>
                          <a:latin typeface="Plus Jakarta Sans" pitchFamily="34" charset="0"/>
                          <a:ea typeface="Plus Jakarta Sans" pitchFamily="34" charset="-122"/>
                          <a:cs typeface="Plus Jakarta Sans" pitchFamily="34" charset="-120"/>
                        </a:rPr>
                        <a:t>Lolos</a:t>
                      </a:r>
                      <a:endParaRPr lang="en-US" sz="1200" dirty="0">
                        <a:latin typeface="Plus Jakarta Sans" charset="0"/>
                        <a:ea typeface="Plus Jakarta Sans" charset="0"/>
                        <a:cs typeface="Plus Jakarta Sans"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0C4C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581">
                <a:tc>
                  <a:txBody>
                    <a:bodyPr/>
                    <a:lstStyle/>
                    <a:p>
                      <a:pPr indent="0" marL="0">
                        <a:lnSpc>
                          <a:spcPts val="1680"/>
                        </a:lnSpc>
                        <a:buNone/>
                      </a:pPr>
                      <a:r>
                        <a:rPr lang="en-US" sz="1200" dirty="0">
                          <a:solidFill>
                            <a:srgbClr val="475569"/>
                          </a:solidFill>
                          <a:latin typeface="Plus Jakarta Sans" pitchFamily="34" charset="0"/>
                          <a:ea typeface="Plus Jakarta Sans" pitchFamily="34" charset="-122"/>
                          <a:cs typeface="Plus Jakarta Sans" pitchFamily="34" charset="-120"/>
                        </a:rPr>
                        <a:t>2</a:t>
                      </a:r>
                      <a:endParaRPr lang="en-US" sz="1200" dirty="0">
                        <a:latin typeface="Plus Jakarta Sans" charset="0"/>
                        <a:ea typeface="Plus Jakarta Sans" charset="0"/>
                        <a:cs typeface="Plus Jakarta Sans"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475569"/>
                          </a:solidFill>
                          <a:latin typeface="Plus Jakarta Sans" pitchFamily="34" charset="0"/>
                          <a:ea typeface="Plus Jakarta Sans" pitchFamily="34" charset="-122"/>
                          <a:cs typeface="Plus Jakarta Sans" pitchFamily="34" charset="-120"/>
                        </a:rPr>
                        <a:t>DB tidak terjangkau dari laptop</a:t>
                      </a:r>
                      <a:endParaRPr lang="en-US" sz="1200" dirty="0">
                        <a:latin typeface="Plus Jakarta Sans" charset="0"/>
                        <a:ea typeface="Plus Jakarta Sans" charset="0"/>
                        <a:cs typeface="Plus Jakarta Sans"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475569"/>
                          </a:solidFill>
                          <a:latin typeface="Plus Jakarta Sans" pitchFamily="34" charset="0"/>
                          <a:ea typeface="Plus Jakarta Sans" pitchFamily="34" charset="-122"/>
                          <a:cs typeface="Plus Jakarta Sans" pitchFamily="34" charset="-120"/>
                        </a:rPr>
                        <a:t>Test-NetConnection :3306 bernilai False</a:t>
                      </a:r>
                      <a:endParaRPr lang="en-US" sz="1200" dirty="0">
                        <a:latin typeface="Plus Jakarta Sans" charset="0"/>
                        <a:ea typeface="Plus Jakarta Sans" charset="0"/>
                        <a:cs typeface="Plus Jakarta Sans"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6A34A"/>
                          </a:solidFill>
                          <a:latin typeface="Plus Jakarta Sans" pitchFamily="34" charset="0"/>
                          <a:ea typeface="Plus Jakarta Sans" pitchFamily="34" charset="-122"/>
                          <a:cs typeface="Plus Jakarta Sans" pitchFamily="34" charset="-120"/>
                        </a:rPr>
                        <a:t>Lolos</a:t>
                      </a:r>
                      <a:endParaRPr lang="en-US" sz="1200" dirty="0">
                        <a:latin typeface="Plus Jakarta Sans" charset="0"/>
                        <a:ea typeface="Plus Jakarta Sans" charset="0"/>
                        <a:cs typeface="Plus Jakarta Sans"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581">
                <a:tc>
                  <a:txBody>
                    <a:bodyPr/>
                    <a:lstStyle/>
                    <a:p>
                      <a:pPr indent="0" marL="0">
                        <a:lnSpc>
                          <a:spcPts val="1680"/>
                        </a:lnSpc>
                        <a:buNone/>
                      </a:pPr>
                      <a:r>
                        <a:rPr lang="en-US" sz="1200" dirty="0">
                          <a:solidFill>
                            <a:srgbClr val="475569"/>
                          </a:solidFill>
                          <a:latin typeface="Plus Jakarta Sans" pitchFamily="34" charset="0"/>
                          <a:ea typeface="Plus Jakarta Sans" pitchFamily="34" charset="-122"/>
                          <a:cs typeface="Plus Jakarta Sans" pitchFamily="34" charset="-120"/>
                        </a:rPr>
                        <a:t>3</a:t>
                      </a:r>
                      <a:endParaRPr lang="en-US" sz="1200" dirty="0">
                        <a:latin typeface="Plus Jakarta Sans" charset="0"/>
                        <a:ea typeface="Plus Jakarta Sans" charset="0"/>
                        <a:cs typeface="Plus Jakarta Sans"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475569"/>
                          </a:solidFill>
                          <a:latin typeface="Plus Jakarta Sans" pitchFamily="34" charset="0"/>
                          <a:ea typeface="Plus Jakarta Sans" pitchFamily="34" charset="-122"/>
                          <a:cs typeface="Plus Jakarta Sans" pitchFamily="34" charset="-120"/>
                        </a:rPr>
                        <a:t>User aplikasi dikunci ke IP BE</a:t>
                      </a:r>
                      <a:endParaRPr lang="en-US" sz="1200" dirty="0">
                        <a:latin typeface="Plus Jakarta Sans" charset="0"/>
                        <a:ea typeface="Plus Jakarta Sans" charset="0"/>
                        <a:cs typeface="Plus Jakarta Sans"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475569"/>
                          </a:solidFill>
                          <a:latin typeface="Plus Jakarta Sans" pitchFamily="34" charset="0"/>
                          <a:ea typeface="Plus Jakarta Sans" pitchFamily="34" charset="-122"/>
                          <a:cs typeface="Plus Jakarta Sans" pitchFamily="34" charset="-120"/>
                        </a:rPr>
                        <a:t>mysql.user: pos dari 172.21.0.20</a:t>
                      </a:r>
                      <a:endParaRPr lang="en-US" sz="1200" dirty="0">
                        <a:latin typeface="Plus Jakarta Sans" charset="0"/>
                        <a:ea typeface="Plus Jakarta Sans" charset="0"/>
                        <a:cs typeface="Plus Jakarta Sans"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6A34A"/>
                          </a:solidFill>
                          <a:latin typeface="Plus Jakarta Sans" pitchFamily="34" charset="0"/>
                          <a:ea typeface="Plus Jakarta Sans" pitchFamily="34" charset="-122"/>
                          <a:cs typeface="Plus Jakarta Sans" pitchFamily="34" charset="-120"/>
                        </a:rPr>
                        <a:t>Lolos</a:t>
                      </a:r>
                      <a:endParaRPr lang="en-US" sz="1200" dirty="0">
                        <a:latin typeface="Plus Jakarta Sans" charset="0"/>
                        <a:ea typeface="Plus Jakarta Sans" charset="0"/>
                        <a:cs typeface="Plus Jakarta Sans"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581">
                <a:tc>
                  <a:txBody>
                    <a:bodyPr/>
                    <a:lstStyle/>
                    <a:p>
                      <a:pPr indent="0" marL="0">
                        <a:lnSpc>
                          <a:spcPts val="1680"/>
                        </a:lnSpc>
                        <a:buNone/>
                      </a:pPr>
                      <a:r>
                        <a:rPr lang="en-US" sz="1200" dirty="0">
                          <a:solidFill>
                            <a:srgbClr val="475569"/>
                          </a:solidFill>
                          <a:latin typeface="Plus Jakarta Sans" pitchFamily="34" charset="0"/>
                          <a:ea typeface="Plus Jakarta Sans" pitchFamily="34" charset="-122"/>
                          <a:cs typeface="Plus Jakarta Sans" pitchFamily="34" charset="-120"/>
                        </a:rPr>
                        <a:t>4</a:t>
                      </a:r>
                      <a:endParaRPr lang="en-US" sz="1200" dirty="0">
                        <a:latin typeface="Plus Jakarta Sans" charset="0"/>
                        <a:ea typeface="Plus Jakarta Sans" charset="0"/>
                        <a:cs typeface="Plus Jakarta Sans"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475569"/>
                          </a:solidFill>
                          <a:latin typeface="Plus Jakarta Sans" pitchFamily="34" charset="0"/>
                          <a:ea typeface="Plus Jakarta Sans" pitchFamily="34" charset="-122"/>
                          <a:cs typeface="Plus Jakarta Sans" pitchFamily="34" charset="-120"/>
                        </a:rPr>
                        <a:t>Login dari host lain ditolak</a:t>
                      </a:r>
                      <a:endParaRPr lang="en-US" sz="1200" dirty="0">
                        <a:latin typeface="Plus Jakarta Sans" charset="0"/>
                        <a:ea typeface="Plus Jakarta Sans" charset="0"/>
                        <a:cs typeface="Plus Jakarta Sans"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475569"/>
                          </a:solidFill>
                          <a:latin typeface="Plus Jakarta Sans" pitchFamily="34" charset="0"/>
                          <a:ea typeface="Plus Jakarta Sans" pitchFamily="34" charset="-122"/>
                          <a:cs typeface="Plus Jakarta Sans" pitchFamily="34" charset="-120"/>
                        </a:rPr>
                        <a:t>Access denied for 'pos'@'localhost'</a:t>
                      </a:r>
                      <a:endParaRPr lang="en-US" sz="1200" dirty="0">
                        <a:latin typeface="Plus Jakarta Sans" charset="0"/>
                        <a:ea typeface="Plus Jakarta Sans" charset="0"/>
                        <a:cs typeface="Plus Jakarta Sans"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6A34A"/>
                          </a:solidFill>
                          <a:latin typeface="Plus Jakarta Sans" pitchFamily="34" charset="0"/>
                          <a:ea typeface="Plus Jakarta Sans" pitchFamily="34" charset="-122"/>
                          <a:cs typeface="Plus Jakarta Sans" pitchFamily="34" charset="-120"/>
                        </a:rPr>
                        <a:t>Lolos</a:t>
                      </a:r>
                      <a:endParaRPr lang="en-US" sz="1200" dirty="0">
                        <a:latin typeface="Plus Jakarta Sans" charset="0"/>
                        <a:ea typeface="Plus Jakarta Sans" charset="0"/>
                        <a:cs typeface="Plus Jakarta Sans"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581">
                <a:tc>
                  <a:txBody>
                    <a:bodyPr/>
                    <a:lstStyle/>
                    <a:p>
                      <a:pPr indent="0" marL="0">
                        <a:lnSpc>
                          <a:spcPts val="1680"/>
                        </a:lnSpc>
                        <a:buNone/>
                      </a:pPr>
                      <a:r>
                        <a:rPr lang="en-US" sz="1200" dirty="0">
                          <a:solidFill>
                            <a:srgbClr val="475569"/>
                          </a:solidFill>
                          <a:latin typeface="Plus Jakarta Sans" pitchFamily="34" charset="0"/>
                          <a:ea typeface="Plus Jakarta Sans" pitchFamily="34" charset="-122"/>
                          <a:cs typeface="Plus Jakarta Sans" pitchFamily="34" charset="-120"/>
                        </a:rPr>
                        <a:t>5</a:t>
                      </a:r>
                      <a:endParaRPr lang="en-US" sz="1200" dirty="0">
                        <a:latin typeface="Plus Jakarta Sans" charset="0"/>
                        <a:ea typeface="Plus Jakarta Sans" charset="0"/>
                        <a:cs typeface="Plus Jakarta Sans"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475569"/>
                          </a:solidFill>
                          <a:latin typeface="Plus Jakarta Sans" pitchFamily="34" charset="0"/>
                          <a:ea typeface="Plus Jakarta Sans" pitchFamily="34" charset="-122"/>
                          <a:cs typeface="Plus Jakarta Sans" pitchFamily="34" charset="-120"/>
                        </a:rPr>
                        <a:t>FE tidak bisa ke IP DB</a:t>
                      </a:r>
                      <a:endParaRPr lang="en-US" sz="1200" dirty="0">
                        <a:latin typeface="Plus Jakarta Sans" charset="0"/>
                        <a:ea typeface="Plus Jakarta Sans" charset="0"/>
                        <a:cs typeface="Plus Jakarta Sans"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475569"/>
                          </a:solidFill>
                          <a:latin typeface="Plus Jakarta Sans" pitchFamily="34" charset="0"/>
                          <a:ea typeface="Plus Jakarta Sans" pitchFamily="34" charset="-122"/>
                          <a:cs typeface="Plus Jakarta Sans" pitchFamily="34" charset="-120"/>
                        </a:rPr>
                        <a:t>nc 172.21.0.30 3306: timed out</a:t>
                      </a:r>
                      <a:endParaRPr lang="en-US" sz="1200" dirty="0">
                        <a:latin typeface="Plus Jakarta Sans" charset="0"/>
                        <a:ea typeface="Plus Jakarta Sans" charset="0"/>
                        <a:cs typeface="Plus Jakarta Sans"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6A34A"/>
                          </a:solidFill>
                          <a:latin typeface="Plus Jakarta Sans" pitchFamily="34" charset="0"/>
                          <a:ea typeface="Plus Jakarta Sans" pitchFamily="34" charset="-122"/>
                          <a:cs typeface="Plus Jakarta Sans" pitchFamily="34" charset="-120"/>
                        </a:rPr>
                        <a:t>Lolos</a:t>
                      </a:r>
                      <a:endParaRPr lang="en-US" sz="1200" dirty="0">
                        <a:latin typeface="Plus Jakarta Sans" charset="0"/>
                        <a:ea typeface="Plus Jakarta Sans" charset="0"/>
                        <a:cs typeface="Plus Jakarta Sans"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581">
                <a:tc>
                  <a:txBody>
                    <a:bodyPr/>
                    <a:lstStyle/>
                    <a:p>
                      <a:pPr indent="0" marL="0">
                        <a:lnSpc>
                          <a:spcPts val="1680"/>
                        </a:lnSpc>
                        <a:buNone/>
                      </a:pPr>
                      <a:r>
                        <a:rPr lang="en-US" sz="1200" dirty="0">
                          <a:solidFill>
                            <a:srgbClr val="475569"/>
                          </a:solidFill>
                          <a:latin typeface="Plus Jakarta Sans" pitchFamily="34" charset="0"/>
                          <a:ea typeface="Plus Jakarta Sans" pitchFamily="34" charset="-122"/>
                          <a:cs typeface="Plus Jakarta Sans" pitchFamily="34" charset="-120"/>
                        </a:rPr>
                        <a:t>6</a:t>
                      </a:r>
                      <a:endParaRPr lang="en-US" sz="1200" dirty="0">
                        <a:latin typeface="Plus Jakarta Sans" charset="0"/>
                        <a:ea typeface="Plus Jakarta Sans" charset="0"/>
                        <a:cs typeface="Plus Jakarta Sans"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475569"/>
                          </a:solidFill>
                          <a:latin typeface="Plus Jakarta Sans" pitchFamily="34" charset="0"/>
                          <a:ea typeface="Plus Jakarta Sans" pitchFamily="34" charset="-122"/>
                          <a:cs typeface="Plus Jakarta Sans" pitchFamily="34" charset="-120"/>
                        </a:rPr>
                        <a:t>FE tidak mengenal nama DB</a:t>
                      </a:r>
                      <a:endParaRPr lang="en-US" sz="1200" dirty="0">
                        <a:latin typeface="Plus Jakarta Sans" charset="0"/>
                        <a:ea typeface="Plus Jakarta Sans" charset="0"/>
                        <a:cs typeface="Plus Jakarta Sans"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475569"/>
                          </a:solidFill>
                          <a:latin typeface="Plus Jakarta Sans" pitchFamily="34" charset="0"/>
                          <a:ea typeface="Plus Jakarta Sans" pitchFamily="34" charset="-122"/>
                          <a:cs typeface="Plus Jakarta Sans" pitchFamily="34" charset="-120"/>
                        </a:rPr>
                        <a:t>nc pos-mysql: bad address</a:t>
                      </a:r>
                      <a:endParaRPr lang="en-US" sz="1200" dirty="0">
                        <a:latin typeface="Plus Jakarta Sans" charset="0"/>
                        <a:ea typeface="Plus Jakarta Sans" charset="0"/>
                        <a:cs typeface="Plus Jakarta Sans"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6A34A"/>
                          </a:solidFill>
                          <a:latin typeface="Plus Jakarta Sans" pitchFamily="34" charset="0"/>
                          <a:ea typeface="Plus Jakarta Sans" pitchFamily="34" charset="-122"/>
                          <a:cs typeface="Plus Jakarta Sans" pitchFamily="34" charset="-120"/>
                        </a:rPr>
                        <a:t>Lolos</a:t>
                      </a:r>
                      <a:endParaRPr lang="en-US" sz="1200" dirty="0">
                        <a:latin typeface="Plus Jakarta Sans" charset="0"/>
                        <a:ea typeface="Plus Jakarta Sans" charset="0"/>
                        <a:cs typeface="Plus Jakarta Sans"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581">
                <a:tc>
                  <a:txBody>
                    <a:bodyPr/>
                    <a:lstStyle/>
                    <a:p>
                      <a:pPr indent="0" marL="0">
                        <a:lnSpc>
                          <a:spcPts val="1680"/>
                        </a:lnSpc>
                        <a:buNone/>
                      </a:pPr>
                      <a:r>
                        <a:rPr lang="en-US" sz="1200" dirty="0">
                          <a:solidFill>
                            <a:srgbClr val="475569"/>
                          </a:solidFill>
                          <a:latin typeface="Plus Jakarta Sans" pitchFamily="34" charset="0"/>
                          <a:ea typeface="Plus Jakarta Sans" pitchFamily="34" charset="-122"/>
                          <a:cs typeface="Plus Jakarta Sans" pitchFamily="34" charset="-120"/>
                        </a:rPr>
                        <a:t>7</a:t>
                      </a:r>
                      <a:endParaRPr lang="en-US" sz="1200" dirty="0">
                        <a:latin typeface="Plus Jakarta Sans" charset="0"/>
                        <a:ea typeface="Plus Jakarta Sans" charset="0"/>
                        <a:cs typeface="Plus Jakarta Sans"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475569"/>
                          </a:solidFill>
                          <a:latin typeface="Plus Jakarta Sans" pitchFamily="34" charset="0"/>
                          <a:ea typeface="Plus Jakarta Sans" pitchFamily="34" charset="-122"/>
                          <a:cs typeface="Plus Jakarta Sans" pitchFamily="34" charset="-120"/>
                        </a:rPr>
                        <a:t>BE terhubung ke DB</a:t>
                      </a:r>
                      <a:endParaRPr lang="en-US" sz="1200" dirty="0">
                        <a:latin typeface="Plus Jakarta Sans" charset="0"/>
                        <a:ea typeface="Plus Jakarta Sans" charset="0"/>
                        <a:cs typeface="Plus Jakarta Sans"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475569"/>
                          </a:solidFill>
                          <a:latin typeface="Plus Jakarta Sans" pitchFamily="34" charset="0"/>
                          <a:ea typeface="Plus Jakarta Sans" pitchFamily="34" charset="-122"/>
                          <a:cs typeface="Plus Jakarta Sans" pitchFamily="34" charset="-120"/>
                        </a:rPr>
                        <a:t>artisan db:show: host 172.21.0.30</a:t>
                      </a:r>
                      <a:endParaRPr lang="en-US" sz="1200" dirty="0">
                        <a:latin typeface="Plus Jakarta Sans" charset="0"/>
                        <a:ea typeface="Plus Jakarta Sans" charset="0"/>
                        <a:cs typeface="Plus Jakarta Sans"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6A34A"/>
                          </a:solidFill>
                          <a:latin typeface="Plus Jakarta Sans" pitchFamily="34" charset="0"/>
                          <a:ea typeface="Plus Jakarta Sans" pitchFamily="34" charset="-122"/>
                          <a:cs typeface="Plus Jakarta Sans" pitchFamily="34" charset="-120"/>
                        </a:rPr>
                        <a:t>Lolos</a:t>
                      </a:r>
                      <a:endParaRPr lang="en-US" sz="1200" dirty="0">
                        <a:latin typeface="Plus Jakarta Sans" charset="0"/>
                        <a:ea typeface="Plus Jakarta Sans" charset="0"/>
                        <a:cs typeface="Plus Jakarta Sans"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581">
                <a:tc>
                  <a:txBody>
                    <a:bodyPr/>
                    <a:lstStyle/>
                    <a:p>
                      <a:pPr indent="0" marL="0">
                        <a:lnSpc>
                          <a:spcPts val="1680"/>
                        </a:lnSpc>
                        <a:buNone/>
                      </a:pPr>
                      <a:r>
                        <a:rPr lang="en-US" sz="1200" dirty="0">
                          <a:solidFill>
                            <a:srgbClr val="475569"/>
                          </a:solidFill>
                          <a:latin typeface="Plus Jakarta Sans" pitchFamily="34" charset="0"/>
                          <a:ea typeface="Plus Jakarta Sans" pitchFamily="34" charset="-122"/>
                          <a:cs typeface="Plus Jakarta Sans" pitchFamily="34" charset="-120"/>
                        </a:rPr>
                        <a:t>8</a:t>
                      </a:r>
                      <a:endParaRPr lang="en-US" sz="1200" dirty="0">
                        <a:latin typeface="Plus Jakarta Sans" charset="0"/>
                        <a:ea typeface="Plus Jakarta Sans" charset="0"/>
                        <a:cs typeface="Plus Jakarta Sans"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475569"/>
                          </a:solidFill>
                          <a:latin typeface="Plus Jakarta Sans" pitchFamily="34" charset="0"/>
                          <a:ea typeface="Plus Jakarta Sans" pitchFamily="34" charset="-122"/>
                          <a:cs typeface="Plus Jakarta Sans" pitchFamily="34" charset="-120"/>
                        </a:rPr>
                        <a:t>Isi jaringan pos_db</a:t>
                      </a:r>
                      <a:endParaRPr lang="en-US" sz="1200" dirty="0">
                        <a:latin typeface="Plus Jakarta Sans" charset="0"/>
                        <a:ea typeface="Plus Jakarta Sans" charset="0"/>
                        <a:cs typeface="Plus Jakarta Sans"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475569"/>
                          </a:solidFill>
                          <a:latin typeface="Plus Jakarta Sans" pitchFamily="34" charset="0"/>
                          <a:ea typeface="Plus Jakarta Sans" pitchFamily="34" charset="-122"/>
                          <a:cs typeface="Plus Jakarta Sans" pitchFamily="34" charset="-120"/>
                        </a:rPr>
                        <a:t>Hanya pos-mysql dan pos-restapi</a:t>
                      </a:r>
                      <a:endParaRPr lang="en-US" sz="1200" dirty="0">
                        <a:latin typeface="Plus Jakarta Sans" charset="0"/>
                        <a:ea typeface="Plus Jakarta Sans" charset="0"/>
                        <a:cs typeface="Plus Jakarta Sans"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6A34A"/>
                          </a:solidFill>
                          <a:latin typeface="Plus Jakarta Sans" pitchFamily="34" charset="0"/>
                          <a:ea typeface="Plus Jakarta Sans" pitchFamily="34" charset="-122"/>
                          <a:cs typeface="Plus Jakarta Sans" pitchFamily="34" charset="-120"/>
                        </a:rPr>
                        <a:t>Lolos</a:t>
                      </a:r>
                      <a:endParaRPr lang="en-US" sz="1200" dirty="0">
                        <a:latin typeface="Plus Jakarta Sans" charset="0"/>
                        <a:ea typeface="Plus Jakarta Sans" charset="0"/>
                        <a:cs typeface="Plus Jakarta Sans"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bl>
          </a:graphicData>
        </a:graphic>
      </p:graphicFrame>
      <p:sp>
        <p:nvSpPr>
          <p:cNvPr id="8" name="Text 5"/>
          <p:cNvSpPr/>
          <p:nvPr/>
        </p:nvSpPr>
        <p:spPr>
          <a:xfrm>
            <a:off x="495808" y="6306840"/>
            <a:ext cx="10883392" cy="220960"/>
          </a:xfrm>
          <a:prstGeom prst="rect">
            <a:avLst/>
          </a:prstGeom>
          <a:noFill/>
          <a:ln/>
        </p:spPr>
        <p:txBody>
          <a:bodyPr wrap="square" lIns="0" tIns="0" rIns="0" bIns="0" rtlCol="0" anchor="t">
            <a:normAutofit/>
          </a:bodyPr>
          <a:lstStyle/>
          <a:p>
            <a:pPr algn="r" indent="0" marL="0">
              <a:lnSpc>
                <a:spcPts val="1540"/>
              </a:lnSpc>
              <a:buNone/>
            </a:pPr>
            <a:r>
              <a:rPr lang="en-US" sz="1100" dirty="0">
                <a:solidFill>
                  <a:srgbClr val="94A3B8"/>
                </a:solidFill>
                <a:latin typeface="Plus Jakarta Sans" pitchFamily="34" charset="0"/>
                <a:ea typeface="Plus Jakarta Sans" pitchFamily="34" charset="-122"/>
                <a:cs typeface="Plus Jakarta Sans" pitchFamily="34" charset="-120"/>
              </a:rPr>
              <a:t>11</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12800" y="762000"/>
            <a:ext cx="10883392" cy="25648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2563EB"/>
                </a:solidFill>
                <a:latin typeface="Plus Jakarta Sans" pitchFamily="34" charset="0"/>
                <a:ea typeface="Plus Jakarta Sans" pitchFamily="34" charset="-122"/>
                <a:cs typeface="Plus Jakarta Sans" pitchFamily="34" charset="-120"/>
              </a:rPr>
              <a:t>Pengujian 2 dari 2</a:t>
            </a:r>
            <a:endParaRPr lang="en-US" sz="1300" dirty="0"/>
          </a:p>
        </p:txBody>
      </p:sp>
      <p:sp>
        <p:nvSpPr>
          <p:cNvPr id="3" name="Text 1"/>
          <p:cNvSpPr/>
          <p:nvPr>
            <p:ph type="title"/>
          </p:nvPr>
        </p:nvSpPr>
        <p:spPr>
          <a:xfrm>
            <a:off x="812800" y="1094680"/>
            <a:ext cx="10883392" cy="463550"/>
          </a:xfrm>
          <a:prstGeom prst="rect">
            <a:avLst/>
          </a:prstGeom>
          <a:noFill/>
          <a:ln/>
        </p:spPr>
        <p:txBody>
          <a:bodyPr wrap="square" lIns="0" tIns="0" rIns="0" bIns="0" rtlCol="0" anchor="t">
            <a:normAutofit/>
          </a:bodyPr>
          <a:lstStyle/>
          <a:p>
            <a:pPr algn="l" indent="0" marL="0">
              <a:lnSpc>
                <a:spcPts val="3450"/>
              </a:lnSpc>
              <a:buNone/>
            </a:pPr>
            <a:r>
              <a:rPr lang="en-US" sz="3000" b="1" i="0" dirty="0">
                <a:solidFill>
                  <a:srgbClr val="0F172A"/>
                </a:solidFill>
                <a:latin typeface="Plus Jakarta Sans" pitchFamily="34" charset="0"/>
                <a:ea typeface="Plus Jakarta Sans" pitchFamily="34" charset="-122"/>
                <a:cs typeface="Plus Jakarta Sans" pitchFamily="34" charset="-120"/>
              </a:rPr>
              <a:t>Aplikasi dan ketahanan: 7 dari 7 lolos</a:t>
            </a:r>
            <a:endParaRPr lang="en-US" sz="3000" dirty="0"/>
          </a:p>
        </p:txBody>
      </p:sp>
      <p:sp>
        <p:nvSpPr>
          <p:cNvPr id="4" name="Shape 2"/>
          <p:cNvSpPr/>
          <p:nvPr/>
        </p:nvSpPr>
        <p:spPr>
          <a:xfrm>
            <a:off x="812800" y="1786830"/>
            <a:ext cx="10566400" cy="2679700"/>
          </a:xfrm>
          <a:prstGeom prst="rect">
            <a:avLst/>
          </a:prstGeom>
          <a:solidFill>
            <a:srgbClr val="FFFFFF"/>
          </a:solidFill>
          <a:ln/>
        </p:spPr>
      </p:sp>
      <p:sp>
        <p:nvSpPr>
          <p:cNvPr id="5" name="Shape 3"/>
          <p:cNvSpPr/>
          <p:nvPr/>
        </p:nvSpPr>
        <p:spPr>
          <a:xfrm>
            <a:off x="11376025" y="1786830"/>
            <a:ext cx="0" cy="2679700"/>
          </a:xfrm>
          <a:prstGeom prst="line">
            <a:avLst/>
          </a:prstGeom>
          <a:noFill/>
          <a:ln w="6350">
            <a:solidFill>
              <a:srgbClr val="E2E8F0"/>
            </a:solidFill>
            <a:prstDash val="solid"/>
          </a:ln>
        </p:spPr>
      </p:sp>
      <p:sp>
        <p:nvSpPr>
          <p:cNvPr id="6" name="Shape 4"/>
          <p:cNvSpPr/>
          <p:nvPr/>
        </p:nvSpPr>
        <p:spPr>
          <a:xfrm>
            <a:off x="812800" y="4463355"/>
            <a:ext cx="10566400" cy="0"/>
          </a:xfrm>
          <a:prstGeom prst="line">
            <a:avLst/>
          </a:prstGeom>
          <a:noFill/>
          <a:ln w="6350">
            <a:solidFill>
              <a:srgbClr val="E2E8F0"/>
            </a:solidFill>
            <a:prstDash val="solid"/>
          </a:ln>
        </p:spPr>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825500" y="1799530"/>
          <a:ext cx="10547350" cy="2660650"/>
        </p:xfrm>
        <a:graphic>
          <a:graphicData uri="http://schemas.openxmlformats.org/drawingml/2006/table">
            <a:tbl>
              <a:tblPr/>
              <a:tblGrid>
                <a:gridCol w="632841"/>
                <a:gridCol w="4007993"/>
                <a:gridCol w="4640834"/>
                <a:gridCol w="1265682"/>
              </a:tblGrid>
              <a:tr h="332581">
                <a:tc>
                  <a:txBody>
                    <a:bodyPr/>
                    <a:lstStyle/>
                    <a:p>
                      <a:pPr indent="0" marL="0">
                        <a:lnSpc>
                          <a:spcPts val="1680"/>
                        </a:lnSpc>
                        <a:buNone/>
                      </a:pPr>
                      <a:r>
                        <a:rPr lang="en-US" sz="1200" b="1" dirty="0">
                          <a:solidFill>
                            <a:srgbClr val="0F172A"/>
                          </a:solidFill>
                          <a:latin typeface="Plus Jakarta Sans" pitchFamily="34" charset="0"/>
                          <a:ea typeface="Plus Jakarta Sans" pitchFamily="34" charset="-122"/>
                          <a:cs typeface="Plus Jakarta Sans" pitchFamily="34" charset="-120"/>
                        </a:rPr>
                        <a:t>#</a:t>
                      </a:r>
                      <a:endParaRPr lang="en-US" sz="1200" dirty="0">
                        <a:latin typeface="Plus Jakarta Sans" charset="0"/>
                        <a:ea typeface="Plus Jakarta Sans" charset="0"/>
                        <a:cs typeface="Plus Jakarta Sans"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0C4C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0C4C6"/>
                      </a:solidFill>
                      <a:prstDash val="solid"/>
                      <a:round/>
                      <a:headEnd type="none" w="med" len="med"/>
                      <a:tailEnd type="none" w="med" len="med"/>
                    </a:lnB>
                    <a:solidFill>
                      <a:srgbClr val="F1F5F9"/>
                    </a:solidFill>
                  </a:tcPr>
                </a:tc>
                <a:tc>
                  <a:txBody>
                    <a:bodyPr/>
                    <a:lstStyle/>
                    <a:p>
                      <a:pPr indent="0" marL="0">
                        <a:lnSpc>
                          <a:spcPts val="1680"/>
                        </a:lnSpc>
                        <a:buNone/>
                      </a:pPr>
                      <a:r>
                        <a:rPr lang="en-US" sz="1200" b="1" dirty="0">
                          <a:solidFill>
                            <a:srgbClr val="0F172A"/>
                          </a:solidFill>
                          <a:latin typeface="Plus Jakarta Sans" pitchFamily="34" charset="0"/>
                          <a:ea typeface="Plus Jakarta Sans" pitchFamily="34" charset="-122"/>
                          <a:cs typeface="Plus Jakarta Sans" pitchFamily="34" charset="-120"/>
                        </a:rPr>
                        <a:t>Uji</a:t>
                      </a:r>
                      <a:endParaRPr lang="en-US" sz="1200" dirty="0">
                        <a:latin typeface="Plus Jakarta Sans" charset="0"/>
                        <a:ea typeface="Plus Jakarta Sans" charset="0"/>
                        <a:cs typeface="Plus Jakarta Sans" charset="0"/>
                      </a:endParaRPr>
                    </a:p>
                  </a:txBody>
                  <a:tcPr marL="53340" marR="53340" marT="53340" marB="53340" anchor="t">
                    <a:lnL w="12700" cap="flat" cmpd="sng" algn="ctr">
                      <a:solidFill>
                        <a:srgbClr val="C0C4C6"/>
                      </a:solidFill>
                      <a:prstDash val="solid"/>
                      <a:round/>
                      <a:headEnd type="none" w="med" len="med"/>
                      <a:tailEnd type="none" w="med" len="med"/>
                    </a:lnL>
                    <a:lnR w="12700" cap="flat" cmpd="sng" algn="ctr">
                      <a:solidFill>
                        <a:srgbClr val="C0C4C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0C4C6"/>
                      </a:solidFill>
                      <a:prstDash val="solid"/>
                      <a:round/>
                      <a:headEnd type="none" w="med" len="med"/>
                      <a:tailEnd type="none" w="med" len="med"/>
                    </a:lnB>
                    <a:solidFill>
                      <a:srgbClr val="F1F5F9"/>
                    </a:solidFill>
                  </a:tcPr>
                </a:tc>
                <a:tc>
                  <a:txBody>
                    <a:bodyPr/>
                    <a:lstStyle/>
                    <a:p>
                      <a:pPr indent="0" marL="0">
                        <a:lnSpc>
                          <a:spcPts val="1680"/>
                        </a:lnSpc>
                        <a:buNone/>
                      </a:pPr>
                      <a:r>
                        <a:rPr lang="en-US" sz="1200" b="1" dirty="0">
                          <a:solidFill>
                            <a:srgbClr val="0F172A"/>
                          </a:solidFill>
                          <a:latin typeface="Plus Jakarta Sans" pitchFamily="34" charset="0"/>
                          <a:ea typeface="Plus Jakarta Sans" pitchFamily="34" charset="-122"/>
                          <a:cs typeface="Plus Jakarta Sans" pitchFamily="34" charset="-120"/>
                        </a:rPr>
                        <a:t>Bukti</a:t>
                      </a:r>
                      <a:endParaRPr lang="en-US" sz="1200" dirty="0">
                        <a:latin typeface="Plus Jakarta Sans" charset="0"/>
                        <a:ea typeface="Plus Jakarta Sans" charset="0"/>
                        <a:cs typeface="Plus Jakarta Sans" charset="0"/>
                      </a:endParaRPr>
                    </a:p>
                  </a:txBody>
                  <a:tcPr marL="53340" marR="53340" marT="53340" marB="53340" anchor="t">
                    <a:lnL w="12700" cap="flat" cmpd="sng" algn="ctr">
                      <a:solidFill>
                        <a:srgbClr val="C0C4C6"/>
                      </a:solidFill>
                      <a:prstDash val="solid"/>
                      <a:round/>
                      <a:headEnd type="none" w="med" len="med"/>
                      <a:tailEnd type="none" w="med" len="med"/>
                    </a:lnL>
                    <a:lnR w="12700" cap="flat" cmpd="sng" algn="ctr">
                      <a:solidFill>
                        <a:srgbClr val="C0C4C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0C4C6"/>
                      </a:solidFill>
                      <a:prstDash val="solid"/>
                      <a:round/>
                      <a:headEnd type="none" w="med" len="med"/>
                      <a:tailEnd type="none" w="med" len="med"/>
                    </a:lnB>
                    <a:solidFill>
                      <a:srgbClr val="F1F5F9"/>
                    </a:solidFill>
                  </a:tcPr>
                </a:tc>
                <a:tc>
                  <a:txBody>
                    <a:bodyPr/>
                    <a:lstStyle/>
                    <a:p>
                      <a:pPr indent="0" marL="0">
                        <a:lnSpc>
                          <a:spcPts val="1680"/>
                        </a:lnSpc>
                        <a:buNone/>
                      </a:pPr>
                      <a:r>
                        <a:rPr lang="en-US" sz="1200" b="1" dirty="0">
                          <a:solidFill>
                            <a:srgbClr val="0F172A"/>
                          </a:solidFill>
                          <a:latin typeface="Plus Jakarta Sans" pitchFamily="34" charset="0"/>
                          <a:ea typeface="Plus Jakarta Sans" pitchFamily="34" charset="-122"/>
                          <a:cs typeface="Plus Jakarta Sans" pitchFamily="34" charset="-120"/>
                        </a:rPr>
                        <a:t>Hasil</a:t>
                      </a:r>
                      <a:endParaRPr lang="en-US" sz="1200" dirty="0">
                        <a:latin typeface="Plus Jakarta Sans" charset="0"/>
                        <a:ea typeface="Plus Jakarta Sans" charset="0"/>
                        <a:cs typeface="Plus Jakarta Sans" charset="0"/>
                      </a:endParaRPr>
                    </a:p>
                  </a:txBody>
                  <a:tcPr marL="53340" marR="53340" marT="53340" marB="53340" anchor="t">
                    <a:lnL w="12700" cap="flat" cmpd="sng" algn="ctr">
                      <a:solidFill>
                        <a:srgbClr val="C0C4C6"/>
                      </a:solidFill>
                      <a:prstDash val="solid"/>
                      <a:round/>
                      <a:headEnd type="none" w="med" len="med"/>
                      <a:tailEnd type="none" w="med" len="med"/>
                    </a:lnL>
                    <a:lnR w="12700" cap="flat" cmpd="sng" algn="ctr">
                      <a:solidFill>
                        <a:srgbClr val="C0C4C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0C4C6"/>
                      </a:solidFill>
                      <a:prstDash val="solid"/>
                      <a:round/>
                      <a:headEnd type="none" w="med" len="med"/>
                      <a:tailEnd type="none" w="med" len="med"/>
                    </a:lnB>
                    <a:solidFill>
                      <a:srgbClr val="F1F5F9"/>
                    </a:solidFill>
                  </a:tcPr>
                </a:tc>
              </a:tr>
              <a:tr h="332581">
                <a:tc>
                  <a:txBody>
                    <a:bodyPr/>
                    <a:lstStyle/>
                    <a:p>
                      <a:pPr indent="0" marL="0">
                        <a:lnSpc>
                          <a:spcPts val="1680"/>
                        </a:lnSpc>
                        <a:buNone/>
                      </a:pPr>
                      <a:r>
                        <a:rPr lang="en-US" sz="1200" dirty="0">
                          <a:solidFill>
                            <a:srgbClr val="475569"/>
                          </a:solidFill>
                          <a:latin typeface="Plus Jakarta Sans" pitchFamily="34" charset="0"/>
                          <a:ea typeface="Plus Jakarta Sans" pitchFamily="34" charset="-122"/>
                          <a:cs typeface="Plus Jakarta Sans" pitchFamily="34" charset="-120"/>
                        </a:rPr>
                        <a:t>9</a:t>
                      </a:r>
                      <a:endParaRPr lang="en-US" sz="1200" dirty="0">
                        <a:latin typeface="Plus Jakarta Sans" charset="0"/>
                        <a:ea typeface="Plus Jakarta Sans" charset="0"/>
                        <a:cs typeface="Plus Jakarta Sans"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0C4C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475569"/>
                          </a:solidFill>
                          <a:latin typeface="Plus Jakarta Sans" pitchFamily="34" charset="0"/>
                          <a:ea typeface="Plus Jakarta Sans" pitchFamily="34" charset="-122"/>
                          <a:cs typeface="Plus Jakarta Sans" pitchFamily="34" charset="-120"/>
                        </a:rPr>
                        <a:t>CORS menolak origin lain</a:t>
                      </a:r>
                      <a:endParaRPr lang="en-US" sz="1200" dirty="0">
                        <a:latin typeface="Plus Jakarta Sans" charset="0"/>
                        <a:ea typeface="Plus Jakarta Sans" charset="0"/>
                        <a:cs typeface="Plus Jakarta Sans"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0C4C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475569"/>
                          </a:solidFill>
                          <a:latin typeface="Plus Jakarta Sans" pitchFamily="34" charset="0"/>
                          <a:ea typeface="Plus Jakarta Sans" pitchFamily="34" charset="-122"/>
                          <a:cs typeface="Plus Jakarta Sans" pitchFamily="34" charset="-120"/>
                        </a:rPr>
                        <a:t>Origin ibuki.test: request diblokir</a:t>
                      </a:r>
                      <a:endParaRPr lang="en-US" sz="1200" dirty="0">
                        <a:latin typeface="Plus Jakarta Sans" charset="0"/>
                        <a:ea typeface="Plus Jakarta Sans" charset="0"/>
                        <a:cs typeface="Plus Jakarta Sans"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0C4C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6A34A"/>
                          </a:solidFill>
                          <a:latin typeface="Plus Jakarta Sans" pitchFamily="34" charset="0"/>
                          <a:ea typeface="Plus Jakarta Sans" pitchFamily="34" charset="-122"/>
                          <a:cs typeface="Plus Jakarta Sans" pitchFamily="34" charset="-120"/>
                        </a:rPr>
                        <a:t>Lolos</a:t>
                      </a:r>
                      <a:endParaRPr lang="en-US" sz="1200" dirty="0">
                        <a:latin typeface="Plus Jakarta Sans" charset="0"/>
                        <a:ea typeface="Plus Jakarta Sans" charset="0"/>
                        <a:cs typeface="Plus Jakarta Sans"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0C4C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581">
                <a:tc>
                  <a:txBody>
                    <a:bodyPr/>
                    <a:lstStyle/>
                    <a:p>
                      <a:pPr indent="0" marL="0">
                        <a:lnSpc>
                          <a:spcPts val="1680"/>
                        </a:lnSpc>
                        <a:buNone/>
                      </a:pPr>
                      <a:r>
                        <a:rPr lang="en-US" sz="1200" dirty="0">
                          <a:solidFill>
                            <a:srgbClr val="475569"/>
                          </a:solidFill>
                          <a:latin typeface="Plus Jakarta Sans" pitchFamily="34" charset="0"/>
                          <a:ea typeface="Plus Jakarta Sans" pitchFamily="34" charset="-122"/>
                          <a:cs typeface="Plus Jakarta Sans" pitchFamily="34" charset="-120"/>
                        </a:rPr>
                        <a:t>10</a:t>
                      </a:r>
                      <a:endParaRPr lang="en-US" sz="1200" dirty="0">
                        <a:latin typeface="Plus Jakarta Sans" charset="0"/>
                        <a:ea typeface="Plus Jakarta Sans" charset="0"/>
                        <a:cs typeface="Plus Jakarta Sans"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475569"/>
                          </a:solidFill>
                          <a:latin typeface="Plus Jakarta Sans" pitchFamily="34" charset="0"/>
                          <a:ea typeface="Plus Jakarta Sans" pitchFamily="34" charset="-122"/>
                          <a:cs typeface="Plus Jakarta Sans" pitchFamily="34" charset="-120"/>
                        </a:rPr>
                        <a:t>CORS mengikuti port FE</a:t>
                      </a:r>
                      <a:endParaRPr lang="en-US" sz="1200" dirty="0">
                        <a:latin typeface="Plus Jakarta Sans" charset="0"/>
                        <a:ea typeface="Plus Jakarta Sans" charset="0"/>
                        <a:cs typeface="Plus Jakarta Sans"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475569"/>
                          </a:solidFill>
                          <a:latin typeface="Plus Jakarta Sans" pitchFamily="34" charset="0"/>
                          <a:ea typeface="Plus Jakarta Sans" pitchFamily="34" charset="-122"/>
                          <a:cs typeface="Plus Jakarta Sans" pitchFamily="34" charset="-120"/>
                        </a:rPr>
                        <a:t>Origin :8080: login berhasil</a:t>
                      </a:r>
                      <a:endParaRPr lang="en-US" sz="1200" dirty="0">
                        <a:latin typeface="Plus Jakarta Sans" charset="0"/>
                        <a:ea typeface="Plus Jakarta Sans" charset="0"/>
                        <a:cs typeface="Plus Jakarta Sans"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6A34A"/>
                          </a:solidFill>
                          <a:latin typeface="Plus Jakarta Sans" pitchFamily="34" charset="0"/>
                          <a:ea typeface="Plus Jakarta Sans" pitchFamily="34" charset="-122"/>
                          <a:cs typeface="Plus Jakarta Sans" pitchFamily="34" charset="-120"/>
                        </a:rPr>
                        <a:t>Lolos</a:t>
                      </a:r>
                      <a:endParaRPr lang="en-US" sz="1200" dirty="0">
                        <a:latin typeface="Plus Jakarta Sans" charset="0"/>
                        <a:ea typeface="Plus Jakarta Sans" charset="0"/>
                        <a:cs typeface="Plus Jakarta Sans"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581">
                <a:tc>
                  <a:txBody>
                    <a:bodyPr/>
                    <a:lstStyle/>
                    <a:p>
                      <a:pPr indent="0" marL="0">
                        <a:lnSpc>
                          <a:spcPts val="1680"/>
                        </a:lnSpc>
                        <a:buNone/>
                      </a:pPr>
                      <a:r>
                        <a:rPr lang="en-US" sz="1200" dirty="0">
                          <a:solidFill>
                            <a:srgbClr val="475569"/>
                          </a:solidFill>
                          <a:latin typeface="Plus Jakarta Sans" pitchFamily="34" charset="0"/>
                          <a:ea typeface="Plus Jakarta Sans" pitchFamily="34" charset="-122"/>
                          <a:cs typeface="Plus Jakarta Sans" pitchFamily="34" charset="-120"/>
                        </a:rPr>
                        <a:t>11</a:t>
                      </a:r>
                      <a:endParaRPr lang="en-US" sz="1200" dirty="0">
                        <a:latin typeface="Plus Jakarta Sans" charset="0"/>
                        <a:ea typeface="Plus Jakarta Sans" charset="0"/>
                        <a:cs typeface="Plus Jakarta Sans"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475569"/>
                          </a:solidFill>
                          <a:latin typeface="Plus Jakarta Sans" pitchFamily="34" charset="0"/>
                          <a:ea typeface="Plus Jakarta Sans" pitchFamily="34" charset="-122"/>
                          <a:cs typeface="Plus Jakarta Sans" pitchFamily="34" charset="-120"/>
                        </a:rPr>
                        <a:t>File .env tidak bocor</a:t>
                      </a:r>
                      <a:endParaRPr lang="en-US" sz="1200" dirty="0">
                        <a:latin typeface="Plus Jakarta Sans" charset="0"/>
                        <a:ea typeface="Plus Jakarta Sans" charset="0"/>
                        <a:cs typeface="Plus Jakarta Sans"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475569"/>
                          </a:solidFill>
                          <a:latin typeface="Plus Jakarta Sans" pitchFamily="34" charset="0"/>
                          <a:ea typeface="Plus Jakarta Sans" pitchFamily="34" charset="-122"/>
                          <a:cs typeface="Plus Jakarta Sans" pitchFamily="34" charset="-120"/>
                        </a:rPr>
                        <a:t>/.env dibalas 403 Forbidden</a:t>
                      </a:r>
                      <a:endParaRPr lang="en-US" sz="1200" dirty="0">
                        <a:latin typeface="Plus Jakarta Sans" charset="0"/>
                        <a:ea typeface="Plus Jakarta Sans" charset="0"/>
                        <a:cs typeface="Plus Jakarta Sans"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6A34A"/>
                          </a:solidFill>
                          <a:latin typeface="Plus Jakarta Sans" pitchFamily="34" charset="0"/>
                          <a:ea typeface="Plus Jakarta Sans" pitchFamily="34" charset="-122"/>
                          <a:cs typeface="Plus Jakarta Sans" pitchFamily="34" charset="-120"/>
                        </a:rPr>
                        <a:t>Lolos</a:t>
                      </a:r>
                      <a:endParaRPr lang="en-US" sz="1200" dirty="0">
                        <a:latin typeface="Plus Jakarta Sans" charset="0"/>
                        <a:ea typeface="Plus Jakarta Sans" charset="0"/>
                        <a:cs typeface="Plus Jakarta Sans"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581">
                <a:tc>
                  <a:txBody>
                    <a:bodyPr/>
                    <a:lstStyle/>
                    <a:p>
                      <a:pPr indent="0" marL="0">
                        <a:lnSpc>
                          <a:spcPts val="1680"/>
                        </a:lnSpc>
                        <a:buNone/>
                      </a:pPr>
                      <a:r>
                        <a:rPr lang="en-US" sz="1200" dirty="0">
                          <a:solidFill>
                            <a:srgbClr val="475569"/>
                          </a:solidFill>
                          <a:latin typeface="Plus Jakarta Sans" pitchFamily="34" charset="0"/>
                          <a:ea typeface="Plus Jakarta Sans" pitchFamily="34" charset="-122"/>
                          <a:cs typeface="Plus Jakarta Sans" pitchFamily="34" charset="-120"/>
                        </a:rPr>
                        <a:t>12</a:t>
                      </a:r>
                      <a:endParaRPr lang="en-US" sz="1200" dirty="0">
                        <a:latin typeface="Plus Jakarta Sans" charset="0"/>
                        <a:ea typeface="Plus Jakarta Sans" charset="0"/>
                        <a:cs typeface="Plus Jakarta Sans"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475569"/>
                          </a:solidFill>
                          <a:latin typeface="Plus Jakarta Sans" pitchFamily="34" charset="0"/>
                          <a:ea typeface="Plus Jakarta Sans" pitchFamily="34" charset="-122"/>
                          <a:cs typeface="Plus Jakarta Sans" pitchFamily="34" charset="-120"/>
                        </a:rPr>
                        <a:t>Error tidak membuka kode</a:t>
                      </a:r>
                      <a:endParaRPr lang="en-US" sz="1200" dirty="0">
                        <a:latin typeface="Plus Jakarta Sans" charset="0"/>
                        <a:ea typeface="Plus Jakarta Sans" charset="0"/>
                        <a:cs typeface="Plus Jakarta Sans"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475569"/>
                          </a:solidFill>
                          <a:latin typeface="Plus Jakarta Sans" pitchFamily="34" charset="0"/>
                          <a:ea typeface="Plus Jakarta Sans" pitchFamily="34" charset="-122"/>
                          <a:cs typeface="Plus Jakarta Sans" pitchFamily="34" charset="-120"/>
                        </a:rPr>
                        <a:t>/api/v1/xyz: pesan singkat saja</a:t>
                      </a:r>
                      <a:endParaRPr lang="en-US" sz="1200" dirty="0">
                        <a:latin typeface="Plus Jakarta Sans" charset="0"/>
                        <a:ea typeface="Plus Jakarta Sans" charset="0"/>
                        <a:cs typeface="Plus Jakarta Sans"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6A34A"/>
                          </a:solidFill>
                          <a:latin typeface="Plus Jakarta Sans" pitchFamily="34" charset="0"/>
                          <a:ea typeface="Plus Jakarta Sans" pitchFamily="34" charset="-122"/>
                          <a:cs typeface="Plus Jakarta Sans" pitchFamily="34" charset="-120"/>
                        </a:rPr>
                        <a:t>Lolos</a:t>
                      </a:r>
                      <a:endParaRPr lang="en-US" sz="1200" dirty="0">
                        <a:latin typeface="Plus Jakarta Sans" charset="0"/>
                        <a:ea typeface="Plus Jakarta Sans" charset="0"/>
                        <a:cs typeface="Plus Jakarta Sans"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581">
                <a:tc>
                  <a:txBody>
                    <a:bodyPr/>
                    <a:lstStyle/>
                    <a:p>
                      <a:pPr indent="0" marL="0">
                        <a:lnSpc>
                          <a:spcPts val="1680"/>
                        </a:lnSpc>
                        <a:buNone/>
                      </a:pPr>
                      <a:r>
                        <a:rPr lang="en-US" sz="1200" dirty="0">
                          <a:solidFill>
                            <a:srgbClr val="475569"/>
                          </a:solidFill>
                          <a:latin typeface="Plus Jakarta Sans" pitchFamily="34" charset="0"/>
                          <a:ea typeface="Plus Jakarta Sans" pitchFamily="34" charset="-122"/>
                          <a:cs typeface="Plus Jakarta Sans" pitchFamily="34" charset="-120"/>
                        </a:rPr>
                        <a:t>13</a:t>
                      </a:r>
                      <a:endParaRPr lang="en-US" sz="1200" dirty="0">
                        <a:latin typeface="Plus Jakarta Sans" charset="0"/>
                        <a:ea typeface="Plus Jakarta Sans" charset="0"/>
                        <a:cs typeface="Plus Jakarta Sans"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475569"/>
                          </a:solidFill>
                          <a:latin typeface="Plus Jakarta Sans" pitchFamily="34" charset="0"/>
                          <a:ea typeface="Plus Jakarta Sans" pitchFamily="34" charset="-122"/>
                          <a:cs typeface="Plus Jakarta Sans" pitchFamily="34" charset="-120"/>
                        </a:rPr>
                        <a:t>Routing SPA</a:t>
                      </a:r>
                      <a:endParaRPr lang="en-US" sz="1200" dirty="0">
                        <a:latin typeface="Plus Jakarta Sans" charset="0"/>
                        <a:ea typeface="Plus Jakarta Sans" charset="0"/>
                        <a:cs typeface="Plus Jakarta Sans"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475569"/>
                          </a:solidFill>
                          <a:latin typeface="Plus Jakarta Sans" pitchFamily="34" charset="0"/>
                          <a:ea typeface="Plus Jakarta Sans" pitchFamily="34" charset="-122"/>
                          <a:cs typeface="Plus Jakarta Sans" pitchFamily="34" charset="-120"/>
                        </a:rPr>
                        <a:t>Refresh halaman dalam tetap tampil</a:t>
                      </a:r>
                      <a:endParaRPr lang="en-US" sz="1200" dirty="0">
                        <a:latin typeface="Plus Jakarta Sans" charset="0"/>
                        <a:ea typeface="Plus Jakarta Sans" charset="0"/>
                        <a:cs typeface="Plus Jakarta Sans"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6A34A"/>
                          </a:solidFill>
                          <a:latin typeface="Plus Jakarta Sans" pitchFamily="34" charset="0"/>
                          <a:ea typeface="Plus Jakarta Sans" pitchFamily="34" charset="-122"/>
                          <a:cs typeface="Plus Jakarta Sans" pitchFamily="34" charset="-120"/>
                        </a:rPr>
                        <a:t>Lolos</a:t>
                      </a:r>
                      <a:endParaRPr lang="en-US" sz="1200" dirty="0">
                        <a:latin typeface="Plus Jakarta Sans" charset="0"/>
                        <a:ea typeface="Plus Jakarta Sans" charset="0"/>
                        <a:cs typeface="Plus Jakarta Sans"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581">
                <a:tc>
                  <a:txBody>
                    <a:bodyPr/>
                    <a:lstStyle/>
                    <a:p>
                      <a:pPr indent="0" marL="0">
                        <a:lnSpc>
                          <a:spcPts val="1680"/>
                        </a:lnSpc>
                        <a:buNone/>
                      </a:pPr>
                      <a:r>
                        <a:rPr lang="en-US" sz="1200" dirty="0">
                          <a:solidFill>
                            <a:srgbClr val="475569"/>
                          </a:solidFill>
                          <a:latin typeface="Plus Jakarta Sans" pitchFamily="34" charset="0"/>
                          <a:ea typeface="Plus Jakarta Sans" pitchFamily="34" charset="-122"/>
                          <a:cs typeface="Plus Jakarta Sans" pitchFamily="34" charset="-120"/>
                        </a:rPr>
                        <a:t>14</a:t>
                      </a:r>
                      <a:endParaRPr lang="en-US" sz="1200" dirty="0">
                        <a:latin typeface="Plus Jakarta Sans" charset="0"/>
                        <a:ea typeface="Plus Jakarta Sans" charset="0"/>
                        <a:cs typeface="Plus Jakarta Sans"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475569"/>
                          </a:solidFill>
                          <a:latin typeface="Plus Jakarta Sans" pitchFamily="34" charset="0"/>
                          <a:ea typeface="Plus Jakarta Sans" pitchFamily="34" charset="-122"/>
                          <a:cs typeface="Plus Jakarta Sans" pitchFamily="34" charset="-120"/>
                        </a:rPr>
                        <a:t>Data bertahan</a:t>
                      </a:r>
                      <a:endParaRPr lang="en-US" sz="1200" dirty="0">
                        <a:latin typeface="Plus Jakarta Sans" charset="0"/>
                        <a:ea typeface="Plus Jakarta Sans" charset="0"/>
                        <a:cs typeface="Plus Jakarta Sans"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475569"/>
                          </a:solidFill>
                          <a:latin typeface="Plus Jakarta Sans" pitchFamily="34" charset="0"/>
                          <a:ea typeface="Plus Jakarta Sans" pitchFamily="34" charset="-122"/>
                          <a:cs typeface="Plus Jakarta Sans" pitchFamily="34" charset="-120"/>
                        </a:rPr>
                        <a:t>down lalu up: data utuh di volume</a:t>
                      </a:r>
                      <a:endParaRPr lang="en-US" sz="1200" dirty="0">
                        <a:latin typeface="Plus Jakarta Sans" charset="0"/>
                        <a:ea typeface="Plus Jakarta Sans" charset="0"/>
                        <a:cs typeface="Plus Jakarta Sans"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6A34A"/>
                          </a:solidFill>
                          <a:latin typeface="Plus Jakarta Sans" pitchFamily="34" charset="0"/>
                          <a:ea typeface="Plus Jakarta Sans" pitchFamily="34" charset="-122"/>
                          <a:cs typeface="Plus Jakarta Sans" pitchFamily="34" charset="-120"/>
                        </a:rPr>
                        <a:t>Lolos</a:t>
                      </a:r>
                      <a:endParaRPr lang="en-US" sz="1200" dirty="0">
                        <a:latin typeface="Plus Jakarta Sans" charset="0"/>
                        <a:ea typeface="Plus Jakarta Sans" charset="0"/>
                        <a:cs typeface="Plus Jakarta Sans"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2581">
                <a:tc>
                  <a:txBody>
                    <a:bodyPr/>
                    <a:lstStyle/>
                    <a:p>
                      <a:pPr indent="0" marL="0">
                        <a:lnSpc>
                          <a:spcPts val="1680"/>
                        </a:lnSpc>
                        <a:buNone/>
                      </a:pPr>
                      <a:r>
                        <a:rPr lang="en-US" sz="1200" dirty="0">
                          <a:solidFill>
                            <a:srgbClr val="475569"/>
                          </a:solidFill>
                          <a:latin typeface="Plus Jakarta Sans" pitchFamily="34" charset="0"/>
                          <a:ea typeface="Plus Jakarta Sans" pitchFamily="34" charset="-122"/>
                          <a:cs typeface="Plus Jakarta Sans" pitchFamily="34" charset="-120"/>
                        </a:rPr>
                        <a:t>15</a:t>
                      </a:r>
                      <a:endParaRPr lang="en-US" sz="1200" dirty="0">
                        <a:latin typeface="Plus Jakarta Sans" charset="0"/>
                        <a:ea typeface="Plus Jakarta Sans" charset="0"/>
                        <a:cs typeface="Plus Jakarta Sans"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475569"/>
                          </a:solidFill>
                          <a:latin typeface="Plus Jakarta Sans" pitchFamily="34" charset="0"/>
                          <a:ea typeface="Plus Jakarta Sans" pitchFamily="34" charset="-122"/>
                          <a:cs typeface="Plus Jakarta Sans" pitchFamily="34" charset="-120"/>
                        </a:rPr>
                        <a:t>DB mati sementara</a:t>
                      </a:r>
                      <a:endParaRPr lang="en-US" sz="1200" dirty="0">
                        <a:latin typeface="Plus Jakarta Sans" charset="0"/>
                        <a:ea typeface="Plus Jakarta Sans" charset="0"/>
                        <a:cs typeface="Plus Jakarta Sans"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475569"/>
                          </a:solidFill>
                          <a:latin typeface="Plus Jakarta Sans" pitchFamily="34" charset="0"/>
                          <a:ea typeface="Plus Jakarta Sans" pitchFamily="34" charset="-122"/>
                          <a:cs typeface="Plus Jakarta Sans" pitchFamily="34" charset="-120"/>
                        </a:rPr>
                        <a:t>Error 500 rapi, pulih tanpa restart BE</a:t>
                      </a:r>
                      <a:endParaRPr lang="en-US" sz="1200" dirty="0">
                        <a:latin typeface="Plus Jakarta Sans" charset="0"/>
                        <a:ea typeface="Plus Jakarta Sans" charset="0"/>
                        <a:cs typeface="Plus Jakarta Sans"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6A34A"/>
                          </a:solidFill>
                          <a:latin typeface="Plus Jakarta Sans" pitchFamily="34" charset="0"/>
                          <a:ea typeface="Plus Jakarta Sans" pitchFamily="34" charset="-122"/>
                          <a:cs typeface="Plus Jakarta Sans" pitchFamily="34" charset="-120"/>
                        </a:rPr>
                        <a:t>Lolos</a:t>
                      </a:r>
                      <a:endParaRPr lang="en-US" sz="1200" dirty="0">
                        <a:latin typeface="Plus Jakarta Sans" charset="0"/>
                        <a:ea typeface="Plus Jakarta Sans" charset="0"/>
                        <a:cs typeface="Plus Jakarta Sans"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bl>
          </a:graphicData>
        </a:graphic>
      </p:graphicFrame>
      <p:sp>
        <p:nvSpPr>
          <p:cNvPr id="8" name="Text 5"/>
          <p:cNvSpPr/>
          <p:nvPr/>
        </p:nvSpPr>
        <p:spPr>
          <a:xfrm>
            <a:off x="495808" y="6306840"/>
            <a:ext cx="10883392" cy="220960"/>
          </a:xfrm>
          <a:prstGeom prst="rect">
            <a:avLst/>
          </a:prstGeom>
          <a:noFill/>
          <a:ln/>
        </p:spPr>
        <p:txBody>
          <a:bodyPr wrap="square" lIns="0" tIns="0" rIns="0" bIns="0" rtlCol="0" anchor="t">
            <a:normAutofit/>
          </a:bodyPr>
          <a:lstStyle/>
          <a:p>
            <a:pPr algn="r" indent="0" marL="0">
              <a:lnSpc>
                <a:spcPts val="1540"/>
              </a:lnSpc>
              <a:buNone/>
            </a:pPr>
            <a:r>
              <a:rPr lang="en-US" sz="1100" dirty="0">
                <a:solidFill>
                  <a:srgbClr val="94A3B8"/>
                </a:solidFill>
                <a:latin typeface="Plus Jakarta Sans" pitchFamily="34" charset="0"/>
                <a:ea typeface="Plus Jakarta Sans" pitchFamily="34" charset="-122"/>
                <a:cs typeface="Plus Jakarta Sans" pitchFamily="34" charset="-120"/>
              </a:rPr>
              <a:t>12</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12800" y="762000"/>
            <a:ext cx="10883392" cy="25648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2563EB"/>
                </a:solidFill>
                <a:latin typeface="Plus Jakarta Sans" pitchFamily="34" charset="0"/>
                <a:ea typeface="Plus Jakarta Sans" pitchFamily="34" charset="-122"/>
                <a:cs typeface="Plus Jakarta Sans" pitchFamily="34" charset="-120"/>
              </a:rPr>
              <a:t>Troubleshooting</a:t>
            </a:r>
            <a:endParaRPr lang="en-US" sz="1300" dirty="0"/>
          </a:p>
        </p:txBody>
      </p:sp>
      <p:sp>
        <p:nvSpPr>
          <p:cNvPr id="3" name="Text 1"/>
          <p:cNvSpPr/>
          <p:nvPr>
            <p:ph type="title"/>
          </p:nvPr>
        </p:nvSpPr>
        <p:spPr>
          <a:xfrm>
            <a:off x="812800" y="1094680"/>
            <a:ext cx="10883392" cy="463550"/>
          </a:xfrm>
          <a:prstGeom prst="rect">
            <a:avLst/>
          </a:prstGeom>
          <a:noFill/>
          <a:ln/>
        </p:spPr>
        <p:txBody>
          <a:bodyPr wrap="square" lIns="0" tIns="0" rIns="0" bIns="0" rtlCol="0" anchor="t">
            <a:normAutofit/>
          </a:bodyPr>
          <a:lstStyle/>
          <a:p>
            <a:pPr algn="l" indent="0" marL="0">
              <a:lnSpc>
                <a:spcPts val="3450"/>
              </a:lnSpc>
              <a:buNone/>
            </a:pPr>
            <a:r>
              <a:rPr lang="en-US" sz="3000" b="1" i="0" dirty="0">
                <a:solidFill>
                  <a:srgbClr val="0F172A"/>
                </a:solidFill>
                <a:latin typeface="Plus Jakarta Sans" pitchFamily="34" charset="0"/>
                <a:ea typeface="Plus Jakarta Sans" pitchFamily="34" charset="-122"/>
                <a:cs typeface="Plus Jakarta Sans" pitchFamily="34" charset="-120"/>
              </a:rPr>
              <a:t>Masalah yang ditemui selama pengerjaan</a:t>
            </a:r>
            <a:endParaRPr lang="en-US" sz="3000" dirty="0"/>
          </a:p>
        </p:txBody>
      </p:sp>
      <p:sp>
        <p:nvSpPr>
          <p:cNvPr id="4" name="Shape 2"/>
          <p:cNvSpPr/>
          <p:nvPr/>
        </p:nvSpPr>
        <p:spPr>
          <a:xfrm>
            <a:off x="812800" y="1786830"/>
            <a:ext cx="10566400" cy="3081139"/>
          </a:xfrm>
          <a:prstGeom prst="rect">
            <a:avLst/>
          </a:prstGeom>
          <a:solidFill>
            <a:srgbClr val="FFFFFF"/>
          </a:solidFill>
          <a:ln/>
        </p:spPr>
      </p:sp>
      <p:sp>
        <p:nvSpPr>
          <p:cNvPr id="5" name="Shape 3"/>
          <p:cNvSpPr/>
          <p:nvPr/>
        </p:nvSpPr>
        <p:spPr>
          <a:xfrm>
            <a:off x="11376025" y="1786830"/>
            <a:ext cx="0" cy="3081139"/>
          </a:xfrm>
          <a:prstGeom prst="line">
            <a:avLst/>
          </a:prstGeom>
          <a:noFill/>
          <a:ln w="6350">
            <a:solidFill>
              <a:srgbClr val="E2E8F0"/>
            </a:solidFill>
            <a:prstDash val="solid"/>
          </a:ln>
        </p:spPr>
      </p:sp>
      <p:sp>
        <p:nvSpPr>
          <p:cNvPr id="6" name="Shape 4"/>
          <p:cNvSpPr/>
          <p:nvPr/>
        </p:nvSpPr>
        <p:spPr>
          <a:xfrm>
            <a:off x="812800" y="4864795"/>
            <a:ext cx="10566400" cy="0"/>
          </a:xfrm>
          <a:prstGeom prst="line">
            <a:avLst/>
          </a:prstGeom>
          <a:noFill/>
          <a:ln w="6350">
            <a:solidFill>
              <a:srgbClr val="E2E8F0"/>
            </a:solidFill>
            <a:prstDash val="solid"/>
          </a:ln>
        </p:spPr>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825500" y="1799530"/>
          <a:ext cx="10547350" cy="3062089"/>
        </p:xfrm>
        <a:graphic>
          <a:graphicData uri="http://schemas.openxmlformats.org/drawingml/2006/table">
            <a:tbl>
              <a:tblPr/>
              <a:tblGrid>
                <a:gridCol w="3375152"/>
                <a:gridCol w="3586099"/>
                <a:gridCol w="3586099"/>
              </a:tblGrid>
              <a:tr h="332581">
                <a:tc>
                  <a:txBody>
                    <a:bodyPr/>
                    <a:lstStyle/>
                    <a:p>
                      <a:pPr indent="0" marL="0">
                        <a:lnSpc>
                          <a:spcPts val="1680"/>
                        </a:lnSpc>
                        <a:buNone/>
                      </a:pPr>
                      <a:r>
                        <a:rPr lang="en-US" sz="1200" b="1" dirty="0">
                          <a:solidFill>
                            <a:srgbClr val="0F172A"/>
                          </a:solidFill>
                          <a:latin typeface="Plus Jakarta Sans" pitchFamily="34" charset="0"/>
                          <a:ea typeface="Plus Jakarta Sans" pitchFamily="34" charset="-122"/>
                          <a:cs typeface="Plus Jakarta Sans" pitchFamily="34" charset="-120"/>
                        </a:rPr>
                        <a:t>Gejala</a:t>
                      </a:r>
                      <a:endParaRPr lang="en-US" sz="1200" dirty="0">
                        <a:latin typeface="Plus Jakarta Sans" charset="0"/>
                        <a:ea typeface="Plus Jakarta Sans" charset="0"/>
                        <a:cs typeface="Plus Jakarta Sans"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0C4C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0C4C6"/>
                      </a:solidFill>
                      <a:prstDash val="solid"/>
                      <a:round/>
                      <a:headEnd type="none" w="med" len="med"/>
                      <a:tailEnd type="none" w="med" len="med"/>
                    </a:lnB>
                    <a:solidFill>
                      <a:srgbClr val="F1F5F9"/>
                    </a:solidFill>
                  </a:tcPr>
                </a:tc>
                <a:tc>
                  <a:txBody>
                    <a:bodyPr/>
                    <a:lstStyle/>
                    <a:p>
                      <a:pPr indent="0" marL="0">
                        <a:lnSpc>
                          <a:spcPts val="1680"/>
                        </a:lnSpc>
                        <a:buNone/>
                      </a:pPr>
                      <a:r>
                        <a:rPr lang="en-US" sz="1200" b="1" dirty="0">
                          <a:solidFill>
                            <a:srgbClr val="0F172A"/>
                          </a:solidFill>
                          <a:latin typeface="Plus Jakarta Sans" pitchFamily="34" charset="0"/>
                          <a:ea typeface="Plus Jakarta Sans" pitchFamily="34" charset="-122"/>
                          <a:cs typeface="Plus Jakarta Sans" pitchFamily="34" charset="-120"/>
                        </a:rPr>
                        <a:t>Penyebab</a:t>
                      </a:r>
                      <a:endParaRPr lang="en-US" sz="1200" dirty="0">
                        <a:latin typeface="Plus Jakarta Sans" charset="0"/>
                        <a:ea typeface="Plus Jakarta Sans" charset="0"/>
                        <a:cs typeface="Plus Jakarta Sans" charset="0"/>
                      </a:endParaRPr>
                    </a:p>
                  </a:txBody>
                  <a:tcPr marL="53340" marR="53340" marT="53340" marB="53340" anchor="t">
                    <a:lnL w="12700" cap="flat" cmpd="sng" algn="ctr">
                      <a:solidFill>
                        <a:srgbClr val="C0C4C6"/>
                      </a:solidFill>
                      <a:prstDash val="solid"/>
                      <a:round/>
                      <a:headEnd type="none" w="med" len="med"/>
                      <a:tailEnd type="none" w="med" len="med"/>
                    </a:lnL>
                    <a:lnR w="12700" cap="flat" cmpd="sng" algn="ctr">
                      <a:solidFill>
                        <a:srgbClr val="C0C4C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0C4C6"/>
                      </a:solidFill>
                      <a:prstDash val="solid"/>
                      <a:round/>
                      <a:headEnd type="none" w="med" len="med"/>
                      <a:tailEnd type="none" w="med" len="med"/>
                    </a:lnB>
                    <a:solidFill>
                      <a:srgbClr val="F1F5F9"/>
                    </a:solidFill>
                  </a:tcPr>
                </a:tc>
                <a:tc>
                  <a:txBody>
                    <a:bodyPr/>
                    <a:lstStyle/>
                    <a:p>
                      <a:pPr indent="0" marL="0">
                        <a:lnSpc>
                          <a:spcPts val="1680"/>
                        </a:lnSpc>
                        <a:buNone/>
                      </a:pPr>
                      <a:r>
                        <a:rPr lang="en-US" sz="1200" b="1" dirty="0">
                          <a:solidFill>
                            <a:srgbClr val="0F172A"/>
                          </a:solidFill>
                          <a:latin typeface="Plus Jakarta Sans" pitchFamily="34" charset="0"/>
                          <a:ea typeface="Plus Jakarta Sans" pitchFamily="34" charset="-122"/>
                          <a:cs typeface="Plus Jakarta Sans" pitchFamily="34" charset="-120"/>
                        </a:rPr>
                        <a:t>Perbaikan</a:t>
                      </a:r>
                      <a:endParaRPr lang="en-US" sz="1200" dirty="0">
                        <a:latin typeface="Plus Jakarta Sans" charset="0"/>
                        <a:ea typeface="Plus Jakarta Sans" charset="0"/>
                        <a:cs typeface="Plus Jakarta Sans" charset="0"/>
                      </a:endParaRPr>
                    </a:p>
                  </a:txBody>
                  <a:tcPr marL="53340" marR="53340" marT="53340" marB="53340" anchor="t">
                    <a:lnL w="12700" cap="flat" cmpd="sng" algn="ctr">
                      <a:solidFill>
                        <a:srgbClr val="C0C4C6"/>
                      </a:solidFill>
                      <a:prstDash val="solid"/>
                      <a:round/>
                      <a:headEnd type="none" w="med" len="med"/>
                      <a:tailEnd type="none" w="med" len="med"/>
                    </a:lnL>
                    <a:lnR w="12700" cap="flat" cmpd="sng" algn="ctr">
                      <a:solidFill>
                        <a:srgbClr val="C0C4C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0C4C6"/>
                      </a:solidFill>
                      <a:prstDash val="solid"/>
                      <a:round/>
                      <a:headEnd type="none" w="med" len="med"/>
                      <a:tailEnd type="none" w="med" len="med"/>
                    </a:lnB>
                    <a:solidFill>
                      <a:srgbClr val="F1F5F9"/>
                    </a:solidFill>
                  </a:tcPr>
                </a:tc>
              </a:tr>
              <a:tr h="545902">
                <a:tc>
                  <a:txBody>
                    <a:bodyPr/>
                    <a:lstStyle/>
                    <a:p>
                      <a:pPr indent="0" marL="0">
                        <a:lnSpc>
                          <a:spcPts val="1680"/>
                        </a:lnSpc>
                        <a:buNone/>
                      </a:pPr>
                      <a:r>
                        <a:rPr lang="en-US" sz="1200" dirty="0">
                          <a:solidFill>
                            <a:srgbClr val="475569"/>
                          </a:solidFill>
                          <a:latin typeface="Plus Jakarta Sans" pitchFamily="34" charset="0"/>
                          <a:ea typeface="Plus Jakarta Sans" pitchFamily="34" charset="-122"/>
                          <a:cs typeface="Plus Jakarta Sans" pitchFamily="34" charset="-120"/>
                        </a:rPr>
                        <a:t>“Tidak dapat terhubung ke server” setelah pindah ke produksi</a:t>
                      </a:r>
                      <a:endParaRPr lang="en-US" sz="1200" dirty="0">
                        <a:latin typeface="Plus Jakarta Sans" charset="0"/>
                        <a:ea typeface="Plus Jakarta Sans" charset="0"/>
                        <a:cs typeface="Plus Jakarta Sans"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0C4C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475569"/>
                          </a:solidFill>
                          <a:latin typeface="Plus Jakarta Sans" pitchFamily="34" charset="0"/>
                          <a:ea typeface="Plus Jakarta Sans" pitchFamily="34" charset="-122"/>
                          <a:cs typeface="Plus Jakarta Sans" pitchFamily="34" charset="-120"/>
                        </a:rPr>
                        <a:t>FE pindah ke :8080, CORS masih mengizinkan :5173</a:t>
                      </a:r>
                      <a:endParaRPr lang="en-US" sz="1200" dirty="0">
                        <a:latin typeface="Plus Jakarta Sans" charset="0"/>
                        <a:ea typeface="Plus Jakarta Sans" charset="0"/>
                        <a:cs typeface="Plus Jakarta Sans"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0C4C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475569"/>
                          </a:solidFill>
                          <a:latin typeface="Plus Jakarta Sans" pitchFamily="34" charset="0"/>
                          <a:ea typeface="Plus Jakarta Sans" pitchFamily="34" charset="-122"/>
                          <a:cs typeface="Plus Jakarta Sans" pitchFamily="34" charset="-120"/>
                        </a:rPr>
                        <a:t>CORS_ALLOWED_ORIGINS diganti ke :8080, container BE dibuat ulang</a:t>
                      </a:r>
                      <a:endParaRPr lang="en-US" sz="1200" dirty="0">
                        <a:latin typeface="Plus Jakarta Sans" charset="0"/>
                        <a:ea typeface="Plus Jakarta Sans" charset="0"/>
                        <a:cs typeface="Plus Jakarta Sans"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0C4C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545902">
                <a:tc>
                  <a:txBody>
                    <a:bodyPr/>
                    <a:lstStyle/>
                    <a:p>
                      <a:pPr indent="0" marL="0">
                        <a:lnSpc>
                          <a:spcPts val="1680"/>
                        </a:lnSpc>
                        <a:buNone/>
                      </a:pPr>
                      <a:r>
                        <a:rPr lang="en-US" sz="1200" dirty="0">
                          <a:solidFill>
                            <a:srgbClr val="475569"/>
                          </a:solidFill>
                          <a:latin typeface="Plus Jakarta Sans" pitchFamily="34" charset="0"/>
                          <a:ea typeface="Plus Jakarta Sans" pitchFamily="34" charset="-122"/>
                          <a:cs typeface="Plus Jakarta Sans" pitchFamily="34" charset="-120"/>
                        </a:rPr>
                        <a:t>Build gagal: invalid file request public/storage</a:t>
                      </a:r>
                      <a:endParaRPr lang="en-US" sz="1200" dirty="0">
                        <a:latin typeface="Plus Jakarta Sans" charset="0"/>
                        <a:ea typeface="Plus Jakarta Sans" charset="0"/>
                        <a:cs typeface="Plus Jakarta Sans"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475569"/>
                          </a:solidFill>
                          <a:latin typeface="Plus Jakarta Sans" pitchFamily="34" charset="0"/>
                          <a:ea typeface="Plus Jakarta Sans" pitchFamily="34" charset="-122"/>
                          <a:cs typeface="Plus Jakarta Sans" pitchFamily="34" charset="-120"/>
                        </a:rPr>
                        <a:t>Symlink storage:link dari development menunjuk path di container</a:t>
                      </a:r>
                      <a:endParaRPr lang="en-US" sz="1200" dirty="0">
                        <a:latin typeface="Plus Jakarta Sans" charset="0"/>
                        <a:ea typeface="Plus Jakarta Sans" charset="0"/>
                        <a:cs typeface="Plus Jakarta Sans"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475569"/>
                          </a:solidFill>
                          <a:latin typeface="Plus Jakarta Sans" pitchFamily="34" charset="0"/>
                          <a:ea typeface="Plus Jakarta Sans" pitchFamily="34" charset="-122"/>
                          <a:cs typeface="Plus Jakarta Sans" pitchFamily="34" charset="-120"/>
                        </a:rPr>
                        <a:t>Diabaikan di .dockerignore, dibuat ulang di entrypoint</a:t>
                      </a:r>
                      <a:endParaRPr lang="en-US" sz="1200" dirty="0">
                        <a:latin typeface="Plus Jakarta Sans" charset="0"/>
                        <a:ea typeface="Plus Jakarta Sans" charset="0"/>
                        <a:cs typeface="Plus Jakarta Sans"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545902">
                <a:tc>
                  <a:txBody>
                    <a:bodyPr/>
                    <a:lstStyle/>
                    <a:p>
                      <a:pPr indent="0" marL="0">
                        <a:lnSpc>
                          <a:spcPts val="1680"/>
                        </a:lnSpc>
                        <a:buNone/>
                      </a:pPr>
                      <a:r>
                        <a:rPr lang="en-US" sz="1200" dirty="0">
                          <a:solidFill>
                            <a:srgbClr val="475569"/>
                          </a:solidFill>
                          <a:latin typeface="Plus Jakarta Sans" pitchFamily="34" charset="0"/>
                          <a:ea typeface="Plus Jakarta Sans" pitchFamily="34" charset="-122"/>
                          <a:cs typeface="Plus Jakarta Sans" pitchFamily="34" charset="-120"/>
                        </a:rPr>
                        <a:t>Ekstensi “intl” dibutuhkan</a:t>
                      </a:r>
                      <a:endParaRPr lang="en-US" sz="1200" dirty="0">
                        <a:latin typeface="Plus Jakarta Sans" charset="0"/>
                        <a:ea typeface="Plus Jakarta Sans" charset="0"/>
                        <a:cs typeface="Plus Jakarta Sans"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475569"/>
                          </a:solidFill>
                          <a:latin typeface="Plus Jakarta Sans" pitchFamily="34" charset="0"/>
                          <a:ea typeface="Plus Jakarta Sans" pitchFamily="34" charset="-122"/>
                          <a:cs typeface="Plus Jakarta Sans" pitchFamily="34" charset="-120"/>
                        </a:rPr>
                        <a:t>Ekstensi PHP intl belum terpasang di image BE</a:t>
                      </a:r>
                      <a:endParaRPr lang="en-US" sz="1200" dirty="0">
                        <a:latin typeface="Plus Jakarta Sans" charset="0"/>
                        <a:ea typeface="Plus Jakarta Sans" charset="0"/>
                        <a:cs typeface="Plus Jakarta Sans"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475569"/>
                          </a:solidFill>
                          <a:latin typeface="Plus Jakarta Sans" pitchFamily="34" charset="0"/>
                          <a:ea typeface="Plus Jakarta Sans" pitchFamily="34" charset="-122"/>
                          <a:cs typeface="Plus Jakarta Sans" pitchFamily="34" charset="-120"/>
                        </a:rPr>
                        <a:t>Tambah libicu-dev dan ekstensi intl di Dockerfile</a:t>
                      </a:r>
                      <a:endParaRPr lang="en-US" sz="1200" dirty="0">
                        <a:latin typeface="Plus Jakarta Sans" charset="0"/>
                        <a:ea typeface="Plus Jakarta Sans" charset="0"/>
                        <a:cs typeface="Plus Jakarta Sans"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545902">
                <a:tc>
                  <a:txBody>
                    <a:bodyPr/>
                    <a:lstStyle/>
                    <a:p>
                      <a:pPr indent="0" marL="0">
                        <a:lnSpc>
                          <a:spcPts val="1680"/>
                        </a:lnSpc>
                        <a:buNone/>
                      </a:pPr>
                      <a:r>
                        <a:rPr lang="en-US" sz="1200" dirty="0">
                          <a:solidFill>
                            <a:srgbClr val="475569"/>
                          </a:solidFill>
                          <a:latin typeface="Plus Jakarta Sans" pitchFamily="34" charset="0"/>
                          <a:ea typeface="Plus Jakarta Sans" pitchFamily="34" charset="-122"/>
                          <a:cs typeface="Plus Jakarta Sans" pitchFamily="34" charset="-120"/>
                        </a:rPr>
                        <a:t>Port 3306 terbuka di laptop</a:t>
                      </a:r>
                      <a:endParaRPr lang="en-US" sz="1200" dirty="0">
                        <a:latin typeface="Plus Jakarta Sans" charset="0"/>
                        <a:ea typeface="Plus Jakarta Sans" charset="0"/>
                        <a:cs typeface="Plus Jakarta Sans"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475569"/>
                          </a:solidFill>
                          <a:latin typeface="Plus Jakarta Sans" pitchFamily="34" charset="0"/>
                          <a:ea typeface="Plus Jakarta Sans" pitchFamily="34" charset="-122"/>
                          <a:cs typeface="Plus Jakarta Sans" pitchFamily="34" charset="-120"/>
                        </a:rPr>
                        <a:t>MySQL lain yang berjalan langsung di Windows</a:t>
                      </a:r>
                      <a:endParaRPr lang="en-US" sz="1200" dirty="0">
                        <a:latin typeface="Plus Jakarta Sans" charset="0"/>
                        <a:ea typeface="Plus Jakarta Sans" charset="0"/>
                        <a:cs typeface="Plus Jakarta Sans"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475569"/>
                          </a:solidFill>
                          <a:latin typeface="Plus Jakarta Sans" pitchFamily="34" charset="0"/>
                          <a:ea typeface="Plus Jakarta Sans" pitchFamily="34" charset="-122"/>
                          <a:cs typeface="Plus Jakarta Sans" pitchFamily="34" charset="-120"/>
                        </a:rPr>
                        <a:t>Dicek dengan docker port, service Windows dimatikan</a:t>
                      </a:r>
                      <a:endParaRPr lang="en-US" sz="1200" dirty="0">
                        <a:latin typeface="Plus Jakarta Sans" charset="0"/>
                        <a:ea typeface="Plus Jakarta Sans" charset="0"/>
                        <a:cs typeface="Plus Jakarta Sans"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545902">
                <a:tc>
                  <a:txBody>
                    <a:bodyPr/>
                    <a:lstStyle/>
                    <a:p>
                      <a:pPr indent="0" marL="0">
                        <a:lnSpc>
                          <a:spcPts val="1680"/>
                        </a:lnSpc>
                        <a:buNone/>
                      </a:pPr>
                      <a:r>
                        <a:rPr lang="en-US" sz="1200" dirty="0">
                          <a:solidFill>
                            <a:srgbClr val="475569"/>
                          </a:solidFill>
                          <a:latin typeface="Plus Jakarta Sans" pitchFamily="34" charset="0"/>
                          <a:ea typeface="Plus Jakarta Sans" pitchFamily="34" charset="-122"/>
                          <a:cs typeface="Plus Jakarta Sans" pitchFamily="34" charset="-120"/>
                        </a:rPr>
                        <a:t>“Terjadi kesalahan di server”</a:t>
                      </a:r>
                      <a:endParaRPr lang="en-US" sz="1200" dirty="0">
                        <a:latin typeface="Plus Jakarta Sans" charset="0"/>
                        <a:ea typeface="Plus Jakarta Sans" charset="0"/>
                        <a:cs typeface="Plus Jakarta Sans"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475569"/>
                          </a:solidFill>
                          <a:latin typeface="Plus Jakarta Sans" pitchFamily="34" charset="0"/>
                          <a:ea typeface="Plus Jakarta Sans" pitchFamily="34" charset="-122"/>
                          <a:cs typeface="Plus Jakarta Sans" pitchFamily="34" charset="-120"/>
                        </a:rPr>
                        <a:t>DB mati, BE tetap hidup dan membalas 500</a:t>
                      </a:r>
                      <a:endParaRPr lang="en-US" sz="1200" dirty="0">
                        <a:latin typeface="Plus Jakarta Sans" charset="0"/>
                        <a:ea typeface="Plus Jakarta Sans" charset="0"/>
                        <a:cs typeface="Plus Jakarta Sans"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475569"/>
                          </a:solidFill>
                          <a:latin typeface="Plus Jakarta Sans" pitchFamily="34" charset="0"/>
                          <a:ea typeface="Plus Jakarta Sans" pitchFamily="34" charset="-122"/>
                          <a:cs typeface="Plus Jakarta Sans" pitchFamily="34" charset="-120"/>
                        </a:rPr>
                        <a:t>Beda dengan CORS, yang sama sekali tidak memberi respons</a:t>
                      </a:r>
                      <a:endParaRPr lang="en-US" sz="1200" dirty="0">
                        <a:latin typeface="Plus Jakarta Sans" charset="0"/>
                        <a:ea typeface="Plus Jakarta Sans" charset="0"/>
                        <a:cs typeface="Plus Jakarta Sans"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bl>
          </a:graphicData>
        </a:graphic>
      </p:graphicFrame>
      <p:sp>
        <p:nvSpPr>
          <p:cNvPr id="8" name="Text 5"/>
          <p:cNvSpPr/>
          <p:nvPr/>
        </p:nvSpPr>
        <p:spPr>
          <a:xfrm>
            <a:off x="495808" y="6306840"/>
            <a:ext cx="10883392" cy="220960"/>
          </a:xfrm>
          <a:prstGeom prst="rect">
            <a:avLst/>
          </a:prstGeom>
          <a:noFill/>
          <a:ln/>
        </p:spPr>
        <p:txBody>
          <a:bodyPr wrap="square" lIns="0" tIns="0" rIns="0" bIns="0" rtlCol="0" anchor="t">
            <a:normAutofit/>
          </a:bodyPr>
          <a:lstStyle/>
          <a:p>
            <a:pPr algn="r" indent="0" marL="0">
              <a:lnSpc>
                <a:spcPts val="1540"/>
              </a:lnSpc>
              <a:buNone/>
            </a:pPr>
            <a:r>
              <a:rPr lang="en-US" sz="1100" dirty="0">
                <a:solidFill>
                  <a:srgbClr val="94A3B8"/>
                </a:solidFill>
                <a:latin typeface="Plus Jakarta Sans" pitchFamily="34" charset="0"/>
                <a:ea typeface="Plus Jakarta Sans" pitchFamily="34" charset="-122"/>
                <a:cs typeface="Plus Jakarta Sans" pitchFamily="34" charset="-120"/>
              </a:rPr>
              <a:t>13</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12800" y="762000"/>
            <a:ext cx="10883392" cy="25648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2563EB"/>
                </a:solidFill>
                <a:latin typeface="Plus Jakarta Sans" pitchFamily="34" charset="0"/>
                <a:ea typeface="Plus Jakarta Sans" pitchFamily="34" charset="-122"/>
                <a:cs typeface="Plus Jakarta Sans" pitchFamily="34" charset="-120"/>
              </a:rPr>
              <a:t>Ke server sungguhan</a:t>
            </a:r>
            <a:endParaRPr lang="en-US" sz="1300" dirty="0"/>
          </a:p>
        </p:txBody>
      </p:sp>
      <p:sp>
        <p:nvSpPr>
          <p:cNvPr id="3" name="Text 1"/>
          <p:cNvSpPr/>
          <p:nvPr>
            <p:ph type="title"/>
          </p:nvPr>
        </p:nvSpPr>
        <p:spPr>
          <a:xfrm>
            <a:off x="812800" y="1094680"/>
            <a:ext cx="10883392" cy="463550"/>
          </a:xfrm>
          <a:prstGeom prst="rect">
            <a:avLst/>
          </a:prstGeom>
          <a:noFill/>
          <a:ln/>
        </p:spPr>
        <p:txBody>
          <a:bodyPr wrap="square" lIns="0" tIns="0" rIns="0" bIns="0" rtlCol="0" anchor="t">
            <a:normAutofit/>
          </a:bodyPr>
          <a:lstStyle/>
          <a:p>
            <a:pPr algn="l" indent="0" marL="0">
              <a:lnSpc>
                <a:spcPts val="3450"/>
              </a:lnSpc>
              <a:buNone/>
            </a:pPr>
            <a:r>
              <a:rPr lang="en-US" sz="3000" b="1" i="0" dirty="0">
                <a:solidFill>
                  <a:srgbClr val="0F172A"/>
                </a:solidFill>
                <a:latin typeface="Plus Jakarta Sans" pitchFamily="34" charset="0"/>
                <a:ea typeface="Plus Jakarta Sans" pitchFamily="34" charset="-122"/>
                <a:cs typeface="Plus Jakarta Sans" pitchFamily="34" charset="-120"/>
              </a:rPr>
              <a:t>Pola yang sama, hanya alamatnya yang berganti</a:t>
            </a:r>
            <a:endParaRPr lang="en-US" sz="3000" dirty="0"/>
          </a:p>
        </p:txBody>
      </p:sp>
      <p:sp>
        <p:nvSpPr>
          <p:cNvPr id="4" name="Shape 2"/>
          <p:cNvSpPr/>
          <p:nvPr/>
        </p:nvSpPr>
        <p:spPr>
          <a:xfrm>
            <a:off x="812800" y="1786830"/>
            <a:ext cx="10566400" cy="2720777"/>
          </a:xfrm>
          <a:prstGeom prst="rect">
            <a:avLst/>
          </a:prstGeom>
          <a:solidFill>
            <a:srgbClr val="FFFFFF"/>
          </a:solidFill>
          <a:ln/>
        </p:spPr>
      </p:sp>
      <p:sp>
        <p:nvSpPr>
          <p:cNvPr id="5" name="Shape 3"/>
          <p:cNvSpPr/>
          <p:nvPr/>
        </p:nvSpPr>
        <p:spPr>
          <a:xfrm>
            <a:off x="11376025" y="1786830"/>
            <a:ext cx="0" cy="2720777"/>
          </a:xfrm>
          <a:prstGeom prst="line">
            <a:avLst/>
          </a:prstGeom>
          <a:noFill/>
          <a:ln w="6350">
            <a:solidFill>
              <a:srgbClr val="E2E8F0"/>
            </a:solidFill>
            <a:prstDash val="solid"/>
          </a:ln>
        </p:spPr>
      </p:sp>
      <p:sp>
        <p:nvSpPr>
          <p:cNvPr id="6" name="Shape 4"/>
          <p:cNvSpPr/>
          <p:nvPr/>
        </p:nvSpPr>
        <p:spPr>
          <a:xfrm>
            <a:off x="812800" y="4504432"/>
            <a:ext cx="10566400" cy="0"/>
          </a:xfrm>
          <a:prstGeom prst="line">
            <a:avLst/>
          </a:prstGeom>
          <a:noFill/>
          <a:ln w="6350">
            <a:solidFill>
              <a:srgbClr val="E2E8F0"/>
            </a:solidFill>
            <a:prstDash val="solid"/>
          </a:ln>
        </p:spPr>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825500" y="1799530"/>
          <a:ext cx="10547350" cy="2701727"/>
        </p:xfrm>
        <a:graphic>
          <a:graphicData uri="http://schemas.openxmlformats.org/drawingml/2006/table">
            <a:tbl>
              <a:tblPr/>
              <a:tblGrid>
                <a:gridCol w="4218940"/>
                <a:gridCol w="6328410"/>
              </a:tblGrid>
              <a:tr h="385961">
                <a:tc>
                  <a:txBody>
                    <a:bodyPr/>
                    <a:lstStyle/>
                    <a:p>
                      <a:pPr indent="0" marL="0">
                        <a:lnSpc>
                          <a:spcPts val="1960"/>
                        </a:lnSpc>
                        <a:buNone/>
                      </a:pPr>
                      <a:r>
                        <a:rPr lang="en-US" sz="1400" b="1" dirty="0">
                          <a:solidFill>
                            <a:srgbClr val="0F172A"/>
                          </a:solidFill>
                          <a:latin typeface="Plus Jakarta Sans" pitchFamily="34" charset="0"/>
                          <a:ea typeface="Plus Jakarta Sans" pitchFamily="34" charset="-122"/>
                          <a:cs typeface="Plus Jakarta Sans" pitchFamily="34" charset="-120"/>
                        </a:rPr>
                        <a:t>Di demo ini</a:t>
                      </a:r>
                      <a:endParaRPr lang="en-US" sz="1400" dirty="0">
                        <a:latin typeface="Plus Jakarta Sans" charset="0"/>
                        <a:ea typeface="Plus Jakarta Sans" charset="0"/>
                        <a:cs typeface="Plus Jakarta Sans"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0C4C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0C4C6"/>
                      </a:solidFill>
                      <a:prstDash val="solid"/>
                      <a:round/>
                      <a:headEnd type="none" w="med" len="med"/>
                      <a:tailEnd type="none" w="med" len="med"/>
                    </a:lnB>
                    <a:solidFill>
                      <a:srgbClr val="F1F5F9"/>
                    </a:solidFill>
                  </a:tcPr>
                </a:tc>
                <a:tc>
                  <a:txBody>
                    <a:bodyPr/>
                    <a:lstStyle/>
                    <a:p>
                      <a:pPr indent="0" marL="0">
                        <a:lnSpc>
                          <a:spcPts val="1960"/>
                        </a:lnSpc>
                        <a:buNone/>
                      </a:pPr>
                      <a:r>
                        <a:rPr lang="en-US" sz="1400" b="1" dirty="0">
                          <a:solidFill>
                            <a:srgbClr val="0F172A"/>
                          </a:solidFill>
                          <a:latin typeface="Plus Jakarta Sans" pitchFamily="34" charset="0"/>
                          <a:ea typeface="Plus Jakarta Sans" pitchFamily="34" charset="-122"/>
                          <a:cs typeface="Plus Jakarta Sans" pitchFamily="34" charset="-120"/>
                        </a:rPr>
                        <a:t>Di produksi</a:t>
                      </a:r>
                      <a:endParaRPr lang="en-US" sz="1400" dirty="0">
                        <a:latin typeface="Plus Jakarta Sans" charset="0"/>
                        <a:ea typeface="Plus Jakarta Sans" charset="0"/>
                        <a:cs typeface="Plus Jakarta Sans" charset="0"/>
                      </a:endParaRPr>
                    </a:p>
                  </a:txBody>
                  <a:tcPr marL="62230" marR="62230" marT="62230" marB="62230" anchor="t">
                    <a:lnL w="12700" cap="flat" cmpd="sng" algn="ctr">
                      <a:solidFill>
                        <a:srgbClr val="C0C4C6"/>
                      </a:solidFill>
                      <a:prstDash val="solid"/>
                      <a:round/>
                      <a:headEnd type="none" w="med" len="med"/>
                      <a:tailEnd type="none" w="med" len="med"/>
                    </a:lnL>
                    <a:lnR w="12700" cap="flat" cmpd="sng" algn="ctr">
                      <a:solidFill>
                        <a:srgbClr val="C0C4C6"/>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0C4C6"/>
                      </a:solidFill>
                      <a:prstDash val="solid"/>
                      <a:round/>
                      <a:headEnd type="none" w="med" len="med"/>
                      <a:tailEnd type="none" w="med" len="med"/>
                    </a:lnB>
                    <a:solidFill>
                      <a:srgbClr val="F1F5F9"/>
                    </a:solidFill>
                  </a:tcPr>
                </a:tc>
              </a:tr>
              <a:tr h="385961">
                <a:tc>
                  <a:txBody>
                    <a:bodyPr/>
                    <a:lstStyle/>
                    <a:p>
                      <a:pPr indent="0" marL="0">
                        <a:lnSpc>
                          <a:spcPts val="1960"/>
                        </a:lnSpc>
                        <a:buNone/>
                      </a:pPr>
                      <a:r>
                        <a:rPr lang="en-US" sz="1400" dirty="0">
                          <a:solidFill>
                            <a:srgbClr val="475569"/>
                          </a:solidFill>
                          <a:latin typeface="Plus Jakarta Sans" pitchFamily="34" charset="0"/>
                          <a:ea typeface="Plus Jakarta Sans" pitchFamily="34" charset="-122"/>
                          <a:cs typeface="Plus Jakarta Sans" pitchFamily="34" charset="-120"/>
                        </a:rPr>
                        <a:t>Tiga container</a:t>
                      </a:r>
                      <a:endParaRPr lang="en-US" sz="1400" dirty="0">
                        <a:latin typeface="Plus Jakarta Sans" charset="0"/>
                        <a:ea typeface="Plus Jakarta Sans" charset="0"/>
                        <a:cs typeface="Plus Jakarta Sans"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0C4C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960"/>
                        </a:lnSpc>
                        <a:buNone/>
                      </a:pPr>
                      <a:r>
                        <a:rPr lang="en-US" sz="1400" dirty="0">
                          <a:solidFill>
                            <a:srgbClr val="475569"/>
                          </a:solidFill>
                          <a:latin typeface="Plus Jakarta Sans" pitchFamily="34" charset="0"/>
                          <a:ea typeface="Plus Jakarta Sans" pitchFamily="34" charset="-122"/>
                          <a:cs typeface="Plus Jakarta Sans" pitchFamily="34" charset="-120"/>
                        </a:rPr>
                        <a:t>Tiga VM atau VPS terpisah, image Docker yang sama</a:t>
                      </a:r>
                      <a:endParaRPr lang="en-US" sz="1400" dirty="0">
                        <a:latin typeface="Plus Jakarta Sans" charset="0"/>
                        <a:ea typeface="Plus Jakarta Sans" charset="0"/>
                        <a:cs typeface="Plus Jakarta Sans"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0C4C6"/>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85961">
                <a:tc>
                  <a:txBody>
                    <a:bodyPr/>
                    <a:lstStyle/>
                    <a:p>
                      <a:pPr indent="0" marL="0">
                        <a:lnSpc>
                          <a:spcPts val="1960"/>
                        </a:lnSpc>
                        <a:buNone/>
                      </a:pPr>
                      <a:r>
                        <a:rPr lang="en-US" sz="1400" dirty="0">
                          <a:solidFill>
                            <a:srgbClr val="475569"/>
                          </a:solidFill>
                          <a:latin typeface="Plus Jakarta Sans" pitchFamily="34" charset="0"/>
                          <a:ea typeface="Plus Jakarta Sans" pitchFamily="34" charset="-122"/>
                          <a:cs typeface="Plus Jakarta Sans" pitchFamily="34" charset="-120"/>
                        </a:rPr>
                        <a:t>localhost:8080 dan :8000</a:t>
                      </a:r>
                      <a:endParaRPr lang="en-US" sz="1400" dirty="0">
                        <a:latin typeface="Plus Jakarta Sans" charset="0"/>
                        <a:ea typeface="Plus Jakarta Sans" charset="0"/>
                        <a:cs typeface="Plus Jakarta Sans"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960"/>
                        </a:lnSpc>
                        <a:buNone/>
                      </a:pPr>
                      <a:r>
                        <a:rPr lang="en-US" sz="1400" dirty="0">
                          <a:solidFill>
                            <a:srgbClr val="475569"/>
                          </a:solidFill>
                          <a:latin typeface="Plus Jakarta Sans" pitchFamily="34" charset="0"/>
                          <a:ea typeface="Plus Jakarta Sans" pitchFamily="34" charset="-122"/>
                          <a:cs typeface="Plus Jakarta Sans" pitchFamily="34" charset="-120"/>
                        </a:rPr>
                        <a:t>Domain dan DNS, misalnya app.[domain] dan api.[domain]</a:t>
                      </a:r>
                      <a:endParaRPr lang="en-US" sz="1400" dirty="0">
                        <a:latin typeface="Plus Jakarta Sans" charset="0"/>
                        <a:ea typeface="Plus Jakarta Sans" charset="0"/>
                        <a:cs typeface="Plus Jakarta Sans"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85961">
                <a:tc>
                  <a:txBody>
                    <a:bodyPr/>
                    <a:lstStyle/>
                    <a:p>
                      <a:pPr indent="0" marL="0">
                        <a:lnSpc>
                          <a:spcPts val="1960"/>
                        </a:lnSpc>
                        <a:buNone/>
                      </a:pPr>
                      <a:r>
                        <a:rPr lang="en-US" sz="1400" dirty="0">
                          <a:solidFill>
                            <a:srgbClr val="475569"/>
                          </a:solidFill>
                          <a:latin typeface="Plus Jakarta Sans" pitchFamily="34" charset="0"/>
                          <a:ea typeface="Plus Jakarta Sans" pitchFamily="34" charset="-122"/>
                          <a:cs typeface="Plus Jakarta Sans" pitchFamily="34" charset="-120"/>
                        </a:rPr>
                        <a:t>Port HTTP</a:t>
                      </a:r>
                      <a:endParaRPr lang="en-US" sz="1400" dirty="0">
                        <a:latin typeface="Plus Jakarta Sans" charset="0"/>
                        <a:ea typeface="Plus Jakarta Sans" charset="0"/>
                        <a:cs typeface="Plus Jakarta Sans"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960"/>
                        </a:lnSpc>
                        <a:buNone/>
                      </a:pPr>
                      <a:r>
                        <a:rPr lang="en-US" sz="1400" dirty="0">
                          <a:solidFill>
                            <a:srgbClr val="475569"/>
                          </a:solidFill>
                          <a:latin typeface="Plus Jakarta Sans" pitchFamily="34" charset="0"/>
                          <a:ea typeface="Plus Jakarta Sans" pitchFamily="34" charset="-122"/>
                          <a:cs typeface="Plus Jakarta Sans" pitchFamily="34" charset="-120"/>
                        </a:rPr>
                        <a:t>HTTPS dengan Let’s Encrypt, publik hanya 80 dan 443</a:t>
                      </a:r>
                      <a:endParaRPr lang="en-US" sz="1400" dirty="0">
                        <a:latin typeface="Plus Jakarta Sans" charset="0"/>
                        <a:ea typeface="Plus Jakarta Sans" charset="0"/>
                        <a:cs typeface="Plus Jakarta Sans"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85961">
                <a:tc>
                  <a:txBody>
                    <a:bodyPr/>
                    <a:lstStyle/>
                    <a:p>
                      <a:pPr indent="0" marL="0">
                        <a:lnSpc>
                          <a:spcPts val="1960"/>
                        </a:lnSpc>
                        <a:buNone/>
                      </a:pPr>
                      <a:r>
                        <a:rPr lang="en-US" sz="1400" dirty="0">
                          <a:solidFill>
                            <a:srgbClr val="475569"/>
                          </a:solidFill>
                          <a:latin typeface="Plus Jakarta Sans" pitchFamily="34" charset="0"/>
                          <a:ea typeface="Plus Jakarta Sans" pitchFamily="34" charset="-122"/>
                          <a:cs typeface="Plus Jakarta Sans" pitchFamily="34" charset="-120"/>
                        </a:rPr>
                        <a:t>Jaringan pos_db internal</a:t>
                      </a:r>
                      <a:endParaRPr lang="en-US" sz="1400" dirty="0">
                        <a:latin typeface="Plus Jakarta Sans" charset="0"/>
                        <a:ea typeface="Plus Jakarta Sans" charset="0"/>
                        <a:cs typeface="Plus Jakarta Sans"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960"/>
                        </a:lnSpc>
                        <a:buNone/>
                      </a:pPr>
                      <a:r>
                        <a:rPr lang="en-US" sz="1400" dirty="0">
                          <a:solidFill>
                            <a:srgbClr val="475569"/>
                          </a:solidFill>
                          <a:latin typeface="Plus Jakarta Sans" pitchFamily="34" charset="0"/>
                          <a:ea typeface="Plus Jakarta Sans" pitchFamily="34" charset="-122"/>
                          <a:cs typeface="Plus Jakarta Sans" pitchFamily="34" charset="-120"/>
                        </a:rPr>
                        <a:t>Jaringan privat dan firewall: 3306 hanya dari IP BE</a:t>
                      </a:r>
                      <a:endParaRPr lang="en-US" sz="1400" dirty="0">
                        <a:latin typeface="Plus Jakarta Sans" charset="0"/>
                        <a:ea typeface="Plus Jakarta Sans" charset="0"/>
                        <a:cs typeface="Plus Jakarta Sans"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85961">
                <a:tc>
                  <a:txBody>
                    <a:bodyPr/>
                    <a:lstStyle/>
                    <a:p>
                      <a:pPr indent="0" marL="0">
                        <a:lnSpc>
                          <a:spcPts val="1960"/>
                        </a:lnSpc>
                        <a:buNone/>
                      </a:pPr>
                      <a:r>
                        <a:rPr lang="en-US" sz="1400" dirty="0">
                          <a:solidFill>
                            <a:srgbClr val="475569"/>
                          </a:solidFill>
                          <a:latin typeface="Plus Jakarta Sans" pitchFamily="34" charset="0"/>
                          <a:ea typeface="Plus Jakarta Sans" pitchFamily="34" charset="-122"/>
                          <a:cs typeface="Plus Jakarta Sans" pitchFamily="34" charset="-120"/>
                        </a:rPr>
                        <a:t>Volume pos_mysql_data</a:t>
                      </a:r>
                      <a:endParaRPr lang="en-US" sz="1400" dirty="0">
                        <a:latin typeface="Plus Jakarta Sans" charset="0"/>
                        <a:ea typeface="Plus Jakarta Sans" charset="0"/>
                        <a:cs typeface="Plus Jakarta Sans"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960"/>
                        </a:lnSpc>
                        <a:buNone/>
                      </a:pPr>
                      <a:r>
                        <a:rPr lang="en-US" sz="1400" dirty="0">
                          <a:solidFill>
                            <a:srgbClr val="475569"/>
                          </a:solidFill>
                          <a:latin typeface="Plus Jakarta Sans" pitchFamily="34" charset="0"/>
                          <a:ea typeface="Plus Jakarta Sans" pitchFamily="34" charset="-122"/>
                          <a:cs typeface="Plus Jakarta Sans" pitchFamily="34" charset="-120"/>
                        </a:rPr>
                        <a:t>Volume ditambah backup terjadwal</a:t>
                      </a:r>
                      <a:endParaRPr lang="en-US" sz="1400" dirty="0">
                        <a:latin typeface="Plus Jakarta Sans" charset="0"/>
                        <a:ea typeface="Plus Jakarta Sans" charset="0"/>
                        <a:cs typeface="Plus Jakarta Sans"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85961">
                <a:tc>
                  <a:txBody>
                    <a:bodyPr/>
                    <a:lstStyle/>
                    <a:p>
                      <a:pPr indent="0" marL="0">
                        <a:lnSpc>
                          <a:spcPts val="1960"/>
                        </a:lnSpc>
                        <a:buNone/>
                      </a:pPr>
                      <a:r>
                        <a:rPr lang="en-US" sz="1400" dirty="0">
                          <a:solidFill>
                            <a:srgbClr val="475569"/>
                          </a:solidFill>
                          <a:latin typeface="Plus Jakarta Sans" pitchFamily="34" charset="0"/>
                          <a:ea typeface="Plus Jakarta Sans" pitchFamily="34" charset="-122"/>
                          <a:cs typeface="Plus Jakarta Sans" pitchFamily="34" charset="-120"/>
                        </a:rPr>
                        <a:t>env_file di laptop</a:t>
                      </a:r>
                      <a:endParaRPr lang="en-US" sz="1400" dirty="0">
                        <a:latin typeface="Plus Jakarta Sans" charset="0"/>
                        <a:ea typeface="Plus Jakarta Sans" charset="0"/>
                        <a:cs typeface="Plus Jakarta Sans"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960"/>
                        </a:lnSpc>
                        <a:buNone/>
                      </a:pPr>
                      <a:r>
                        <a:rPr lang="en-US" sz="1400" dirty="0">
                          <a:solidFill>
                            <a:srgbClr val="475569"/>
                          </a:solidFill>
                          <a:latin typeface="Plus Jakarta Sans" pitchFamily="34" charset="0"/>
                          <a:ea typeface="Plus Jakarta Sans" pitchFamily="34" charset="-122"/>
                          <a:cs typeface="Plus Jakarta Sans" pitchFamily="34" charset="-120"/>
                        </a:rPr>
                        <a:t>Rahasia disimpan di server atau secret manager</a:t>
                      </a:r>
                      <a:endParaRPr lang="en-US" sz="1400" dirty="0">
                        <a:latin typeface="Plus Jakarta Sans" charset="0"/>
                        <a:ea typeface="Plus Jakarta Sans" charset="0"/>
                        <a:cs typeface="Plus Jakarta Sans"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bl>
          </a:graphicData>
        </a:graphic>
      </p:graphicFrame>
      <p:sp>
        <p:nvSpPr>
          <p:cNvPr id="8" name="Text 5"/>
          <p:cNvSpPr/>
          <p:nvPr/>
        </p:nvSpPr>
        <p:spPr>
          <a:xfrm>
            <a:off x="495808" y="6306840"/>
            <a:ext cx="10883392" cy="220960"/>
          </a:xfrm>
          <a:prstGeom prst="rect">
            <a:avLst/>
          </a:prstGeom>
          <a:noFill/>
          <a:ln/>
        </p:spPr>
        <p:txBody>
          <a:bodyPr wrap="square" lIns="0" tIns="0" rIns="0" bIns="0" rtlCol="0" anchor="t">
            <a:normAutofit/>
          </a:bodyPr>
          <a:lstStyle/>
          <a:p>
            <a:pPr algn="r" indent="0" marL="0">
              <a:lnSpc>
                <a:spcPts val="1540"/>
              </a:lnSpc>
              <a:buNone/>
            </a:pPr>
            <a:r>
              <a:rPr lang="en-US" sz="1100" dirty="0">
                <a:solidFill>
                  <a:srgbClr val="94A3B8"/>
                </a:solidFill>
                <a:latin typeface="Plus Jakarta Sans" pitchFamily="34" charset="0"/>
                <a:ea typeface="Plus Jakarta Sans" pitchFamily="34" charset="-122"/>
                <a:cs typeface="Plus Jakarta Sans" pitchFamily="34" charset="-120"/>
              </a:rPr>
              <a:t>14</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12800" y="762000"/>
            <a:ext cx="10883392" cy="25648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2563EB"/>
                </a:solidFill>
                <a:latin typeface="Plus Jakarta Sans" pitchFamily="34" charset="0"/>
                <a:ea typeface="Plus Jakarta Sans" pitchFamily="34" charset="-122"/>
                <a:cs typeface="Plus Jakarta Sans" pitchFamily="34" charset="-120"/>
              </a:rPr>
              <a:t>Demo</a:t>
            </a:r>
            <a:endParaRPr lang="en-US" sz="1300" dirty="0"/>
          </a:p>
        </p:txBody>
      </p:sp>
      <p:sp>
        <p:nvSpPr>
          <p:cNvPr id="3" name="Text 1"/>
          <p:cNvSpPr/>
          <p:nvPr>
            <p:ph type="title"/>
          </p:nvPr>
        </p:nvSpPr>
        <p:spPr>
          <a:xfrm>
            <a:off x="812800" y="1094680"/>
            <a:ext cx="10883392" cy="463550"/>
          </a:xfrm>
          <a:prstGeom prst="rect">
            <a:avLst/>
          </a:prstGeom>
          <a:noFill/>
          <a:ln/>
        </p:spPr>
        <p:txBody>
          <a:bodyPr wrap="square" lIns="0" tIns="0" rIns="0" bIns="0" rtlCol="0" anchor="t">
            <a:normAutofit/>
          </a:bodyPr>
          <a:lstStyle/>
          <a:p>
            <a:pPr algn="l" indent="0" marL="0">
              <a:lnSpc>
                <a:spcPts val="3450"/>
              </a:lnSpc>
              <a:buNone/>
            </a:pPr>
            <a:r>
              <a:rPr lang="en-US" sz="3000" b="1" i="0" dirty="0">
                <a:solidFill>
                  <a:srgbClr val="0F172A"/>
                </a:solidFill>
                <a:latin typeface="Plus Jakarta Sans" pitchFamily="34" charset="0"/>
                <a:ea typeface="Plus Jakarta Sans" pitchFamily="34" charset="-122"/>
                <a:cs typeface="Plus Jakarta Sans" pitchFamily="34" charset="-120"/>
              </a:rPr>
              <a:t>Lima hal yang akan ditunjukkan langsung</a:t>
            </a:r>
            <a:endParaRPr lang="en-US" sz="3000" dirty="0"/>
          </a:p>
        </p:txBody>
      </p:sp>
      <p:sp>
        <p:nvSpPr>
          <p:cNvPr id="4" name="Shape 2"/>
          <p:cNvSpPr/>
          <p:nvPr/>
        </p:nvSpPr>
        <p:spPr>
          <a:xfrm>
            <a:off x="812800" y="2386905"/>
            <a:ext cx="10566400" cy="0"/>
          </a:xfrm>
          <a:prstGeom prst="line">
            <a:avLst/>
          </a:prstGeom>
          <a:noFill/>
          <a:ln w="6350">
            <a:solidFill>
              <a:srgbClr val="E2E8F0"/>
            </a:solidFill>
            <a:prstDash val="solid"/>
          </a:ln>
        </p:spPr>
      </p:sp>
      <p:sp>
        <p:nvSpPr>
          <p:cNvPr id="5" name="Text 3"/>
          <p:cNvSpPr/>
          <p:nvPr/>
        </p:nvSpPr>
        <p:spPr>
          <a:xfrm>
            <a:off x="812800" y="1977330"/>
            <a:ext cx="431800"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2563EB"/>
                </a:solidFill>
                <a:latin typeface="Plus Jakarta Sans" pitchFamily="34" charset="0"/>
                <a:ea typeface="Plus Jakarta Sans" pitchFamily="34" charset="-122"/>
                <a:cs typeface="Plus Jakarta Sans" pitchFamily="34" charset="-120"/>
              </a:rPr>
              <a:t>01</a:t>
            </a:r>
            <a:endParaRPr lang="en-US" sz="1500" dirty="0"/>
          </a:p>
        </p:txBody>
      </p:sp>
      <p:sp>
        <p:nvSpPr>
          <p:cNvPr id="6" name="Text 4"/>
          <p:cNvSpPr/>
          <p:nvPr/>
        </p:nvSpPr>
        <p:spPr>
          <a:xfrm>
            <a:off x="1371600" y="1977330"/>
            <a:ext cx="5184219"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0F172A"/>
                </a:solidFill>
                <a:latin typeface="Plus Jakarta Sans" pitchFamily="34" charset="0"/>
                <a:ea typeface="Plus Jakarta Sans" pitchFamily="34" charset="-122"/>
                <a:cs typeface="Plus Jakarta Sans" pitchFamily="34" charset="-120"/>
              </a:rPr>
              <a:t>docker compose ps: tiga container, dua jaringan</a:t>
            </a:r>
            <a:endParaRPr lang="en-US" sz="1500" dirty="0"/>
          </a:p>
        </p:txBody>
      </p:sp>
      <p:sp>
        <p:nvSpPr>
          <p:cNvPr id="7" name="Shape 5"/>
          <p:cNvSpPr/>
          <p:nvPr/>
        </p:nvSpPr>
        <p:spPr>
          <a:xfrm>
            <a:off x="812800" y="2939355"/>
            <a:ext cx="10566400" cy="0"/>
          </a:xfrm>
          <a:prstGeom prst="line">
            <a:avLst/>
          </a:prstGeom>
          <a:noFill/>
          <a:ln w="6350">
            <a:solidFill>
              <a:srgbClr val="E2E8F0"/>
            </a:solidFill>
            <a:prstDash val="solid"/>
          </a:ln>
        </p:spPr>
      </p:sp>
      <p:sp>
        <p:nvSpPr>
          <p:cNvPr id="8" name="Text 6"/>
          <p:cNvSpPr/>
          <p:nvPr/>
        </p:nvSpPr>
        <p:spPr>
          <a:xfrm>
            <a:off x="812800" y="2529780"/>
            <a:ext cx="431800"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2563EB"/>
                </a:solidFill>
                <a:latin typeface="Plus Jakarta Sans" pitchFamily="34" charset="0"/>
                <a:ea typeface="Plus Jakarta Sans" pitchFamily="34" charset="-122"/>
                <a:cs typeface="Plus Jakarta Sans" pitchFamily="34" charset="-120"/>
              </a:rPr>
              <a:t>02</a:t>
            </a:r>
            <a:endParaRPr lang="en-US" sz="1500" dirty="0"/>
          </a:p>
        </p:txBody>
      </p:sp>
      <p:sp>
        <p:nvSpPr>
          <p:cNvPr id="9" name="Text 7"/>
          <p:cNvSpPr/>
          <p:nvPr/>
        </p:nvSpPr>
        <p:spPr>
          <a:xfrm>
            <a:off x="1371600" y="2529780"/>
            <a:ext cx="4800838"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0F172A"/>
                </a:solidFill>
                <a:latin typeface="Plus Jakarta Sans" pitchFamily="34" charset="0"/>
                <a:ea typeface="Plus Jakarta Sans" pitchFamily="34" charset="-122"/>
                <a:cs typeface="Plus Jakarta Sans" pitchFamily="34" charset="-120"/>
              </a:rPr>
              <a:t>Login dan dashboard POS di localhost:8080</a:t>
            </a:r>
            <a:endParaRPr lang="en-US" sz="1500" dirty="0"/>
          </a:p>
        </p:txBody>
      </p:sp>
      <p:sp>
        <p:nvSpPr>
          <p:cNvPr id="10" name="Shape 8"/>
          <p:cNvSpPr/>
          <p:nvPr/>
        </p:nvSpPr>
        <p:spPr>
          <a:xfrm>
            <a:off x="812800" y="3491805"/>
            <a:ext cx="10566400" cy="0"/>
          </a:xfrm>
          <a:prstGeom prst="line">
            <a:avLst/>
          </a:prstGeom>
          <a:noFill/>
          <a:ln w="6350">
            <a:solidFill>
              <a:srgbClr val="E2E8F0"/>
            </a:solidFill>
            <a:prstDash val="solid"/>
          </a:ln>
        </p:spPr>
      </p:sp>
      <p:sp>
        <p:nvSpPr>
          <p:cNvPr id="11" name="Text 9"/>
          <p:cNvSpPr/>
          <p:nvPr/>
        </p:nvSpPr>
        <p:spPr>
          <a:xfrm>
            <a:off x="812800" y="3082230"/>
            <a:ext cx="431800"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2563EB"/>
                </a:solidFill>
                <a:latin typeface="Plus Jakarta Sans" pitchFamily="34" charset="0"/>
                <a:ea typeface="Plus Jakarta Sans" pitchFamily="34" charset="-122"/>
                <a:cs typeface="Plus Jakarta Sans" pitchFamily="34" charset="-120"/>
              </a:rPr>
              <a:t>03</a:t>
            </a:r>
            <a:endParaRPr lang="en-US" sz="1500" dirty="0"/>
          </a:p>
        </p:txBody>
      </p:sp>
      <p:sp>
        <p:nvSpPr>
          <p:cNvPr id="12" name="Text 10"/>
          <p:cNvSpPr/>
          <p:nvPr/>
        </p:nvSpPr>
        <p:spPr>
          <a:xfrm>
            <a:off x="1371600" y="3082230"/>
            <a:ext cx="5140404"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0F172A"/>
                </a:solidFill>
                <a:latin typeface="Plus Jakarta Sans" pitchFamily="34" charset="0"/>
                <a:ea typeface="Plus Jakarta Sans" pitchFamily="34" charset="-122"/>
                <a:cs typeface="Plus Jakarta Sans" pitchFamily="34" charset="-120"/>
              </a:rPr>
              <a:t>FE mencoba menjangkau DB lewat nc dan gagal</a:t>
            </a:r>
            <a:endParaRPr lang="en-US" sz="1500" dirty="0"/>
          </a:p>
        </p:txBody>
      </p:sp>
      <p:sp>
        <p:nvSpPr>
          <p:cNvPr id="13" name="Shape 11"/>
          <p:cNvSpPr/>
          <p:nvPr/>
        </p:nvSpPr>
        <p:spPr>
          <a:xfrm>
            <a:off x="812800" y="4044255"/>
            <a:ext cx="10566400" cy="0"/>
          </a:xfrm>
          <a:prstGeom prst="line">
            <a:avLst/>
          </a:prstGeom>
          <a:noFill/>
          <a:ln w="6350">
            <a:solidFill>
              <a:srgbClr val="E2E8F0"/>
            </a:solidFill>
            <a:prstDash val="solid"/>
          </a:ln>
        </p:spPr>
      </p:sp>
      <p:sp>
        <p:nvSpPr>
          <p:cNvPr id="14" name="Text 12"/>
          <p:cNvSpPr/>
          <p:nvPr/>
        </p:nvSpPr>
        <p:spPr>
          <a:xfrm>
            <a:off x="812800" y="3634680"/>
            <a:ext cx="431800"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2563EB"/>
                </a:solidFill>
                <a:latin typeface="Plus Jakarta Sans" pitchFamily="34" charset="0"/>
                <a:ea typeface="Plus Jakarta Sans" pitchFamily="34" charset="-122"/>
                <a:cs typeface="Plus Jakarta Sans" pitchFamily="34" charset="-120"/>
              </a:rPr>
              <a:t>04</a:t>
            </a:r>
            <a:endParaRPr lang="en-US" sz="1500" dirty="0"/>
          </a:p>
        </p:txBody>
      </p:sp>
      <p:sp>
        <p:nvSpPr>
          <p:cNvPr id="15" name="Text 13"/>
          <p:cNvSpPr/>
          <p:nvPr/>
        </p:nvSpPr>
        <p:spPr>
          <a:xfrm>
            <a:off x="1371600" y="3634680"/>
            <a:ext cx="5470684"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0F172A"/>
                </a:solidFill>
                <a:latin typeface="Plus Jakarta Sans" pitchFamily="34" charset="0"/>
                <a:ea typeface="Plus Jakarta Sans" pitchFamily="34" charset="-122"/>
                <a:cs typeface="Plus Jakarta Sans" pitchFamily="34" charset="-120"/>
              </a:rPr>
              <a:t>Login MySQL sebagai user pos dari host lain ditolak</a:t>
            </a:r>
            <a:endParaRPr lang="en-US" sz="1500" dirty="0"/>
          </a:p>
        </p:txBody>
      </p:sp>
      <p:sp>
        <p:nvSpPr>
          <p:cNvPr id="16" name="Shape 14"/>
          <p:cNvSpPr/>
          <p:nvPr/>
        </p:nvSpPr>
        <p:spPr>
          <a:xfrm>
            <a:off x="812800" y="4596705"/>
            <a:ext cx="10566400" cy="0"/>
          </a:xfrm>
          <a:prstGeom prst="line">
            <a:avLst/>
          </a:prstGeom>
          <a:noFill/>
          <a:ln w="6350">
            <a:solidFill>
              <a:srgbClr val="E2E8F0"/>
            </a:solidFill>
            <a:prstDash val="solid"/>
          </a:ln>
        </p:spPr>
      </p:sp>
      <p:sp>
        <p:nvSpPr>
          <p:cNvPr id="17" name="Text 15"/>
          <p:cNvSpPr/>
          <p:nvPr/>
        </p:nvSpPr>
        <p:spPr>
          <a:xfrm>
            <a:off x="812800" y="4187130"/>
            <a:ext cx="431800"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2563EB"/>
                </a:solidFill>
                <a:latin typeface="Plus Jakarta Sans" pitchFamily="34" charset="0"/>
                <a:ea typeface="Plus Jakarta Sans" pitchFamily="34" charset="-122"/>
                <a:cs typeface="Plus Jakarta Sans" pitchFamily="34" charset="-120"/>
              </a:rPr>
              <a:t>05</a:t>
            </a:r>
            <a:endParaRPr lang="en-US" sz="1500" dirty="0"/>
          </a:p>
        </p:txBody>
      </p:sp>
      <p:sp>
        <p:nvSpPr>
          <p:cNvPr id="18" name="Text 16"/>
          <p:cNvSpPr/>
          <p:nvPr/>
        </p:nvSpPr>
        <p:spPr>
          <a:xfrm>
            <a:off x="1371600" y="4187130"/>
            <a:ext cx="8036481"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0F172A"/>
                </a:solidFill>
                <a:latin typeface="Plus Jakarta Sans" pitchFamily="34" charset="0"/>
                <a:ea typeface="Plus Jakarta Sans" pitchFamily="34" charset="-122"/>
                <a:cs typeface="Plus Jakarta Sans" pitchFamily="34" charset="-120"/>
              </a:rPr>
              <a:t>DB dimatikan, aplikasi menampilkan error rapi, lalu pulih setelah DB menyala</a:t>
            </a:r>
            <a:endParaRPr lang="en-US" sz="1500" dirty="0"/>
          </a:p>
        </p:txBody>
      </p:sp>
      <p:sp>
        <p:nvSpPr>
          <p:cNvPr id="19" name="Text 17"/>
          <p:cNvSpPr/>
          <p:nvPr/>
        </p:nvSpPr>
        <p:spPr>
          <a:xfrm>
            <a:off x="495808" y="6306840"/>
            <a:ext cx="10883392" cy="220960"/>
          </a:xfrm>
          <a:prstGeom prst="rect">
            <a:avLst/>
          </a:prstGeom>
          <a:noFill/>
          <a:ln/>
        </p:spPr>
        <p:txBody>
          <a:bodyPr wrap="square" lIns="0" tIns="0" rIns="0" bIns="0" rtlCol="0" anchor="t">
            <a:normAutofit/>
          </a:bodyPr>
          <a:lstStyle/>
          <a:p>
            <a:pPr algn="r" indent="0" marL="0">
              <a:lnSpc>
                <a:spcPts val="1540"/>
              </a:lnSpc>
              <a:buNone/>
            </a:pPr>
            <a:r>
              <a:rPr lang="en-US" sz="1100" dirty="0">
                <a:solidFill>
                  <a:srgbClr val="94A3B8"/>
                </a:solidFill>
                <a:latin typeface="Plus Jakarta Sans" pitchFamily="34" charset="0"/>
                <a:ea typeface="Plus Jakarta Sans" pitchFamily="34" charset="-122"/>
                <a:cs typeface="Plus Jakarta Sans" pitchFamily="34" charset="-120"/>
              </a:rPr>
              <a:t>15</a:t>
            </a:r>
            <a:endParaRPr lang="en-US" sz="1100" dirty="0"/>
          </a:p>
        </p:txBody>
      </p:sp>
    </p:spTree>
  </p:cSld>
  <p:clrMapOvr>
    <a:masterClrMapping/>
  </p:clrMapOvr>
</p:sld>
</file>

<file path=ppt/theme/theme1.xml><?xml version="1.0" encoding="utf-8"?>
<a:theme xmlns:a="http://schemas.openxmlformats.org/drawingml/2006/main" name="Deployment POS Tiga Server">
  <a:themeElements>
    <a:clrScheme name="Deployment POS Tiga Server">
      <a:dk1>
        <a:srgbClr val="0F172A"/>
      </a:dk1>
      <a:lt1>
        <a:srgbClr val="FFFFFF"/>
      </a:lt1>
      <a:dk2>
        <a:srgbClr val="4B515F"/>
      </a:dk2>
      <a:lt2>
        <a:srgbClr val="E7E8EA"/>
      </a:lt2>
      <a:accent1>
        <a:srgbClr val="2563EB"/>
      </a:accent1>
      <a:accent2>
        <a:srgbClr val="475569"/>
      </a:accent2>
      <a:accent3>
        <a:srgbClr val="94A3B8"/>
      </a:accent3>
      <a:accent4>
        <a:srgbClr val="334155"/>
      </a:accent4>
      <a:accent5>
        <a:srgbClr val="9AA0A6"/>
      </a:accent5>
      <a:accent6>
        <a:srgbClr val="6F747F"/>
      </a:accent6>
      <a:hlink>
        <a:srgbClr val="0563C1"/>
      </a:hlink>
      <a:folHlink>
        <a:srgbClr val="954F72"/>
      </a:folHlink>
    </a:clrScheme>
    <a:fontScheme name="Deployment POS Tiga Server">
      <a:majorFont>
        <a:latin typeface="Plus Jakarta Sa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lus Jakarta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Deployment POS Tiga Server</dc:title>
  <dc:subject/>
  <dc:creator/>
  <cp:lastModifiedBy/>
  <cp:revision>1</cp:revision>
  <dcterms:created xsi:type="dcterms:W3CDTF">2026-10-16T02:46:40Z</dcterms:created>
  <dcterms:modified xsi:type="dcterms:W3CDTF">2026-10-16T02:46:40Z</dcterms:modified>
</cp:coreProperties>
</file>